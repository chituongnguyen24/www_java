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png" ContentType="image/png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x="4572000" cy="3632200"/>
  <p:notesSz cx="4572000" cy="3632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4634" y="117728"/>
            <a:ext cx="376237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86752" y="2030476"/>
            <a:ext cx="3204845" cy="9064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28917" y="833945"/>
            <a:ext cx="1991582" cy="23930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57850" y="833945"/>
            <a:ext cx="1991582" cy="23930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599" y="117093"/>
            <a:ext cx="380047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599" y="608456"/>
            <a:ext cx="3879215" cy="23901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556639" y="3372040"/>
            <a:ext cx="1465072" cy="181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28917" y="3372040"/>
            <a:ext cx="1053020" cy="181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296412" y="3372040"/>
            <a:ext cx="1053020" cy="181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vovanhai@iuh.edu.vn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hyperlink" Target="https://spring.io/projects/spring-data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querydsl.com/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hyperlink" Target="https://docs.spring.io/spring-data/jpa/docs/current/reference/html/#repositories.query-methods.query-creation" TargetMode="Externa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Relationship Id="rId3" Type="http://schemas.openxmlformats.org/officeDocument/2006/relationships/image" Target="../media/image38.jpg"/><Relationship Id="rId4" Type="http://schemas.openxmlformats.org/officeDocument/2006/relationships/image" Target="../media/image39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w3.org/Protocols/rfc2616/rfc2616.txt" TargetMode="Externa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n-US/docs/Web/HTTP/Status" TargetMode="Externa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Relationship Id="rId4" Type="http://schemas.openxmlformats.org/officeDocument/2006/relationships/hyperlink" Target="https://docs.spring.io/spring-data/rest/docs/current/reference/html/#reference" TargetMode="Externa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jp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jp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jp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jp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jp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jpg"/><Relationship Id="rId3" Type="http://schemas.openxmlformats.org/officeDocument/2006/relationships/image" Target="../media/image65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6.jp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06677" y="1367789"/>
            <a:ext cx="1360170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1">
                <a:solidFill>
                  <a:srgbClr val="3A3A3A"/>
                </a:solidFill>
                <a:latin typeface="Calibri"/>
                <a:cs typeface="Calibri"/>
              </a:rPr>
              <a:t>Spring</a:t>
            </a:r>
            <a:r>
              <a:rPr dirty="0" spc="-30" b="1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pc="-20" b="1">
                <a:solidFill>
                  <a:srgbClr val="3A3A3A"/>
                </a:solidFill>
                <a:latin typeface="Calibri"/>
                <a:cs typeface="Calibri"/>
              </a:rPr>
              <a:t>Data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600580" y="1740292"/>
            <a:ext cx="1371600" cy="47942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445"/>
              </a:spcBef>
            </a:pP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Vo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Van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Hai</a:t>
            </a: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vovanhai@iuh.edu.vn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62425" y="3207257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-12395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5410">
              <a:lnSpc>
                <a:spcPct val="100000"/>
              </a:lnSpc>
              <a:spcBef>
                <a:spcPts val="95"/>
              </a:spcBef>
            </a:pPr>
            <a:r>
              <a:rPr dirty="0"/>
              <a:t>Spring</a:t>
            </a:r>
            <a:r>
              <a:rPr dirty="0" spc="-35"/>
              <a:t> </a:t>
            </a:r>
            <a:r>
              <a:rPr dirty="0"/>
              <a:t>Data</a:t>
            </a:r>
            <a:r>
              <a:rPr dirty="0" spc="-45"/>
              <a:t> </a:t>
            </a:r>
            <a:r>
              <a:rPr dirty="0"/>
              <a:t>-</a:t>
            </a:r>
            <a:r>
              <a:rPr dirty="0" spc="-45"/>
              <a:t> </a:t>
            </a:r>
            <a:r>
              <a:rPr dirty="0"/>
              <a:t>Main</a:t>
            </a:r>
            <a:r>
              <a:rPr dirty="0" spc="-50"/>
              <a:t> </a:t>
            </a:r>
            <a:r>
              <a:rPr dirty="0" spc="-10"/>
              <a:t>modules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235" y="896133"/>
            <a:ext cx="4296120" cy="216862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808736" y="577088"/>
            <a:ext cx="17602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9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https://spring.io/projects/spring-</a:t>
            </a:r>
            <a:r>
              <a:rPr dirty="0" u="sng" sz="9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data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62425" y="3207816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12395" y="345592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Spring</a:t>
            </a:r>
            <a:r>
              <a:rPr dirty="0" spc="-60"/>
              <a:t> </a:t>
            </a:r>
            <a:r>
              <a:rPr dirty="0"/>
              <a:t>Data</a:t>
            </a:r>
            <a:r>
              <a:rPr dirty="0" spc="-50"/>
              <a:t> </a:t>
            </a:r>
            <a:r>
              <a:rPr dirty="0" spc="-10"/>
              <a:t>Commons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13028"/>
            <a:ext cx="3878579" cy="157797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just" marL="127000" marR="5080" indent="-114935">
              <a:lnSpc>
                <a:spcPct val="80000"/>
              </a:lnSpc>
              <a:spcBef>
                <a:spcPts val="40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300">
                <a:latin typeface="Calibri"/>
                <a:cs typeface="Calibri"/>
              </a:rPr>
              <a:t>Spring</a:t>
            </a:r>
            <a:r>
              <a:rPr dirty="0" sz="1300" spc="2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Data</a:t>
            </a:r>
            <a:r>
              <a:rPr dirty="0" sz="1300" spc="2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Commons</a:t>
            </a:r>
            <a:r>
              <a:rPr dirty="0" sz="1300" spc="2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is</a:t>
            </a:r>
            <a:r>
              <a:rPr dirty="0" sz="1300" spc="229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part</a:t>
            </a:r>
            <a:r>
              <a:rPr dirty="0" sz="1300" spc="229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of</a:t>
            </a:r>
            <a:r>
              <a:rPr dirty="0" sz="1300" spc="2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2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umbrella</a:t>
            </a:r>
            <a:r>
              <a:rPr dirty="0" sz="1300" spc="24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Spring </a:t>
            </a:r>
            <a:r>
              <a:rPr dirty="0" sz="1300">
                <a:latin typeface="Calibri"/>
                <a:cs typeface="Calibri"/>
              </a:rPr>
              <a:t>Data</a:t>
            </a:r>
            <a:r>
              <a:rPr dirty="0" sz="1300" spc="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project</a:t>
            </a:r>
            <a:r>
              <a:rPr dirty="0" sz="1300" spc="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that</a:t>
            </a:r>
            <a:r>
              <a:rPr dirty="0" sz="1300" spc="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provides</a:t>
            </a:r>
            <a:r>
              <a:rPr dirty="0" sz="1300" spc="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shared</a:t>
            </a:r>
            <a:r>
              <a:rPr dirty="0" sz="1300" spc="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infrastructure</a:t>
            </a:r>
            <a:r>
              <a:rPr dirty="0" sz="1300" spc="4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across </a:t>
            </a: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Spring Data projects.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It</a:t>
            </a:r>
            <a:r>
              <a:rPr dirty="0" sz="1300" spc="-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contains technology </a:t>
            </a:r>
            <a:r>
              <a:rPr dirty="0" sz="1300" spc="-10">
                <a:latin typeface="Calibri"/>
                <a:cs typeface="Calibri"/>
              </a:rPr>
              <a:t>neutral </a:t>
            </a:r>
            <a:r>
              <a:rPr dirty="0" sz="1300">
                <a:latin typeface="Calibri"/>
                <a:cs typeface="Calibri"/>
              </a:rPr>
              <a:t>repository</a:t>
            </a:r>
            <a:r>
              <a:rPr dirty="0" sz="1300" spc="1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interfaces</a:t>
            </a:r>
            <a:r>
              <a:rPr dirty="0" sz="1300" spc="15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as</a:t>
            </a:r>
            <a:r>
              <a:rPr dirty="0" sz="1300" spc="1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well</a:t>
            </a:r>
            <a:r>
              <a:rPr dirty="0" sz="1300" spc="15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as</a:t>
            </a:r>
            <a:r>
              <a:rPr dirty="0" sz="1300" spc="1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</a:t>
            </a:r>
            <a:r>
              <a:rPr dirty="0" sz="1300" spc="15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metadata</a:t>
            </a:r>
            <a:r>
              <a:rPr dirty="0" sz="1300" spc="15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model</a:t>
            </a:r>
            <a:r>
              <a:rPr dirty="0" sz="1300" spc="150">
                <a:latin typeface="Calibri"/>
                <a:cs typeface="Calibri"/>
              </a:rPr>
              <a:t> </a:t>
            </a:r>
            <a:r>
              <a:rPr dirty="0" sz="1300" spc="-25">
                <a:latin typeface="Calibri"/>
                <a:cs typeface="Calibri"/>
              </a:rPr>
              <a:t>for </a:t>
            </a:r>
            <a:r>
              <a:rPr dirty="0" sz="1300" spc="-10">
                <a:latin typeface="Calibri"/>
                <a:cs typeface="Calibri"/>
              </a:rPr>
              <a:t>persisting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Java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classes.</a:t>
            </a:r>
            <a:endParaRPr sz="1300">
              <a:latin typeface="Calibri"/>
              <a:cs typeface="Calibri"/>
            </a:endParaRPr>
          </a:p>
          <a:p>
            <a:pPr algn="just" marL="127000" indent="-114300">
              <a:lnSpc>
                <a:spcPts val="1560"/>
              </a:lnSpc>
              <a:spcBef>
                <a:spcPts val="19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300">
                <a:latin typeface="Calibri"/>
                <a:cs typeface="Calibri"/>
              </a:rPr>
              <a:t>Primary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goals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 spc="-20">
                <a:latin typeface="Calibri"/>
                <a:cs typeface="Calibri"/>
              </a:rPr>
              <a:t>are:</a:t>
            </a:r>
            <a:endParaRPr sz="1300">
              <a:latin typeface="Calibri"/>
              <a:cs typeface="Calibri"/>
            </a:endParaRPr>
          </a:p>
          <a:p>
            <a:pPr lvl="1" marL="353695" indent="-112395">
              <a:lnSpc>
                <a:spcPts val="1305"/>
              </a:lnSpc>
              <a:buFont typeface="Arial"/>
              <a:buChar char="•"/>
              <a:tabLst>
                <a:tab pos="353695" algn="l"/>
              </a:tabLst>
            </a:pPr>
            <a:r>
              <a:rPr dirty="0" sz="1100">
                <a:latin typeface="Calibri"/>
                <a:cs typeface="Calibri"/>
              </a:rPr>
              <a:t>Powerful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Repository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custom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object-mapping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abstractions</a:t>
            </a:r>
            <a:endParaRPr sz="1100">
              <a:latin typeface="Calibri"/>
              <a:cs typeface="Calibri"/>
            </a:endParaRPr>
          </a:p>
          <a:p>
            <a:pPr lvl="1" marL="353695" indent="-112395">
              <a:lnSpc>
                <a:spcPts val="1300"/>
              </a:lnSpc>
              <a:buFont typeface="Arial"/>
              <a:buChar char="•"/>
              <a:tabLst>
                <a:tab pos="353695" algn="l"/>
              </a:tabLst>
            </a:pPr>
            <a:r>
              <a:rPr dirty="0" sz="1100">
                <a:latin typeface="Calibri"/>
                <a:cs typeface="Calibri"/>
              </a:rPr>
              <a:t>Support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0">
                <a:latin typeface="Calibri"/>
                <a:cs typeface="Calibri"/>
              </a:rPr>
              <a:t> cross-</a:t>
            </a:r>
            <a:r>
              <a:rPr dirty="0" sz="1100">
                <a:latin typeface="Calibri"/>
                <a:cs typeface="Calibri"/>
              </a:rPr>
              <a:t>store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persistence</a:t>
            </a:r>
            <a:endParaRPr sz="1100">
              <a:latin typeface="Calibri"/>
              <a:cs typeface="Calibri"/>
            </a:endParaRPr>
          </a:p>
          <a:p>
            <a:pPr lvl="1" marL="353695" indent="-112395">
              <a:lnSpc>
                <a:spcPts val="1315"/>
              </a:lnSpc>
              <a:buFont typeface="Arial"/>
              <a:buChar char="•"/>
              <a:tabLst>
                <a:tab pos="353695" algn="l"/>
              </a:tabLst>
            </a:pPr>
            <a:r>
              <a:rPr dirty="0" sz="1100">
                <a:latin typeface="Calibri"/>
                <a:cs typeface="Calibri"/>
              </a:rPr>
              <a:t>Dynamic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query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generation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query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method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names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14647" y="2163317"/>
            <a:ext cx="31242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latin typeface="Calibri"/>
                <a:cs typeface="Calibri"/>
              </a:rPr>
              <a:t>basic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6452" y="2163317"/>
            <a:ext cx="3296920" cy="826769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25095" marR="77470" indent="-112395">
              <a:lnSpc>
                <a:spcPct val="80000"/>
              </a:lnSpc>
              <a:spcBef>
                <a:spcPts val="365"/>
              </a:spcBef>
              <a:buFont typeface="Arial"/>
              <a:buChar char="•"/>
              <a:tabLst>
                <a:tab pos="127000" algn="l"/>
                <a:tab pos="1178560" algn="l"/>
                <a:tab pos="1746885" algn="l"/>
                <a:tab pos="2150745" algn="l"/>
                <a:tab pos="2681605" algn="l"/>
              </a:tabLst>
            </a:pPr>
            <a:r>
              <a:rPr dirty="0" sz="1100" spc="-10">
                <a:latin typeface="Calibri"/>
                <a:cs typeface="Calibri"/>
              </a:rPr>
              <a:t>Implementation</a:t>
            </a:r>
            <a:r>
              <a:rPr dirty="0" sz="1100">
                <a:latin typeface="Calibri"/>
                <a:cs typeface="Calibri"/>
              </a:rPr>
              <a:t>	</a:t>
            </a:r>
            <a:r>
              <a:rPr dirty="0" sz="1100" spc="-10">
                <a:latin typeface="Calibri"/>
                <a:cs typeface="Calibri"/>
              </a:rPr>
              <a:t>domain</a:t>
            </a:r>
            <a:r>
              <a:rPr dirty="0" sz="1100">
                <a:latin typeface="Calibri"/>
                <a:cs typeface="Calibri"/>
              </a:rPr>
              <a:t>	</a:t>
            </a:r>
            <a:r>
              <a:rPr dirty="0" sz="1100" spc="-20">
                <a:latin typeface="Calibri"/>
                <a:cs typeface="Calibri"/>
              </a:rPr>
              <a:t>base</a:t>
            </a:r>
            <a:r>
              <a:rPr dirty="0" sz="1100">
                <a:latin typeface="Calibri"/>
                <a:cs typeface="Calibri"/>
              </a:rPr>
              <a:t>	</a:t>
            </a:r>
            <a:r>
              <a:rPr dirty="0" sz="1100" spc="-10">
                <a:latin typeface="Calibri"/>
                <a:cs typeface="Calibri"/>
              </a:rPr>
              <a:t>classes</a:t>
            </a:r>
            <a:r>
              <a:rPr dirty="0" sz="1100">
                <a:latin typeface="Calibri"/>
                <a:cs typeface="Calibri"/>
              </a:rPr>
              <a:t>	</a:t>
            </a:r>
            <a:r>
              <a:rPr dirty="0" sz="1100" spc="-10">
                <a:latin typeface="Calibri"/>
                <a:cs typeface="Calibri"/>
              </a:rPr>
              <a:t>providing 	properties</a:t>
            </a:r>
            <a:endParaRPr sz="1100">
              <a:latin typeface="Calibri"/>
              <a:cs typeface="Calibri"/>
            </a:endParaRPr>
          </a:p>
          <a:p>
            <a:pPr marL="125095" indent="-112395">
              <a:lnSpc>
                <a:spcPts val="1300"/>
              </a:lnSpc>
              <a:buFont typeface="Arial"/>
              <a:buChar char="•"/>
              <a:tabLst>
                <a:tab pos="125095" algn="l"/>
              </a:tabLst>
            </a:pPr>
            <a:r>
              <a:rPr dirty="0" sz="1100">
                <a:latin typeface="Calibri"/>
                <a:cs typeface="Calibri"/>
              </a:rPr>
              <a:t>Support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 </a:t>
            </a:r>
            <a:r>
              <a:rPr dirty="0" sz="1100" spc="-10">
                <a:latin typeface="Calibri"/>
                <a:cs typeface="Calibri"/>
              </a:rPr>
              <a:t>transparent </a:t>
            </a:r>
            <a:r>
              <a:rPr dirty="0" sz="1100">
                <a:latin typeface="Calibri"/>
                <a:cs typeface="Calibri"/>
              </a:rPr>
              <a:t>auditing </a:t>
            </a:r>
            <a:r>
              <a:rPr dirty="0" sz="1100" spc="-10">
                <a:latin typeface="Calibri"/>
                <a:cs typeface="Calibri"/>
              </a:rPr>
              <a:t>(created,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last </a:t>
            </a:r>
            <a:r>
              <a:rPr dirty="0" sz="1100" spc="-10">
                <a:latin typeface="Calibri"/>
                <a:cs typeface="Calibri"/>
              </a:rPr>
              <a:t>changed)</a:t>
            </a:r>
            <a:endParaRPr sz="1100">
              <a:latin typeface="Calibri"/>
              <a:cs typeface="Calibri"/>
            </a:endParaRPr>
          </a:p>
          <a:p>
            <a:pPr marL="125095" indent="-112395">
              <a:lnSpc>
                <a:spcPts val="1310"/>
              </a:lnSpc>
              <a:buFont typeface="Arial"/>
              <a:buChar char="•"/>
              <a:tabLst>
                <a:tab pos="125095" algn="l"/>
              </a:tabLst>
            </a:pPr>
            <a:r>
              <a:rPr dirty="0" sz="1100">
                <a:latin typeface="Calibri"/>
                <a:cs typeface="Calibri"/>
              </a:rPr>
              <a:t>Possibility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10">
                <a:latin typeface="Calibri"/>
                <a:cs typeface="Calibri"/>
              </a:rPr>
              <a:t> integrate </a:t>
            </a:r>
            <a:r>
              <a:rPr dirty="0" sz="1100">
                <a:latin typeface="Calibri"/>
                <a:cs typeface="Calibri"/>
              </a:rPr>
              <a:t>custom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repository</a:t>
            </a:r>
            <a:r>
              <a:rPr dirty="0" sz="1100" spc="-20">
                <a:latin typeface="Calibri"/>
                <a:cs typeface="Calibri"/>
              </a:rPr>
              <a:t> code</a:t>
            </a:r>
            <a:endParaRPr sz="1100">
              <a:latin typeface="Calibri"/>
              <a:cs typeface="Calibri"/>
            </a:endParaRPr>
          </a:p>
          <a:p>
            <a:pPr marL="125095" indent="-112395">
              <a:lnSpc>
                <a:spcPts val="1315"/>
              </a:lnSpc>
              <a:buFont typeface="Arial"/>
              <a:buChar char="•"/>
              <a:tabLst>
                <a:tab pos="125095" algn="l"/>
              </a:tabLst>
            </a:pPr>
            <a:r>
              <a:rPr dirty="0" sz="1100">
                <a:latin typeface="Calibri"/>
                <a:cs typeface="Calibri"/>
              </a:rPr>
              <a:t>Easy Spring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integration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custom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namespace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62425" y="3207257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12395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Accessing</a:t>
            </a:r>
            <a:r>
              <a:rPr dirty="0" spc="-55"/>
              <a:t> </a:t>
            </a:r>
            <a:r>
              <a:rPr dirty="0"/>
              <a:t>data</a:t>
            </a:r>
            <a:r>
              <a:rPr dirty="0" spc="-40"/>
              <a:t> </a:t>
            </a:r>
            <a:r>
              <a:rPr dirty="0"/>
              <a:t>with</a:t>
            </a:r>
            <a:r>
              <a:rPr dirty="0" spc="-55"/>
              <a:t> </a:t>
            </a:r>
            <a:r>
              <a:rPr dirty="0"/>
              <a:t>“pure”</a:t>
            </a:r>
            <a:r>
              <a:rPr dirty="0" spc="-50"/>
              <a:t> </a:t>
            </a:r>
            <a:r>
              <a:rPr dirty="0" spc="-20"/>
              <a:t>JDBC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25550"/>
            <a:ext cx="3879215" cy="107251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just" marL="125730" marR="6350" indent="-113664">
              <a:lnSpc>
                <a:spcPct val="90100"/>
              </a:lnSpc>
              <a:spcBef>
                <a:spcPts val="27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114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1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Framework</a:t>
            </a:r>
            <a:r>
              <a:rPr dirty="0" sz="1400" spc="1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provides</a:t>
            </a:r>
            <a:r>
              <a:rPr dirty="0" sz="1400" spc="1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extensive</a:t>
            </a:r>
            <a:r>
              <a:rPr dirty="0" sz="1400" spc="11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support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1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working</a:t>
            </a:r>
            <a:r>
              <a:rPr dirty="0" sz="1400" spc="1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1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SQL</a:t>
            </a:r>
            <a:r>
              <a:rPr dirty="0" sz="1400" spc="1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databases,</a:t>
            </a:r>
            <a:r>
              <a:rPr dirty="0" sz="1400" spc="1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1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direct</a:t>
            </a:r>
            <a:r>
              <a:rPr dirty="0" sz="1400" spc="1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JDBC </a:t>
            </a:r>
            <a:r>
              <a:rPr dirty="0" sz="1400" spc="-20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access.</a:t>
            </a:r>
            <a:endParaRPr sz="1400">
              <a:latin typeface="Calibri"/>
              <a:cs typeface="Calibri"/>
            </a:endParaRPr>
          </a:p>
          <a:p>
            <a:pPr algn="just" marL="125730" marR="5080" indent="-113664">
              <a:lnSpc>
                <a:spcPts val="1510"/>
              </a:lnSpc>
              <a:spcBef>
                <a:spcPts val="53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Java’s</a:t>
            </a:r>
            <a:r>
              <a:rPr dirty="0" sz="1400" spc="10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javax.sql.DataSource</a:t>
            </a:r>
            <a:r>
              <a:rPr dirty="0" sz="1400" spc="9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interface</a:t>
            </a:r>
            <a:r>
              <a:rPr dirty="0" sz="1400" spc="11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provides</a:t>
            </a:r>
            <a:r>
              <a:rPr dirty="0" sz="1400" spc="105">
                <a:latin typeface="Calibri"/>
                <a:cs typeface="Calibri"/>
              </a:rPr>
              <a:t>  </a:t>
            </a:r>
            <a:r>
              <a:rPr dirty="0" sz="1400" spc="-50">
                <a:latin typeface="Calibri"/>
                <a:cs typeface="Calibri"/>
              </a:rPr>
              <a:t>a </a:t>
            </a:r>
            <a:r>
              <a:rPr dirty="0" sz="1400" spc="-5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standard</a:t>
            </a:r>
            <a:r>
              <a:rPr dirty="0" sz="1400" spc="29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method</a:t>
            </a:r>
            <a:r>
              <a:rPr dirty="0" sz="1400" spc="30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30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working</a:t>
            </a:r>
            <a:r>
              <a:rPr dirty="0" sz="1400" spc="30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305">
                <a:latin typeface="Calibri"/>
                <a:cs typeface="Calibri"/>
              </a:rPr>
              <a:t>  </a:t>
            </a:r>
            <a:r>
              <a:rPr dirty="0" sz="1400" spc="-10">
                <a:latin typeface="Calibri"/>
                <a:cs typeface="Calibri"/>
              </a:rPr>
              <a:t>database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7599" y="1608175"/>
            <a:ext cx="3388995" cy="132397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434"/>
              </a:spcBef>
            </a:pPr>
            <a:r>
              <a:rPr dirty="0" sz="1400" spc="-10">
                <a:latin typeface="Calibri"/>
                <a:cs typeface="Calibri"/>
              </a:rPr>
              <a:t>connections.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other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objects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execute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SQL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command:</a:t>
            </a:r>
            <a:endParaRPr sz="14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10">
                <a:latin typeface="Calibri"/>
                <a:cs typeface="Calibri"/>
              </a:rPr>
              <a:t>Connection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10">
                <a:latin typeface="Calibri"/>
                <a:cs typeface="Calibri"/>
              </a:rPr>
              <a:t>Statement/PreparedStatement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10">
                <a:latin typeface="Calibri"/>
                <a:cs typeface="Calibri"/>
              </a:rPr>
              <a:t>ResultSet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50">
                <a:latin typeface="Calibri"/>
                <a:cs typeface="Calibri"/>
              </a:rPr>
              <a:t>…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62425" y="3207816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12395" y="345592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Configure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75"/>
              <a:t> </a:t>
            </a:r>
            <a:r>
              <a:rPr dirty="0"/>
              <a:t>Data</a:t>
            </a:r>
            <a:r>
              <a:rPr dirty="0" spc="-50"/>
              <a:t> </a:t>
            </a:r>
            <a:r>
              <a:rPr dirty="0" spc="-10"/>
              <a:t>Source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57175" y="764730"/>
            <a:ext cx="4254500" cy="2585720"/>
            <a:chOff x="257175" y="764730"/>
            <a:chExt cx="4254500" cy="25857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279" y="797145"/>
              <a:ext cx="3930385" cy="84413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59715" y="767270"/>
              <a:ext cx="3949065" cy="895350"/>
            </a:xfrm>
            <a:custGeom>
              <a:avLst/>
              <a:gdLst/>
              <a:ahLst/>
              <a:cxnLst/>
              <a:rect l="l" t="t" r="r" b="b"/>
              <a:pathLst>
                <a:path w="3949065" h="895350">
                  <a:moveTo>
                    <a:pt x="0" y="894778"/>
                  </a:moveTo>
                  <a:lnTo>
                    <a:pt x="3948811" y="894778"/>
                  </a:lnTo>
                  <a:lnTo>
                    <a:pt x="3948811" y="0"/>
                  </a:lnTo>
                  <a:lnTo>
                    <a:pt x="0" y="0"/>
                  </a:lnTo>
                  <a:lnTo>
                    <a:pt x="0" y="894778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46732" y="1905071"/>
              <a:ext cx="2427672" cy="142634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044319" y="1879853"/>
              <a:ext cx="2464435" cy="1468120"/>
            </a:xfrm>
            <a:custGeom>
              <a:avLst/>
              <a:gdLst/>
              <a:ahLst/>
              <a:cxnLst/>
              <a:rect l="l" t="t" r="r" b="b"/>
              <a:pathLst>
                <a:path w="2464435" h="1468120">
                  <a:moveTo>
                    <a:pt x="0" y="1467739"/>
                  </a:moveTo>
                  <a:lnTo>
                    <a:pt x="2464435" y="1467739"/>
                  </a:lnTo>
                  <a:lnTo>
                    <a:pt x="2464435" y="0"/>
                  </a:lnTo>
                  <a:lnTo>
                    <a:pt x="0" y="0"/>
                  </a:lnTo>
                  <a:lnTo>
                    <a:pt x="0" y="1467739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162811" y="510539"/>
            <a:ext cx="2818130" cy="184785"/>
          </a:xfrm>
          <a:prstGeom prst="rect">
            <a:avLst/>
          </a:prstGeom>
          <a:solidFill>
            <a:srgbClr val="FFF1CC"/>
          </a:solidFill>
        </p:spPr>
        <p:txBody>
          <a:bodyPr wrap="square" lIns="0" tIns="20320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160"/>
              </a:spcBef>
            </a:pPr>
            <a:r>
              <a:rPr dirty="0" sz="900">
                <a:solidFill>
                  <a:srgbClr val="080808"/>
                </a:solidFill>
                <a:latin typeface="Arial"/>
                <a:cs typeface="Arial"/>
              </a:rPr>
              <a:t>= 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ClassPathXmlApplicationContext(</a:t>
            </a:r>
            <a:r>
              <a:rPr dirty="0" sz="900" spc="-10">
                <a:solidFill>
                  <a:srgbClr val="057C17"/>
                </a:solidFill>
                <a:latin typeface="Arial"/>
                <a:cs typeface="Arial"/>
              </a:rPr>
              <a:t>"dbConfig.xml"</a:t>
            </a:r>
            <a:r>
              <a:rPr dirty="0" sz="9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52400" y="1685543"/>
            <a:ext cx="2811780" cy="170815"/>
          </a:xfrm>
          <a:custGeom>
            <a:avLst/>
            <a:gdLst/>
            <a:ahLst/>
            <a:cxnLst/>
            <a:rect l="l" t="t" r="r" b="b"/>
            <a:pathLst>
              <a:path w="2811780" h="170814">
                <a:moveTo>
                  <a:pt x="2811779" y="0"/>
                </a:moveTo>
                <a:lnTo>
                  <a:pt x="0" y="0"/>
                </a:lnTo>
                <a:lnTo>
                  <a:pt x="0" y="170687"/>
                </a:lnTo>
                <a:lnTo>
                  <a:pt x="2811779" y="170687"/>
                </a:lnTo>
                <a:lnTo>
                  <a:pt x="2811779" y="0"/>
                </a:lnTo>
                <a:close/>
              </a:path>
            </a:pathLst>
          </a:custGeom>
          <a:solidFill>
            <a:srgbClr val="FFF1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85673" y="1694128"/>
            <a:ext cx="2722880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800" spc="1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033B3"/>
                </a:solidFill>
                <a:latin typeface="Arial"/>
                <a:cs typeface="Arial"/>
              </a:rPr>
              <a:t>new</a:t>
            </a:r>
            <a:r>
              <a:rPr dirty="0" sz="800" spc="-4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AnnotationConfigApplicationContext(</a:t>
            </a:r>
            <a:r>
              <a:rPr dirty="0" sz="800" spc="-10">
                <a:latin typeface="Arial"/>
                <a:cs typeface="Arial"/>
              </a:rPr>
              <a:t>DsConfig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800" spc="-10">
                <a:solidFill>
                  <a:srgbClr val="0033B3"/>
                </a:solidFill>
                <a:latin typeface="Arial"/>
                <a:cs typeface="Arial"/>
              </a:rPr>
              <a:t>class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);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3373" y="2080259"/>
            <a:ext cx="1968500" cy="744220"/>
            <a:chOff x="13373" y="2080259"/>
            <a:chExt cx="1968500" cy="744220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87" y="2250947"/>
              <a:ext cx="1958339" cy="568451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5913" y="2248598"/>
              <a:ext cx="1963420" cy="573405"/>
            </a:xfrm>
            <a:custGeom>
              <a:avLst/>
              <a:gdLst/>
              <a:ahLst/>
              <a:cxnLst/>
              <a:rect l="l" t="t" r="r" b="b"/>
              <a:pathLst>
                <a:path w="1963420" h="573405">
                  <a:moveTo>
                    <a:pt x="0" y="573214"/>
                  </a:moveTo>
                  <a:lnTo>
                    <a:pt x="1963039" y="573214"/>
                  </a:lnTo>
                  <a:lnTo>
                    <a:pt x="1963039" y="0"/>
                  </a:lnTo>
                  <a:lnTo>
                    <a:pt x="0" y="0"/>
                  </a:lnTo>
                  <a:lnTo>
                    <a:pt x="0" y="573214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31" y="2080259"/>
              <a:ext cx="829056" cy="106504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4162425" y="3207257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888888"/>
                </a:solidFill>
                <a:latin typeface="Calibri"/>
                <a:cs typeface="Calibri"/>
              </a:rPr>
              <a:t>5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-12395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Execute</a:t>
            </a:r>
            <a:r>
              <a:rPr dirty="0" spc="-40"/>
              <a:t> </a:t>
            </a:r>
            <a:r>
              <a:rPr dirty="0"/>
              <a:t>SQL</a:t>
            </a:r>
            <a:r>
              <a:rPr dirty="0" spc="-65"/>
              <a:t> </a:t>
            </a:r>
            <a:r>
              <a:rPr dirty="0" spc="-10"/>
              <a:t>command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25550"/>
            <a:ext cx="237363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old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way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JDBC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objects: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38886" y="1045044"/>
            <a:ext cx="4094479" cy="2195830"/>
            <a:chOff x="238886" y="1045044"/>
            <a:chExt cx="4094479" cy="219583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839" y="1072943"/>
              <a:ext cx="4043156" cy="213501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41426" y="1047584"/>
              <a:ext cx="4089400" cy="2190750"/>
            </a:xfrm>
            <a:custGeom>
              <a:avLst/>
              <a:gdLst/>
              <a:ahLst/>
              <a:cxnLst/>
              <a:rect l="l" t="t" r="r" b="b"/>
              <a:pathLst>
                <a:path w="4089400" h="2190750">
                  <a:moveTo>
                    <a:pt x="0" y="2190242"/>
                  </a:moveTo>
                  <a:lnTo>
                    <a:pt x="4089019" y="2190242"/>
                  </a:lnTo>
                  <a:lnTo>
                    <a:pt x="4089019" y="0"/>
                  </a:lnTo>
                  <a:lnTo>
                    <a:pt x="0" y="0"/>
                  </a:lnTo>
                  <a:lnTo>
                    <a:pt x="0" y="2190242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162425" y="3207816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888888"/>
                </a:solidFill>
                <a:latin typeface="Calibri"/>
                <a:cs typeface="Calibri"/>
              </a:rPr>
              <a:t>6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-12395" y="345592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Example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38303" y="693165"/>
            <a:ext cx="4205605" cy="2629535"/>
            <a:chOff x="138303" y="693165"/>
            <a:chExt cx="4205605" cy="26295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7639" y="812491"/>
              <a:ext cx="3966805" cy="2390756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40843" y="695705"/>
              <a:ext cx="4200525" cy="2624455"/>
            </a:xfrm>
            <a:custGeom>
              <a:avLst/>
              <a:gdLst/>
              <a:ahLst/>
              <a:cxnLst/>
              <a:rect l="l" t="t" r="r" b="b"/>
              <a:pathLst>
                <a:path w="4200525" h="2624454">
                  <a:moveTo>
                    <a:pt x="0" y="2624455"/>
                  </a:moveTo>
                  <a:lnTo>
                    <a:pt x="4200271" y="2624455"/>
                  </a:lnTo>
                  <a:lnTo>
                    <a:pt x="4200271" y="0"/>
                  </a:lnTo>
                  <a:lnTo>
                    <a:pt x="0" y="0"/>
                  </a:lnTo>
                  <a:lnTo>
                    <a:pt x="0" y="2624455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162425" y="3207257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12395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Using</a:t>
            </a:r>
            <a:r>
              <a:rPr dirty="0" spc="-40"/>
              <a:t> </a:t>
            </a:r>
            <a:r>
              <a:rPr dirty="0" spc="-25"/>
              <a:t>JdbcTemplate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583223"/>
            <a:ext cx="3879850" cy="2201545"/>
          </a:xfrm>
          <a:prstGeom prst="rect">
            <a:avLst/>
          </a:prstGeom>
        </p:spPr>
        <p:txBody>
          <a:bodyPr wrap="square" lIns="0" tIns="55879" rIns="0" bIns="0" rtlCol="0" vert="horz">
            <a:spAutoFit/>
          </a:bodyPr>
          <a:lstStyle/>
          <a:p>
            <a:pPr algn="just" marL="126364" indent="-113664">
              <a:lnSpc>
                <a:spcPct val="100000"/>
              </a:lnSpc>
              <a:spcBef>
                <a:spcPts val="439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This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central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class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JDBC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core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package.</a:t>
            </a:r>
            <a:endParaRPr sz="1400">
              <a:latin typeface="Calibri"/>
              <a:cs typeface="Calibri"/>
            </a:endParaRPr>
          </a:p>
          <a:p>
            <a:pPr algn="just" marL="125730" marR="6350" indent="-113664">
              <a:lnSpc>
                <a:spcPts val="1510"/>
              </a:lnSpc>
              <a:spcBef>
                <a:spcPts val="53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2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simplifies</a:t>
            </a:r>
            <a:r>
              <a:rPr dirty="0" sz="1400" spc="30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30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30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30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JDBC</a:t>
            </a:r>
            <a:r>
              <a:rPr dirty="0" sz="1400" spc="2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2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helps</a:t>
            </a:r>
            <a:r>
              <a:rPr dirty="0" sz="1400" spc="3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30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avoid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common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errors.</a:t>
            </a:r>
            <a:endParaRPr sz="1400">
              <a:latin typeface="Calibri"/>
              <a:cs typeface="Calibri"/>
            </a:endParaRPr>
          </a:p>
          <a:p>
            <a:pPr algn="just" marL="125730" marR="5715" indent="-113664">
              <a:lnSpc>
                <a:spcPts val="1510"/>
              </a:lnSpc>
              <a:spcBef>
                <a:spcPts val="50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executes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core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JDBC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workflow,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leaving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application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code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provide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SQL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10">
                <a:latin typeface="Calibri"/>
                <a:cs typeface="Calibri"/>
              </a:rPr>
              <a:t> extract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results.</a:t>
            </a:r>
            <a:endParaRPr sz="1400">
              <a:latin typeface="Calibri"/>
              <a:cs typeface="Calibri"/>
            </a:endParaRPr>
          </a:p>
          <a:p>
            <a:pPr algn="just" marL="125730" marR="5080" indent="-113664">
              <a:lnSpc>
                <a:spcPts val="1510"/>
              </a:lnSpc>
              <a:spcBef>
                <a:spcPts val="49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15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executes</a:t>
            </a:r>
            <a:r>
              <a:rPr dirty="0" sz="1400" spc="17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SQL</a:t>
            </a:r>
            <a:r>
              <a:rPr dirty="0" sz="1400" spc="16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queries</a:t>
            </a:r>
            <a:r>
              <a:rPr dirty="0" sz="1400" spc="16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16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updates,</a:t>
            </a:r>
            <a:r>
              <a:rPr dirty="0" sz="1400" spc="170">
                <a:latin typeface="Calibri"/>
                <a:cs typeface="Calibri"/>
              </a:rPr>
              <a:t>  </a:t>
            </a:r>
            <a:r>
              <a:rPr dirty="0" sz="1400" spc="-10">
                <a:latin typeface="Calibri"/>
                <a:cs typeface="Calibri"/>
              </a:rPr>
              <a:t>initiating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iteration</a:t>
            </a:r>
            <a:r>
              <a:rPr dirty="0" sz="1400" spc="28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over</a:t>
            </a:r>
            <a:r>
              <a:rPr dirty="0" sz="1400" spc="28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ResultSets</a:t>
            </a:r>
            <a:r>
              <a:rPr dirty="0" sz="1400" spc="28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29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catching</a:t>
            </a:r>
            <a:r>
              <a:rPr dirty="0" sz="1400" spc="290">
                <a:latin typeface="Calibri"/>
                <a:cs typeface="Calibri"/>
              </a:rPr>
              <a:t>  </a:t>
            </a:r>
            <a:r>
              <a:rPr dirty="0" sz="1400" spc="-20">
                <a:latin typeface="Calibri"/>
                <a:cs typeface="Calibri"/>
              </a:rPr>
              <a:t>JDBC </a:t>
            </a:r>
            <a:r>
              <a:rPr dirty="0" sz="1400" spc="-2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exceptions</a:t>
            </a:r>
            <a:r>
              <a:rPr dirty="0" sz="1400" spc="3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3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translating</a:t>
            </a:r>
            <a:r>
              <a:rPr dirty="0" sz="1400" spc="3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them</a:t>
            </a:r>
            <a:r>
              <a:rPr dirty="0" sz="1400" spc="3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3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3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generic,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more</a:t>
            </a:r>
            <a:r>
              <a:rPr dirty="0" sz="1400" spc="2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informative</a:t>
            </a:r>
            <a:r>
              <a:rPr dirty="0" sz="1400" spc="30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exception</a:t>
            </a:r>
            <a:r>
              <a:rPr dirty="0" sz="1400" spc="30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hierarchy</a:t>
            </a:r>
            <a:r>
              <a:rPr dirty="0" sz="1400" spc="30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defined</a:t>
            </a:r>
            <a:r>
              <a:rPr dirty="0" sz="1400" spc="29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in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org.springframework.dao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package.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62425" y="3207816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-12395" y="345592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Using</a:t>
            </a:r>
            <a:r>
              <a:rPr dirty="0" spc="-40"/>
              <a:t> </a:t>
            </a:r>
            <a:r>
              <a:rPr dirty="0" spc="-25"/>
              <a:t>JdbcTemplate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792" y="625220"/>
            <a:ext cx="4340860" cy="880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5730" indent="-113030">
              <a:lnSpc>
                <a:spcPts val="1595"/>
              </a:lnSpc>
              <a:spcBef>
                <a:spcPts val="100"/>
              </a:spcBef>
              <a:buFont typeface="Arial"/>
              <a:buChar char="•"/>
              <a:tabLst>
                <a:tab pos="125730" algn="l"/>
              </a:tabLst>
            </a:pPr>
            <a:r>
              <a:rPr dirty="0" sz="1400">
                <a:latin typeface="Calibri"/>
                <a:cs typeface="Calibri"/>
              </a:rPr>
              <a:t>Spring’s</a:t>
            </a:r>
            <a:r>
              <a:rPr dirty="0" sz="1400" spc="215"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JdbcTemplate</a:t>
            </a:r>
            <a:r>
              <a:rPr dirty="0" sz="1400" spc="2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class</a:t>
            </a:r>
            <a:r>
              <a:rPr dirty="0" sz="1400" spc="2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2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auto-</a:t>
            </a:r>
            <a:r>
              <a:rPr dirty="0" sz="1400">
                <a:latin typeface="Calibri"/>
                <a:cs typeface="Calibri"/>
              </a:rPr>
              <a:t>configured,</a:t>
            </a:r>
            <a:r>
              <a:rPr dirty="0" sz="1400" spc="2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21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you</a:t>
            </a:r>
            <a:endParaRPr sz="1400">
              <a:latin typeface="Calibri"/>
              <a:cs typeface="Calibri"/>
            </a:endParaRPr>
          </a:p>
          <a:p>
            <a:pPr marL="127000">
              <a:lnSpc>
                <a:spcPts val="1595"/>
              </a:lnSpc>
            </a:pPr>
            <a:r>
              <a:rPr dirty="0" sz="1400">
                <a:latin typeface="Calibri"/>
                <a:cs typeface="Calibri"/>
              </a:rPr>
              <a:t>can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06FC0"/>
                </a:solidFill>
                <a:latin typeface="Calibri"/>
                <a:cs typeface="Calibri"/>
              </a:rPr>
              <a:t>@Autowire</a:t>
            </a:r>
            <a:r>
              <a:rPr dirty="0" sz="1400" spc="-55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them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directly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your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own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beans.</a:t>
            </a:r>
            <a:endParaRPr sz="1400">
              <a:latin typeface="Calibri"/>
              <a:cs typeface="Calibri"/>
            </a:endParaRPr>
          </a:p>
          <a:p>
            <a:pPr marL="125730" marR="5715" indent="-113030">
              <a:lnSpc>
                <a:spcPts val="1510"/>
              </a:lnSpc>
              <a:spcBef>
                <a:spcPts val="53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229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case</a:t>
            </a:r>
            <a:r>
              <a:rPr dirty="0" sz="1400" spc="2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2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using</a:t>
            </a:r>
            <a:r>
              <a:rPr dirty="0" sz="1400" spc="2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named</a:t>
            </a:r>
            <a:r>
              <a:rPr dirty="0" sz="1400" spc="2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parameter,</a:t>
            </a:r>
            <a:r>
              <a:rPr dirty="0" sz="1400" spc="2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you</a:t>
            </a:r>
            <a:r>
              <a:rPr dirty="0" sz="1400" spc="2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should</a:t>
            </a:r>
            <a:r>
              <a:rPr dirty="0" sz="1400" spc="229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24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the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 spc="-20">
                <a:solidFill>
                  <a:srgbClr val="FF0000"/>
                </a:solidFill>
                <a:latin typeface="Calibri"/>
                <a:cs typeface="Calibri"/>
              </a:rPr>
              <a:t>NamedParameterJdbcTemplate</a:t>
            </a:r>
            <a:r>
              <a:rPr dirty="0" sz="1400" spc="9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1E1E"/>
                </a:solidFill>
                <a:latin typeface="Calibri"/>
                <a:cs typeface="Calibri"/>
              </a:rPr>
              <a:t>class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96062" y="1572005"/>
            <a:ext cx="3576954" cy="1769745"/>
          </a:xfrm>
          <a:custGeom>
            <a:avLst/>
            <a:gdLst/>
            <a:ahLst/>
            <a:cxnLst/>
            <a:rect l="l" t="t" r="r" b="b"/>
            <a:pathLst>
              <a:path w="3576954" h="1769745">
                <a:moveTo>
                  <a:pt x="0" y="1769363"/>
                </a:moveTo>
                <a:lnTo>
                  <a:pt x="3576828" y="1769363"/>
                </a:lnTo>
                <a:lnTo>
                  <a:pt x="3576828" y="0"/>
                </a:lnTo>
                <a:lnTo>
                  <a:pt x="0" y="0"/>
                </a:lnTo>
                <a:lnTo>
                  <a:pt x="0" y="1769363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28573" y="1586940"/>
            <a:ext cx="3476625" cy="1733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public class</a:t>
            </a:r>
            <a:r>
              <a:rPr dirty="0" sz="800" spc="1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StudentJDBCTemplate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033B3"/>
                </a:solidFill>
                <a:latin typeface="Arial"/>
                <a:cs typeface="Arial"/>
              </a:rPr>
              <a:t>implements</a:t>
            </a:r>
            <a:r>
              <a:rPr dirty="0" sz="800" spc="-2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StudentDAO</a:t>
            </a:r>
            <a:r>
              <a:rPr dirty="0" sz="800" spc="-5"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800">
              <a:latin typeface="Arial"/>
              <a:cs typeface="Arial"/>
            </a:endParaRPr>
          </a:p>
          <a:p>
            <a:pPr marL="97790">
              <a:lnSpc>
                <a:spcPct val="100000"/>
              </a:lnSpc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private</a:t>
            </a:r>
            <a:r>
              <a:rPr dirty="0" sz="800" spc="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DataSource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860F93"/>
                </a:solidFill>
                <a:latin typeface="Arial"/>
                <a:cs typeface="Arial"/>
              </a:rPr>
              <a:t>dataSource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800">
              <a:latin typeface="Arial"/>
              <a:cs typeface="Arial"/>
            </a:endParaRPr>
          </a:p>
          <a:p>
            <a:pPr marL="97790" marR="1457325">
              <a:lnSpc>
                <a:spcPct val="100000"/>
              </a:lnSpc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private</a:t>
            </a:r>
            <a:r>
              <a:rPr dirty="0" sz="800" spc="-3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JdbcTemplate</a:t>
            </a:r>
            <a:r>
              <a:rPr dirty="0" sz="800" spc="-45"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860F93"/>
                </a:solidFill>
                <a:latin typeface="Arial"/>
                <a:cs typeface="Arial"/>
              </a:rPr>
              <a:t>jdbcTemplateObject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; </a:t>
            </a:r>
            <a:r>
              <a:rPr dirty="0" sz="800" spc="-10">
                <a:solidFill>
                  <a:srgbClr val="9E870D"/>
                </a:solidFill>
                <a:latin typeface="Arial"/>
                <a:cs typeface="Arial"/>
              </a:rPr>
              <a:t>@Autowired</a:t>
            </a:r>
            <a:endParaRPr sz="800">
              <a:latin typeface="Arial"/>
              <a:cs typeface="Arial"/>
            </a:endParaRPr>
          </a:p>
          <a:p>
            <a:pPr marL="184785" marR="976630" indent="-86995">
              <a:lnSpc>
                <a:spcPct val="100000"/>
              </a:lnSpc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800" spc="1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void</a:t>
            </a:r>
            <a:r>
              <a:rPr dirty="0" sz="800" spc="3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06179"/>
                </a:solidFill>
                <a:latin typeface="Arial"/>
                <a:cs typeface="Arial"/>
              </a:rPr>
              <a:t>setDataSource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800" spc="-10">
                <a:latin typeface="Arial"/>
                <a:cs typeface="Arial"/>
              </a:rPr>
              <a:t>DataSource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dataSource)</a:t>
            </a:r>
            <a:r>
              <a:rPr dirty="0" sz="800" spc="2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033B3"/>
                </a:solidFill>
                <a:latin typeface="Arial"/>
                <a:cs typeface="Arial"/>
              </a:rPr>
              <a:t>this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800" spc="-10">
                <a:solidFill>
                  <a:srgbClr val="860F93"/>
                </a:solidFill>
                <a:latin typeface="Arial"/>
                <a:cs typeface="Arial"/>
              </a:rPr>
              <a:t>dataSource</a:t>
            </a:r>
            <a:r>
              <a:rPr dirty="0" sz="800" spc="-5">
                <a:solidFill>
                  <a:srgbClr val="860F9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800" spc="5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dataSource;</a:t>
            </a:r>
            <a:endParaRPr sz="800">
              <a:latin typeface="Arial"/>
              <a:cs typeface="Arial"/>
            </a:endParaRPr>
          </a:p>
          <a:p>
            <a:pPr marL="184785">
              <a:lnSpc>
                <a:spcPct val="100000"/>
              </a:lnSpc>
            </a:pPr>
            <a:r>
              <a:rPr dirty="0" sz="800" spc="-10">
                <a:solidFill>
                  <a:srgbClr val="0033B3"/>
                </a:solidFill>
                <a:latin typeface="Arial"/>
                <a:cs typeface="Arial"/>
              </a:rPr>
              <a:t>this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800" spc="-10">
                <a:solidFill>
                  <a:srgbClr val="860F93"/>
                </a:solidFill>
                <a:latin typeface="Arial"/>
                <a:cs typeface="Arial"/>
              </a:rPr>
              <a:t>jdbcTemplateObject</a:t>
            </a:r>
            <a:r>
              <a:rPr dirty="0" sz="800" spc="-40">
                <a:solidFill>
                  <a:srgbClr val="860F9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=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new</a:t>
            </a:r>
            <a:r>
              <a:rPr dirty="0" sz="800" spc="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JdbcTemplate(dataSource);</a:t>
            </a:r>
            <a:endParaRPr sz="800">
              <a:latin typeface="Arial"/>
              <a:cs typeface="Arial"/>
            </a:endParaRPr>
          </a:p>
          <a:p>
            <a:pPr marL="97790">
              <a:lnSpc>
                <a:spcPct val="100000"/>
              </a:lnSpc>
            </a:pP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800">
              <a:latin typeface="Arial"/>
              <a:cs typeface="Arial"/>
            </a:endParaRPr>
          </a:p>
          <a:p>
            <a:pPr marL="97790">
              <a:lnSpc>
                <a:spcPct val="100000"/>
              </a:lnSpc>
            </a:pP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public</a:t>
            </a:r>
            <a:r>
              <a:rPr dirty="0" sz="800" spc="-30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033B3"/>
                </a:solidFill>
                <a:latin typeface="Arial"/>
                <a:cs typeface="Arial"/>
              </a:rPr>
              <a:t>void</a:t>
            </a:r>
            <a:r>
              <a:rPr dirty="0" sz="800" spc="-5">
                <a:solidFill>
                  <a:srgbClr val="0033B3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06179"/>
                </a:solidFill>
                <a:latin typeface="Arial"/>
                <a:cs typeface="Arial"/>
              </a:rPr>
              <a:t>create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(</a:t>
            </a:r>
            <a:r>
              <a:rPr dirty="0" sz="800" spc="-10">
                <a:latin typeface="Arial"/>
                <a:cs typeface="Arial"/>
              </a:rPr>
              <a:t>String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name,</a:t>
            </a:r>
            <a:r>
              <a:rPr dirty="0" sz="800" spc="-2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Integer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age)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{</a:t>
            </a:r>
            <a:endParaRPr sz="800">
              <a:latin typeface="Arial"/>
              <a:cs typeface="Arial"/>
            </a:endParaRPr>
          </a:p>
          <a:p>
            <a:pPr marL="184785" marR="5080">
              <a:lnSpc>
                <a:spcPct val="100000"/>
              </a:lnSpc>
            </a:pPr>
            <a:r>
              <a:rPr dirty="0" sz="800">
                <a:latin typeface="Arial"/>
                <a:cs typeface="Arial"/>
              </a:rPr>
              <a:t>String</a:t>
            </a:r>
            <a:r>
              <a:rPr dirty="0" sz="800" spc="-3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SQL</a:t>
            </a:r>
            <a:r>
              <a:rPr dirty="0" sz="800" spc="-55"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=</a:t>
            </a:r>
            <a:r>
              <a:rPr dirty="0" sz="800" spc="-1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57C17"/>
                </a:solidFill>
                <a:latin typeface="Arial"/>
                <a:cs typeface="Arial"/>
              </a:rPr>
              <a:t>"insert</a:t>
            </a:r>
            <a:r>
              <a:rPr dirty="0" sz="800" spc="-25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57C17"/>
                </a:solidFill>
                <a:latin typeface="Arial"/>
                <a:cs typeface="Arial"/>
              </a:rPr>
              <a:t>into</a:t>
            </a:r>
            <a:r>
              <a:rPr dirty="0" sz="800" spc="-25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57C17"/>
                </a:solidFill>
                <a:latin typeface="Arial"/>
                <a:cs typeface="Arial"/>
              </a:rPr>
              <a:t>Student</a:t>
            </a:r>
            <a:r>
              <a:rPr dirty="0" sz="800" spc="-3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57C17"/>
                </a:solidFill>
                <a:latin typeface="Arial"/>
                <a:cs typeface="Arial"/>
              </a:rPr>
              <a:t>(name,</a:t>
            </a:r>
            <a:r>
              <a:rPr dirty="0" sz="800" spc="-2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57C17"/>
                </a:solidFill>
                <a:latin typeface="Arial"/>
                <a:cs typeface="Arial"/>
              </a:rPr>
              <a:t>age)</a:t>
            </a:r>
            <a:r>
              <a:rPr dirty="0" sz="800" spc="-15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57C17"/>
                </a:solidFill>
                <a:latin typeface="Arial"/>
                <a:cs typeface="Arial"/>
              </a:rPr>
              <a:t>values</a:t>
            </a:r>
            <a:r>
              <a:rPr dirty="0" sz="800" spc="-2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57C17"/>
                </a:solidFill>
                <a:latin typeface="Arial"/>
                <a:cs typeface="Arial"/>
              </a:rPr>
              <a:t>(?,</a:t>
            </a:r>
            <a:r>
              <a:rPr dirty="0" sz="800" spc="-1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057C17"/>
                </a:solidFill>
                <a:latin typeface="Arial"/>
                <a:cs typeface="Arial"/>
              </a:rPr>
              <a:t>?)"</a:t>
            </a:r>
            <a:r>
              <a:rPr dirty="0" sz="800" spc="-20">
                <a:solidFill>
                  <a:srgbClr val="080808"/>
                </a:solidFill>
                <a:latin typeface="Arial"/>
                <a:cs typeface="Arial"/>
              </a:rPr>
              <a:t>; </a:t>
            </a:r>
            <a:r>
              <a:rPr dirty="0" sz="800" spc="-10">
                <a:solidFill>
                  <a:srgbClr val="860F93"/>
                </a:solidFill>
                <a:latin typeface="Arial"/>
                <a:cs typeface="Arial"/>
              </a:rPr>
              <a:t>jdbcTemplateObject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.update(</a:t>
            </a:r>
            <a:r>
              <a:rPr dirty="0" sz="800" spc="-4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SQL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,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name,</a:t>
            </a:r>
            <a:r>
              <a:rPr dirty="0" sz="800" spc="-2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age); </a:t>
            </a:r>
            <a:r>
              <a:rPr dirty="0" sz="800" spc="-10">
                <a:latin typeface="Arial"/>
                <a:cs typeface="Arial"/>
              </a:rPr>
              <a:t>System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</a:t>
            </a:r>
            <a:r>
              <a:rPr dirty="0" sz="800" spc="-10" i="1">
                <a:solidFill>
                  <a:srgbClr val="860F93"/>
                </a:solidFill>
                <a:latin typeface="Arial"/>
                <a:cs typeface="Arial"/>
              </a:rPr>
              <a:t>out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.println(</a:t>
            </a:r>
            <a:r>
              <a:rPr dirty="0" sz="800" spc="-10">
                <a:solidFill>
                  <a:srgbClr val="057C17"/>
                </a:solidFill>
                <a:latin typeface="Arial"/>
                <a:cs typeface="Arial"/>
              </a:rPr>
              <a:t>"Created</a:t>
            </a:r>
            <a:r>
              <a:rPr dirty="0" sz="800" spc="-30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57C17"/>
                </a:solidFill>
                <a:latin typeface="Arial"/>
                <a:cs typeface="Arial"/>
              </a:rPr>
              <a:t>Record Name = "</a:t>
            </a:r>
            <a:r>
              <a:rPr dirty="0" sz="800" spc="25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+</a:t>
            </a:r>
            <a:r>
              <a:rPr dirty="0" sz="800" spc="-5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name +</a:t>
            </a:r>
            <a:r>
              <a:rPr dirty="0" sz="800" spc="1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57C17"/>
                </a:solidFill>
                <a:latin typeface="Arial"/>
                <a:cs typeface="Arial"/>
              </a:rPr>
              <a:t>"</a:t>
            </a:r>
            <a:r>
              <a:rPr dirty="0" sz="800" spc="-45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57C17"/>
                </a:solidFill>
                <a:latin typeface="Arial"/>
                <a:cs typeface="Arial"/>
              </a:rPr>
              <a:t>Age</a:t>
            </a:r>
            <a:r>
              <a:rPr dirty="0" sz="800" spc="-5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57C17"/>
                </a:solidFill>
                <a:latin typeface="Arial"/>
                <a:cs typeface="Arial"/>
              </a:rPr>
              <a:t>=</a:t>
            </a:r>
            <a:r>
              <a:rPr dirty="0" sz="800" spc="15">
                <a:solidFill>
                  <a:srgbClr val="057C17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057C17"/>
                </a:solidFill>
                <a:latin typeface="Arial"/>
                <a:cs typeface="Arial"/>
              </a:rPr>
              <a:t>" </a:t>
            </a:r>
            <a:r>
              <a:rPr dirty="0" sz="800">
                <a:solidFill>
                  <a:srgbClr val="080808"/>
                </a:solidFill>
                <a:latin typeface="Arial"/>
                <a:cs typeface="Arial"/>
              </a:rPr>
              <a:t>+</a:t>
            </a:r>
            <a:r>
              <a:rPr dirty="0" sz="800" spc="10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age); </a:t>
            </a:r>
            <a:r>
              <a:rPr dirty="0" sz="800" spc="-10">
                <a:solidFill>
                  <a:srgbClr val="0033B3"/>
                </a:solidFill>
                <a:latin typeface="Arial"/>
                <a:cs typeface="Arial"/>
              </a:rPr>
              <a:t>return</a:t>
            </a:r>
            <a:r>
              <a:rPr dirty="0" sz="800" spc="-10">
                <a:solidFill>
                  <a:srgbClr val="080808"/>
                </a:solidFill>
                <a:latin typeface="Arial"/>
                <a:cs typeface="Arial"/>
              </a:rPr>
              <a:t>;</a:t>
            </a:r>
            <a:endParaRPr sz="800">
              <a:latin typeface="Arial"/>
              <a:cs typeface="Arial"/>
            </a:endParaRPr>
          </a:p>
          <a:p>
            <a:pPr marL="97790">
              <a:lnSpc>
                <a:spcPct val="100000"/>
              </a:lnSpc>
            </a:pPr>
            <a:r>
              <a:rPr dirty="0" sz="800" spc="-50">
                <a:solidFill>
                  <a:srgbClr val="080808"/>
                </a:solidFill>
                <a:latin typeface="Arial"/>
                <a:cs typeface="Arial"/>
              </a:rPr>
              <a:t>}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62425" y="3207257"/>
            <a:ext cx="6413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888888"/>
                </a:solidFill>
                <a:latin typeface="Calibri"/>
                <a:cs typeface="Calibri"/>
              </a:rPr>
              <a:t>9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12395" y="3454653"/>
            <a:ext cx="8953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252525"/>
                </a:solidFill>
                <a:latin typeface="Calibri"/>
                <a:cs typeface="Calibri"/>
              </a:rPr>
              <a:t>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" y="11683"/>
            <a:ext cx="890269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/>
              <a:t>Example</a:t>
            </a:r>
            <a:endParaRPr sz="2000"/>
          </a:p>
        </p:txBody>
      </p:sp>
      <p:sp>
        <p:nvSpPr>
          <p:cNvPr id="3" name="object 3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83" y="401390"/>
              <a:ext cx="2705100" cy="281120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0109" y="384771"/>
              <a:ext cx="2710180" cy="2830195"/>
            </a:xfrm>
            <a:custGeom>
              <a:avLst/>
              <a:gdLst/>
              <a:ahLst/>
              <a:cxnLst/>
              <a:rect l="l" t="t" r="r" b="b"/>
              <a:pathLst>
                <a:path w="2710180" h="2830195">
                  <a:moveTo>
                    <a:pt x="0" y="2830195"/>
                  </a:moveTo>
                  <a:lnTo>
                    <a:pt x="2709799" y="2830195"/>
                  </a:lnTo>
                  <a:lnTo>
                    <a:pt x="2709799" y="0"/>
                  </a:lnTo>
                  <a:lnTo>
                    <a:pt x="0" y="0"/>
                  </a:lnTo>
                  <a:lnTo>
                    <a:pt x="0" y="2830195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1032" y="467948"/>
              <a:ext cx="1538887" cy="263635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2798698" y="392391"/>
              <a:ext cx="1745614" cy="2787650"/>
            </a:xfrm>
            <a:custGeom>
              <a:avLst/>
              <a:gdLst/>
              <a:ahLst/>
              <a:cxnLst/>
              <a:rect l="l" t="t" r="r" b="b"/>
              <a:pathLst>
                <a:path w="1745614" h="2787650">
                  <a:moveTo>
                    <a:pt x="0" y="2787523"/>
                  </a:moveTo>
                  <a:lnTo>
                    <a:pt x="1745233" y="2787523"/>
                  </a:lnTo>
                  <a:lnTo>
                    <a:pt x="1745233" y="0"/>
                  </a:lnTo>
                  <a:lnTo>
                    <a:pt x="0" y="0"/>
                  </a:lnTo>
                  <a:lnTo>
                    <a:pt x="0" y="2787523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" y="65659"/>
            <a:ext cx="2661285" cy="2692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/>
              <a:t>Query</a:t>
            </a:r>
            <a:r>
              <a:rPr dirty="0" sz="1600" spc="-35"/>
              <a:t> </a:t>
            </a:r>
            <a:r>
              <a:rPr dirty="0" sz="1600"/>
              <a:t>row(s) with</a:t>
            </a:r>
            <a:r>
              <a:rPr dirty="0" sz="1600" spc="-45"/>
              <a:t> </a:t>
            </a:r>
            <a:r>
              <a:rPr dirty="0" sz="1600" spc="-10"/>
              <a:t>Rows</a:t>
            </a:r>
            <a:r>
              <a:rPr dirty="0" sz="1600" spc="-25"/>
              <a:t> </a:t>
            </a:r>
            <a:r>
              <a:rPr dirty="0" sz="1600" spc="-10"/>
              <a:t>Mapper</a:t>
            </a:r>
            <a:endParaRPr sz="1600"/>
          </a:p>
        </p:txBody>
      </p:sp>
      <p:sp>
        <p:nvSpPr>
          <p:cNvPr id="3" name="object 3" descr=""/>
          <p:cNvSpPr txBox="1"/>
          <p:nvPr/>
        </p:nvSpPr>
        <p:spPr>
          <a:xfrm>
            <a:off x="4137025" y="3239007"/>
            <a:ext cx="76200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0"/>
              </a:lnSpc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11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0990" y="405510"/>
            <a:ext cx="39871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RowMapper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object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mapping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row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ResultSet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to </a:t>
            </a:r>
            <a:r>
              <a:rPr dirty="0" sz="1200" spc="-10">
                <a:latin typeface="Calibri"/>
                <a:cs typeface="Calibri"/>
              </a:rPr>
              <a:t>specific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object.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2141" y="831786"/>
            <a:ext cx="4461510" cy="2544445"/>
            <a:chOff x="62141" y="831786"/>
            <a:chExt cx="4461510" cy="254444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872" y="850966"/>
              <a:ext cx="2295896" cy="69550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4681" y="834326"/>
              <a:ext cx="2357755" cy="724535"/>
            </a:xfrm>
            <a:custGeom>
              <a:avLst/>
              <a:gdLst/>
              <a:ahLst/>
              <a:cxnLst/>
              <a:rect l="l" t="t" r="r" b="b"/>
              <a:pathLst>
                <a:path w="2357755" h="724535">
                  <a:moveTo>
                    <a:pt x="0" y="724090"/>
                  </a:moveTo>
                  <a:lnTo>
                    <a:pt x="2357754" y="724090"/>
                  </a:lnTo>
                  <a:lnTo>
                    <a:pt x="2357754" y="0"/>
                  </a:lnTo>
                  <a:lnTo>
                    <a:pt x="0" y="0"/>
                  </a:lnTo>
                  <a:lnTo>
                    <a:pt x="0" y="724090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5372" y="909256"/>
              <a:ext cx="1639222" cy="48577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493899" y="883094"/>
              <a:ext cx="1696720" cy="538480"/>
            </a:xfrm>
            <a:custGeom>
              <a:avLst/>
              <a:gdLst/>
              <a:ahLst/>
              <a:cxnLst/>
              <a:rect l="l" t="t" r="r" b="b"/>
              <a:pathLst>
                <a:path w="1696720" h="538480">
                  <a:moveTo>
                    <a:pt x="0" y="538162"/>
                  </a:moveTo>
                  <a:lnTo>
                    <a:pt x="1696339" y="538162"/>
                  </a:lnTo>
                  <a:lnTo>
                    <a:pt x="1696339" y="0"/>
                  </a:lnTo>
                  <a:lnTo>
                    <a:pt x="0" y="0"/>
                  </a:lnTo>
                  <a:lnTo>
                    <a:pt x="0" y="538162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" y="1679333"/>
              <a:ext cx="2341834" cy="922248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66205" y="1652714"/>
              <a:ext cx="2356485" cy="975994"/>
            </a:xfrm>
            <a:custGeom>
              <a:avLst/>
              <a:gdLst/>
              <a:ahLst/>
              <a:cxnLst/>
              <a:rect l="l" t="t" r="r" b="b"/>
              <a:pathLst>
                <a:path w="2356485" h="975994">
                  <a:moveTo>
                    <a:pt x="0" y="975550"/>
                  </a:moveTo>
                  <a:lnTo>
                    <a:pt x="2356358" y="975550"/>
                  </a:lnTo>
                  <a:lnTo>
                    <a:pt x="2356358" y="0"/>
                  </a:lnTo>
                  <a:lnTo>
                    <a:pt x="0" y="0"/>
                  </a:lnTo>
                  <a:lnTo>
                    <a:pt x="0" y="975550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5415" y="2232659"/>
              <a:ext cx="2333243" cy="1138427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2183002" y="2230310"/>
              <a:ext cx="2338070" cy="1143635"/>
            </a:xfrm>
            <a:custGeom>
              <a:avLst/>
              <a:gdLst/>
              <a:ahLst/>
              <a:cxnLst/>
              <a:rect l="l" t="t" r="r" b="b"/>
              <a:pathLst>
                <a:path w="2338070" h="1143635">
                  <a:moveTo>
                    <a:pt x="0" y="1143190"/>
                  </a:moveTo>
                  <a:lnTo>
                    <a:pt x="2338070" y="1143190"/>
                  </a:lnTo>
                  <a:lnTo>
                    <a:pt x="2338070" y="0"/>
                  </a:lnTo>
                  <a:lnTo>
                    <a:pt x="0" y="0"/>
                  </a:lnTo>
                  <a:lnTo>
                    <a:pt x="0" y="1143190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3570859" y="2051430"/>
            <a:ext cx="7346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0000"/>
                </a:solidFill>
                <a:latin typeface="Calibri"/>
                <a:cs typeface="Calibri"/>
              </a:rPr>
              <a:t>Direct</a:t>
            </a:r>
            <a:r>
              <a:rPr dirty="0" sz="90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0000"/>
                </a:solidFill>
                <a:latin typeface="Calibri"/>
                <a:cs typeface="Calibri"/>
              </a:rPr>
              <a:t>mapping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40181" y="2444241"/>
            <a:ext cx="6400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0000"/>
                </a:solidFill>
                <a:latin typeface="Calibri"/>
                <a:cs typeface="Calibri"/>
              </a:rPr>
              <a:t>Mapper</a:t>
            </a:r>
            <a:r>
              <a:rPr dirty="0" sz="9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FF0000"/>
                </a:solidFill>
                <a:latin typeface="Calibri"/>
                <a:cs typeface="Calibri"/>
              </a:rPr>
              <a:t>class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Query</a:t>
            </a:r>
            <a:r>
              <a:rPr dirty="0" spc="-35"/>
              <a:t> </a:t>
            </a:r>
            <a:r>
              <a:rPr dirty="0"/>
              <a:t>with</a:t>
            </a:r>
            <a:r>
              <a:rPr dirty="0" spc="-40"/>
              <a:t> </a:t>
            </a:r>
            <a:r>
              <a:rPr dirty="0" spc="-10"/>
              <a:t>BeanPropertyMapper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87197" y="523747"/>
            <a:ext cx="4037965" cy="36195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560"/>
              </a:spcBef>
            </a:pPr>
            <a:r>
              <a:rPr dirty="0" sz="1300">
                <a:latin typeface="Calibri"/>
                <a:cs typeface="Calibri"/>
              </a:rPr>
              <a:t>Using</a:t>
            </a:r>
            <a:r>
              <a:rPr dirty="0" sz="1300" spc="2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BeanPropertyMapper</a:t>
            </a:r>
            <a:r>
              <a:rPr dirty="0" sz="1300" spc="26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object</a:t>
            </a:r>
            <a:r>
              <a:rPr dirty="0" sz="1300" spc="25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will</a:t>
            </a:r>
            <a:r>
              <a:rPr dirty="0" sz="1300" spc="26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save</a:t>
            </a:r>
            <a:r>
              <a:rPr dirty="0" sz="1300" spc="25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you</a:t>
            </a:r>
            <a:r>
              <a:rPr dirty="0" sz="1300" spc="25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</a:t>
            </a:r>
            <a:r>
              <a:rPr dirty="0" sz="1300" spc="25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lot</a:t>
            </a:r>
            <a:r>
              <a:rPr dirty="0" sz="1300" spc="250">
                <a:latin typeface="Calibri"/>
                <a:cs typeface="Calibri"/>
              </a:rPr>
              <a:t> </a:t>
            </a:r>
            <a:r>
              <a:rPr dirty="0" sz="1300" spc="-25">
                <a:latin typeface="Calibri"/>
                <a:cs typeface="Calibri"/>
              </a:rPr>
              <a:t>of </a:t>
            </a:r>
            <a:r>
              <a:rPr dirty="0" sz="1300" spc="-10">
                <a:latin typeface="Calibri"/>
                <a:cs typeface="Calibri"/>
              </a:rPr>
              <a:t>time.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12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166" y="954437"/>
              <a:ext cx="2602218" cy="849493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07353" y="931862"/>
              <a:ext cx="2677795" cy="880110"/>
            </a:xfrm>
            <a:custGeom>
              <a:avLst/>
              <a:gdLst/>
              <a:ahLst/>
              <a:cxnLst/>
              <a:rect l="l" t="t" r="r" b="b"/>
              <a:pathLst>
                <a:path w="2677795" h="880110">
                  <a:moveTo>
                    <a:pt x="0" y="879538"/>
                  </a:moveTo>
                  <a:lnTo>
                    <a:pt x="2677795" y="879538"/>
                  </a:lnTo>
                  <a:lnTo>
                    <a:pt x="2677795" y="0"/>
                  </a:lnTo>
                  <a:lnTo>
                    <a:pt x="0" y="0"/>
                  </a:lnTo>
                  <a:lnTo>
                    <a:pt x="0" y="879538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313" y="1874472"/>
              <a:ext cx="2304288" cy="627981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07353" y="1856930"/>
              <a:ext cx="2405380" cy="663575"/>
            </a:xfrm>
            <a:custGeom>
              <a:avLst/>
              <a:gdLst/>
              <a:ahLst/>
              <a:cxnLst/>
              <a:rect l="l" t="t" r="r" b="b"/>
              <a:pathLst>
                <a:path w="2405380" h="663575">
                  <a:moveTo>
                    <a:pt x="0" y="663130"/>
                  </a:moveTo>
                  <a:lnTo>
                    <a:pt x="2404998" y="663130"/>
                  </a:lnTo>
                  <a:lnTo>
                    <a:pt x="2404998" y="0"/>
                  </a:lnTo>
                  <a:lnTo>
                    <a:pt x="0" y="0"/>
                  </a:lnTo>
                  <a:lnTo>
                    <a:pt x="0" y="663130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433" y="2588390"/>
              <a:ext cx="2006110" cy="746465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107353" y="2565552"/>
              <a:ext cx="2077720" cy="797560"/>
            </a:xfrm>
            <a:custGeom>
              <a:avLst/>
              <a:gdLst/>
              <a:ahLst/>
              <a:cxnLst/>
              <a:rect l="l" t="t" r="r" b="b"/>
              <a:pathLst>
                <a:path w="2077720" h="797560">
                  <a:moveTo>
                    <a:pt x="0" y="797242"/>
                  </a:moveTo>
                  <a:lnTo>
                    <a:pt x="2077339" y="797242"/>
                  </a:lnTo>
                  <a:lnTo>
                    <a:pt x="2077339" y="0"/>
                  </a:lnTo>
                  <a:lnTo>
                    <a:pt x="0" y="0"/>
                  </a:lnTo>
                  <a:lnTo>
                    <a:pt x="0" y="797242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25220"/>
            <a:ext cx="3879850" cy="184023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just" marL="125730" marR="5080" indent="-113664">
              <a:lnSpc>
                <a:spcPct val="90100"/>
              </a:lnSpc>
              <a:spcBef>
                <a:spcPts val="27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18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1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JPA</a:t>
            </a:r>
            <a:r>
              <a:rPr dirty="0" sz="1400" spc="20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1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used</a:t>
            </a:r>
            <a:r>
              <a:rPr dirty="0" sz="1400" spc="1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20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reduce</a:t>
            </a:r>
            <a:r>
              <a:rPr dirty="0" sz="1400" spc="1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1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amount</a:t>
            </a:r>
            <a:r>
              <a:rPr dirty="0" sz="1400" spc="19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of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boilerplate</a:t>
            </a:r>
            <a:r>
              <a:rPr dirty="0" sz="1400" spc="2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code</a:t>
            </a:r>
            <a:r>
              <a:rPr dirty="0" sz="1400" spc="2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required</a:t>
            </a:r>
            <a:r>
              <a:rPr dirty="0" sz="1400" spc="2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254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implement</a:t>
            </a:r>
            <a:r>
              <a:rPr dirty="0" sz="1400" spc="2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254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data </a:t>
            </a:r>
            <a:r>
              <a:rPr dirty="0" sz="1400" spc="-2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access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object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(DAO)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layer.</a:t>
            </a:r>
            <a:endParaRPr sz="1400">
              <a:latin typeface="Calibri"/>
              <a:cs typeface="Calibri"/>
            </a:endParaRPr>
          </a:p>
          <a:p>
            <a:pPr algn="just" marL="125730" marR="5080" indent="-113664">
              <a:lnSpc>
                <a:spcPts val="1510"/>
              </a:lnSpc>
              <a:spcBef>
                <a:spcPts val="52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JPA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not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 JPA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provider.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library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/ </a:t>
            </a:r>
            <a:r>
              <a:rPr dirty="0" sz="1400" spc="-5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framework</a:t>
            </a:r>
            <a:r>
              <a:rPr dirty="0" sz="1400" spc="1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1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adds</a:t>
            </a:r>
            <a:r>
              <a:rPr dirty="0" sz="1400" spc="1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</a:t>
            </a:r>
            <a:r>
              <a:rPr dirty="0" sz="1400" spc="1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extra</a:t>
            </a:r>
            <a:r>
              <a:rPr dirty="0" sz="1400" spc="1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layer</a:t>
            </a:r>
            <a:r>
              <a:rPr dirty="0" sz="1400" spc="1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1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abstraction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top</a:t>
            </a:r>
            <a:r>
              <a:rPr dirty="0" sz="1400" spc="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our</a:t>
            </a:r>
            <a:r>
              <a:rPr dirty="0" sz="1400" spc="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JPA</a:t>
            </a:r>
            <a:r>
              <a:rPr dirty="0" sz="1400" spc="7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provider.</a:t>
            </a:r>
            <a:r>
              <a:rPr dirty="0" sz="1400" spc="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If</a:t>
            </a:r>
            <a:r>
              <a:rPr dirty="0" sz="1400" spc="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we</a:t>
            </a:r>
            <a:r>
              <a:rPr dirty="0" sz="1400" spc="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decide</a:t>
            </a:r>
            <a:r>
              <a:rPr dirty="0" sz="1400" spc="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7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use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17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18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JPA,</a:t>
            </a:r>
            <a:r>
              <a:rPr dirty="0" sz="1400" spc="17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17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repository</a:t>
            </a:r>
            <a:r>
              <a:rPr dirty="0" sz="1400" spc="18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layer</a:t>
            </a:r>
            <a:r>
              <a:rPr dirty="0" sz="1400" spc="17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180">
                <a:latin typeface="Calibri"/>
                <a:cs typeface="Calibri"/>
              </a:rPr>
              <a:t>  </a:t>
            </a:r>
            <a:r>
              <a:rPr dirty="0" sz="1400" spc="-25">
                <a:latin typeface="Calibri"/>
                <a:cs typeface="Calibri"/>
              </a:rPr>
              <a:t>our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application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contains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three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layers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described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following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figure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13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Spring</a:t>
            </a:r>
            <a:r>
              <a:rPr dirty="0" spc="-60"/>
              <a:t> </a:t>
            </a:r>
            <a:r>
              <a:rPr dirty="0"/>
              <a:t>Data</a:t>
            </a:r>
            <a:r>
              <a:rPr dirty="0" spc="-45"/>
              <a:t> </a:t>
            </a:r>
            <a:r>
              <a:rPr dirty="0" spc="-40"/>
              <a:t>JPA</a:t>
            </a:r>
            <a:r>
              <a:rPr dirty="0" spc="-75"/>
              <a:t> </a:t>
            </a:r>
            <a:r>
              <a:rPr dirty="0" spc="-10"/>
              <a:t>components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98219" y="625550"/>
            <a:ext cx="272605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5730" indent="-11303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25730" algn="l"/>
                <a:tab pos="728980" algn="l"/>
                <a:tab pos="1212215" algn="l"/>
                <a:tab pos="1595755" algn="l"/>
                <a:tab pos="1844675" algn="l"/>
                <a:tab pos="2094864" algn="l"/>
              </a:tabLst>
            </a:pPr>
            <a:r>
              <a:rPr dirty="0" sz="1400" spc="-10">
                <a:solidFill>
                  <a:srgbClr val="538235"/>
                </a:solidFill>
                <a:latin typeface="Calibri"/>
                <a:cs typeface="Calibri"/>
              </a:rPr>
              <a:t>Spring</a:t>
            </a:r>
            <a:r>
              <a:rPr dirty="0" sz="140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dirty="0" sz="1400" spc="-20">
                <a:solidFill>
                  <a:srgbClr val="538235"/>
                </a:solidFill>
                <a:latin typeface="Calibri"/>
                <a:cs typeface="Calibri"/>
              </a:rPr>
              <a:t>Data</a:t>
            </a:r>
            <a:r>
              <a:rPr dirty="0" sz="140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dirty="0" sz="1400" spc="-25">
                <a:solidFill>
                  <a:srgbClr val="538235"/>
                </a:solidFill>
                <a:latin typeface="Calibri"/>
                <a:cs typeface="Calibri"/>
              </a:rPr>
              <a:t>JPA</a:t>
            </a:r>
            <a:r>
              <a:rPr dirty="0" sz="140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dirty="0" sz="1400" spc="-25">
                <a:latin typeface="Calibri"/>
                <a:cs typeface="Calibri"/>
              </a:rPr>
              <a:t>:-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25">
                <a:latin typeface="Calibri"/>
                <a:cs typeface="Calibri"/>
              </a:rPr>
              <a:t>It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provides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12519" y="818133"/>
            <a:ext cx="882650" cy="4318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 marR="5080">
              <a:lnSpc>
                <a:spcPts val="1510"/>
              </a:lnSpc>
              <a:spcBef>
                <a:spcPts val="295"/>
              </a:spcBef>
            </a:pPr>
            <a:r>
              <a:rPr dirty="0" sz="1400" spc="-10">
                <a:latin typeface="Calibri"/>
                <a:cs typeface="Calibri"/>
              </a:rPr>
              <a:t>support repositories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508885" y="818133"/>
            <a:ext cx="1715770" cy="43180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73990" marR="5080" indent="-161925">
              <a:lnSpc>
                <a:spcPts val="1510"/>
              </a:lnSpc>
              <a:spcBef>
                <a:spcPts val="295"/>
              </a:spcBef>
              <a:tabLst>
                <a:tab pos="545465" algn="l"/>
                <a:tab pos="1460500" algn="l"/>
              </a:tabLst>
            </a:pPr>
            <a:r>
              <a:rPr dirty="0" sz="1400" spc="-25">
                <a:latin typeface="Calibri"/>
                <a:cs typeface="Calibri"/>
              </a:rPr>
              <a:t>for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27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creating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28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JPA </a:t>
            </a:r>
            <a:r>
              <a:rPr dirty="0" sz="1400" spc="-25">
                <a:latin typeface="Calibri"/>
                <a:cs typeface="Calibri"/>
              </a:rPr>
              <a:t>by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extending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25">
                <a:latin typeface="Calibri"/>
                <a:cs typeface="Calibri"/>
              </a:rPr>
              <a:t>the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98219" y="1160119"/>
            <a:ext cx="2728595" cy="175450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just" marL="127000">
              <a:lnSpc>
                <a:spcPct val="100000"/>
              </a:lnSpc>
              <a:spcBef>
                <a:spcPts val="434"/>
              </a:spcBef>
            </a:pP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repository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interfaces.</a:t>
            </a:r>
            <a:endParaRPr sz="1400">
              <a:latin typeface="Calibri"/>
              <a:cs typeface="Calibri"/>
            </a:endParaRPr>
          </a:p>
          <a:p>
            <a:pPr algn="just" marL="125730" marR="5080" indent="-113030">
              <a:lnSpc>
                <a:spcPts val="1510"/>
              </a:lnSpc>
              <a:spcBef>
                <a:spcPts val="52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solidFill>
                  <a:srgbClr val="4471C4"/>
                </a:solidFill>
                <a:latin typeface="Calibri"/>
                <a:cs typeface="Calibri"/>
              </a:rPr>
              <a:t>Spring</a:t>
            </a:r>
            <a:r>
              <a:rPr dirty="0" sz="1400" spc="25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471C4"/>
                </a:solidFill>
                <a:latin typeface="Calibri"/>
                <a:cs typeface="Calibri"/>
              </a:rPr>
              <a:t>Data</a:t>
            </a:r>
            <a:r>
              <a:rPr dirty="0" sz="1400" spc="35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4471C4"/>
                </a:solidFill>
                <a:latin typeface="Calibri"/>
                <a:cs typeface="Calibri"/>
              </a:rPr>
              <a:t>Commons</a:t>
            </a:r>
            <a:r>
              <a:rPr dirty="0" sz="1400" spc="35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:-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provides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infrastructure</a:t>
            </a:r>
            <a:r>
              <a:rPr dirty="0" sz="1400" spc="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shared</a:t>
            </a:r>
            <a:r>
              <a:rPr dirty="0" sz="1400" spc="6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by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2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datastore</a:t>
            </a:r>
            <a:r>
              <a:rPr dirty="0" sz="1400" spc="2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specific</a:t>
            </a:r>
            <a:r>
              <a:rPr dirty="0" sz="1400" spc="2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26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Data </a:t>
            </a:r>
            <a:r>
              <a:rPr dirty="0" sz="1400" spc="-20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projects.</a:t>
            </a:r>
            <a:endParaRPr sz="1400">
              <a:latin typeface="Calibri"/>
              <a:cs typeface="Calibri"/>
            </a:endParaRPr>
          </a:p>
          <a:p>
            <a:pPr algn="just" marL="125730" marR="5080" indent="-113030">
              <a:lnSpc>
                <a:spcPct val="90100"/>
              </a:lnSpc>
              <a:spcBef>
                <a:spcPts val="489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solidFill>
                  <a:srgbClr val="EC7C30"/>
                </a:solidFill>
                <a:latin typeface="Calibri"/>
                <a:cs typeface="Calibri"/>
              </a:rPr>
              <a:t>JPA</a:t>
            </a:r>
            <a:r>
              <a:rPr dirty="0" sz="1400" spc="43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EC7C30"/>
                </a:solidFill>
                <a:latin typeface="Calibri"/>
                <a:cs typeface="Calibri"/>
              </a:rPr>
              <a:t>Provider</a:t>
            </a:r>
            <a:r>
              <a:rPr dirty="0" sz="1400" spc="42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:-</a:t>
            </a:r>
            <a:r>
              <a:rPr dirty="0" sz="1400" spc="4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4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JPA</a:t>
            </a:r>
            <a:r>
              <a:rPr dirty="0" sz="1400" spc="4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Provider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implements</a:t>
            </a:r>
            <a:r>
              <a:rPr dirty="0" sz="1400" spc="13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13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Java</a:t>
            </a:r>
            <a:r>
              <a:rPr dirty="0" sz="1400" spc="135">
                <a:latin typeface="Calibri"/>
                <a:cs typeface="Calibri"/>
              </a:rPr>
              <a:t>  </a:t>
            </a:r>
            <a:r>
              <a:rPr dirty="0" sz="1400" spc="-10">
                <a:latin typeface="Calibri"/>
                <a:cs typeface="Calibri"/>
              </a:rPr>
              <a:t>Persistence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 spc="-20">
                <a:latin typeface="Calibri"/>
                <a:cs typeface="Calibri"/>
              </a:rPr>
              <a:t>API.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14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1" y="688847"/>
              <a:ext cx="1392936" cy="984503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/>
              <a:t>Spring</a:t>
            </a:r>
            <a:r>
              <a:rPr dirty="0" sz="2000" spc="-65"/>
              <a:t> </a:t>
            </a:r>
            <a:r>
              <a:rPr dirty="0" sz="2000"/>
              <a:t>Data</a:t>
            </a:r>
            <a:r>
              <a:rPr dirty="0" sz="2000" spc="-40"/>
              <a:t> </a:t>
            </a:r>
            <a:r>
              <a:rPr dirty="0" sz="2000"/>
              <a:t>Repositories</a:t>
            </a:r>
            <a:r>
              <a:rPr dirty="0" sz="2000" spc="-65"/>
              <a:t> </a:t>
            </a:r>
            <a:r>
              <a:rPr dirty="0" sz="2000" spc="-10"/>
              <a:t>Interfaces</a:t>
            </a:r>
            <a:endParaRPr sz="2000"/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13028"/>
            <a:ext cx="2278380" cy="234823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just" marL="127000" marR="5080" indent="-114935">
              <a:lnSpc>
                <a:spcPct val="80000"/>
              </a:lnSpc>
              <a:spcBef>
                <a:spcPts val="40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254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power</a:t>
            </a:r>
            <a:r>
              <a:rPr dirty="0" sz="1300" spc="26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of</a:t>
            </a:r>
            <a:r>
              <a:rPr dirty="0" sz="1300" spc="25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Spring</a:t>
            </a:r>
            <a:r>
              <a:rPr dirty="0" sz="1300" spc="254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Data</a:t>
            </a:r>
            <a:r>
              <a:rPr dirty="0" sz="1300" spc="254">
                <a:latin typeface="Calibri"/>
                <a:cs typeface="Calibri"/>
              </a:rPr>
              <a:t> </a:t>
            </a:r>
            <a:r>
              <a:rPr dirty="0" sz="1300" spc="-40">
                <a:latin typeface="Calibri"/>
                <a:cs typeface="Calibri"/>
              </a:rPr>
              <a:t>JPA </a:t>
            </a:r>
            <a:r>
              <a:rPr dirty="0" sz="1300">
                <a:latin typeface="Calibri"/>
                <a:cs typeface="Calibri"/>
              </a:rPr>
              <a:t>lies</a:t>
            </a:r>
            <a:r>
              <a:rPr dirty="0" sz="1300" spc="475">
                <a:latin typeface="Calibri"/>
                <a:cs typeface="Calibri"/>
              </a:rPr>
              <a:t>   </a:t>
            </a:r>
            <a:r>
              <a:rPr dirty="0" sz="1300">
                <a:latin typeface="Calibri"/>
                <a:cs typeface="Calibri"/>
              </a:rPr>
              <a:t>in</a:t>
            </a:r>
            <a:r>
              <a:rPr dirty="0" sz="1300" spc="480">
                <a:latin typeface="Calibri"/>
                <a:cs typeface="Calibri"/>
              </a:rPr>
              <a:t>   </a:t>
            </a: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480">
                <a:latin typeface="Calibri"/>
                <a:cs typeface="Calibri"/>
              </a:rPr>
              <a:t>   </a:t>
            </a:r>
            <a:r>
              <a:rPr dirty="0" sz="1300" spc="-25">
                <a:latin typeface="Calibri"/>
                <a:cs typeface="Calibri"/>
              </a:rPr>
              <a:t>repository </a:t>
            </a:r>
            <a:r>
              <a:rPr dirty="0" sz="1300">
                <a:latin typeface="Calibri"/>
                <a:cs typeface="Calibri"/>
              </a:rPr>
              <a:t>abstraction</a:t>
            </a:r>
            <a:r>
              <a:rPr dirty="0" sz="1300" spc="1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that</a:t>
            </a:r>
            <a:r>
              <a:rPr dirty="0" sz="1300" spc="1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is</a:t>
            </a:r>
            <a:r>
              <a:rPr dirty="0" sz="1300" spc="1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provided</a:t>
            </a:r>
            <a:r>
              <a:rPr dirty="0" sz="1300" spc="140">
                <a:latin typeface="Calibri"/>
                <a:cs typeface="Calibri"/>
              </a:rPr>
              <a:t> </a:t>
            </a:r>
            <a:r>
              <a:rPr dirty="0" sz="1300" spc="-25">
                <a:latin typeface="Calibri"/>
                <a:cs typeface="Calibri"/>
              </a:rPr>
              <a:t>by </a:t>
            </a: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350">
                <a:latin typeface="Calibri"/>
                <a:cs typeface="Calibri"/>
              </a:rPr>
              <a:t>  </a:t>
            </a:r>
            <a:r>
              <a:rPr dirty="0" sz="1300">
                <a:latin typeface="Calibri"/>
                <a:cs typeface="Calibri"/>
              </a:rPr>
              <a:t>Spring</a:t>
            </a:r>
            <a:r>
              <a:rPr dirty="0" sz="1300" spc="350">
                <a:latin typeface="Calibri"/>
                <a:cs typeface="Calibri"/>
              </a:rPr>
              <a:t>  </a:t>
            </a:r>
            <a:r>
              <a:rPr dirty="0" sz="1300">
                <a:latin typeface="Calibri"/>
                <a:cs typeface="Calibri"/>
              </a:rPr>
              <a:t>Data</a:t>
            </a:r>
            <a:r>
              <a:rPr dirty="0" sz="1300" spc="350">
                <a:latin typeface="Calibri"/>
                <a:cs typeface="Calibri"/>
              </a:rPr>
              <a:t>  </a:t>
            </a:r>
            <a:r>
              <a:rPr dirty="0" sz="1300" spc="-10">
                <a:latin typeface="Calibri"/>
                <a:cs typeface="Calibri"/>
              </a:rPr>
              <a:t>Commons </a:t>
            </a:r>
            <a:r>
              <a:rPr dirty="0" sz="1300">
                <a:latin typeface="Calibri"/>
                <a:cs typeface="Calibri"/>
              </a:rPr>
              <a:t>project</a:t>
            </a:r>
            <a:r>
              <a:rPr dirty="0" sz="1300" spc="4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and</a:t>
            </a:r>
            <a:r>
              <a:rPr dirty="0" sz="1300" spc="45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extended</a:t>
            </a:r>
            <a:r>
              <a:rPr dirty="0" sz="1300" spc="45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by</a:t>
            </a:r>
            <a:r>
              <a:rPr dirty="0" sz="1300" spc="445">
                <a:latin typeface="Calibri"/>
                <a:cs typeface="Calibri"/>
              </a:rPr>
              <a:t> </a:t>
            </a:r>
            <a:r>
              <a:rPr dirty="0" sz="1300" spc="-25">
                <a:latin typeface="Calibri"/>
                <a:cs typeface="Calibri"/>
              </a:rPr>
              <a:t>the </a:t>
            </a:r>
            <a:r>
              <a:rPr dirty="0" sz="1300" spc="-10">
                <a:latin typeface="Calibri"/>
                <a:cs typeface="Calibri"/>
              </a:rPr>
              <a:t>datastore</a:t>
            </a:r>
            <a:r>
              <a:rPr dirty="0" sz="1300" spc="-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specific</a:t>
            </a:r>
            <a:r>
              <a:rPr dirty="0" sz="1300" spc="-3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sub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projects.</a:t>
            </a:r>
            <a:endParaRPr sz="1300">
              <a:latin typeface="Calibri"/>
              <a:cs typeface="Calibri"/>
            </a:endParaRPr>
          </a:p>
          <a:p>
            <a:pPr algn="just" marL="127000" marR="5080" indent="-114935">
              <a:lnSpc>
                <a:spcPts val="1250"/>
              </a:lnSpc>
              <a:spcBef>
                <a:spcPts val="49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300">
                <a:latin typeface="Calibri"/>
                <a:cs typeface="Calibri"/>
              </a:rPr>
              <a:t>We</a:t>
            </a:r>
            <a:r>
              <a:rPr dirty="0" sz="1300" spc="4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can</a:t>
            </a:r>
            <a:r>
              <a:rPr dirty="0" sz="1300" spc="45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use</a:t>
            </a:r>
            <a:r>
              <a:rPr dirty="0" sz="1300" spc="4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Spring</a:t>
            </a:r>
            <a:r>
              <a:rPr dirty="0" sz="1300" spc="459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Data</a:t>
            </a:r>
            <a:r>
              <a:rPr dirty="0" sz="1300" spc="459">
                <a:latin typeface="Calibri"/>
                <a:cs typeface="Calibri"/>
              </a:rPr>
              <a:t> </a:t>
            </a:r>
            <a:r>
              <a:rPr dirty="0" sz="1300" spc="-55">
                <a:latin typeface="Calibri"/>
                <a:cs typeface="Calibri"/>
              </a:rPr>
              <a:t>JPA </a:t>
            </a:r>
            <a:r>
              <a:rPr dirty="0" sz="1300">
                <a:latin typeface="Calibri"/>
                <a:cs typeface="Calibri"/>
              </a:rPr>
              <a:t>without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paying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any</a:t>
            </a:r>
            <a:r>
              <a:rPr dirty="0" sz="1300" spc="-2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attention</a:t>
            </a:r>
            <a:r>
              <a:rPr dirty="0" sz="1300" spc="-30">
                <a:latin typeface="Calibri"/>
                <a:cs typeface="Calibri"/>
              </a:rPr>
              <a:t> </a:t>
            </a:r>
            <a:r>
              <a:rPr dirty="0" sz="1300" spc="-25">
                <a:latin typeface="Calibri"/>
                <a:cs typeface="Calibri"/>
              </a:rPr>
              <a:t>to </a:t>
            </a: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42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actual</a:t>
            </a:r>
            <a:r>
              <a:rPr dirty="0" sz="1300" spc="43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implementation</a:t>
            </a:r>
            <a:r>
              <a:rPr dirty="0" sz="1300" spc="430">
                <a:latin typeface="Calibri"/>
                <a:cs typeface="Calibri"/>
              </a:rPr>
              <a:t> </a:t>
            </a:r>
            <a:r>
              <a:rPr dirty="0" sz="1300" spc="-25">
                <a:latin typeface="Calibri"/>
                <a:cs typeface="Calibri"/>
              </a:rPr>
              <a:t>of </a:t>
            </a: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16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repository</a:t>
            </a:r>
            <a:r>
              <a:rPr dirty="0" sz="1300" spc="17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abstraction,</a:t>
            </a:r>
            <a:r>
              <a:rPr dirty="0" sz="1300" spc="170">
                <a:latin typeface="Calibri"/>
                <a:cs typeface="Calibri"/>
              </a:rPr>
              <a:t> </a:t>
            </a:r>
            <a:r>
              <a:rPr dirty="0" sz="1300" spc="-25">
                <a:latin typeface="Calibri"/>
                <a:cs typeface="Calibri"/>
              </a:rPr>
              <a:t>but </a:t>
            </a:r>
            <a:r>
              <a:rPr dirty="0" sz="1300">
                <a:latin typeface="Calibri"/>
                <a:cs typeface="Calibri"/>
              </a:rPr>
              <a:t>we</a:t>
            </a:r>
            <a:r>
              <a:rPr dirty="0" sz="1300" spc="3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have</a:t>
            </a:r>
            <a:r>
              <a:rPr dirty="0" sz="1300" spc="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to</a:t>
            </a:r>
            <a:r>
              <a:rPr dirty="0" sz="1300" spc="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be</a:t>
            </a:r>
            <a:r>
              <a:rPr dirty="0" sz="1300" spc="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familiar</a:t>
            </a:r>
            <a:r>
              <a:rPr dirty="0" sz="1300" spc="5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with</a:t>
            </a:r>
            <a:r>
              <a:rPr dirty="0" sz="1300" spc="50">
                <a:latin typeface="Calibri"/>
                <a:cs typeface="Calibri"/>
              </a:rPr>
              <a:t> </a:t>
            </a:r>
            <a:r>
              <a:rPr dirty="0" sz="1300" spc="-25">
                <a:latin typeface="Calibri"/>
                <a:cs typeface="Calibri"/>
              </a:rPr>
              <a:t>the </a:t>
            </a:r>
            <a:r>
              <a:rPr dirty="0" sz="1300">
                <a:latin typeface="Calibri"/>
                <a:cs typeface="Calibri"/>
              </a:rPr>
              <a:t>Spring</a:t>
            </a:r>
            <a:r>
              <a:rPr dirty="0" sz="1300" spc="405">
                <a:latin typeface="Calibri"/>
                <a:cs typeface="Calibri"/>
              </a:rPr>
              <a:t>    </a:t>
            </a:r>
            <a:r>
              <a:rPr dirty="0" sz="1300">
                <a:latin typeface="Calibri"/>
                <a:cs typeface="Calibri"/>
              </a:rPr>
              <a:t>Data</a:t>
            </a:r>
            <a:r>
              <a:rPr dirty="0" sz="1300" spc="405">
                <a:latin typeface="Calibri"/>
                <a:cs typeface="Calibri"/>
              </a:rPr>
              <a:t>    </a:t>
            </a:r>
            <a:r>
              <a:rPr dirty="0" sz="1300" spc="-20">
                <a:latin typeface="Calibri"/>
                <a:cs typeface="Calibri"/>
              </a:rPr>
              <a:t>repository </a:t>
            </a:r>
            <a:r>
              <a:rPr dirty="0" sz="1300">
                <a:latin typeface="Calibri"/>
                <a:cs typeface="Calibri"/>
              </a:rPr>
              <a:t>interfaces.</a:t>
            </a:r>
            <a:r>
              <a:rPr dirty="0" sz="1300" spc="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These</a:t>
            </a:r>
            <a:r>
              <a:rPr dirty="0" sz="1300" spc="5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interfaces</a:t>
            </a:r>
            <a:r>
              <a:rPr dirty="0" sz="1300" spc="60">
                <a:latin typeface="Calibri"/>
                <a:cs typeface="Calibri"/>
              </a:rPr>
              <a:t> </a:t>
            </a:r>
            <a:r>
              <a:rPr dirty="0" sz="1300" spc="-25">
                <a:latin typeface="Calibri"/>
                <a:cs typeface="Calibri"/>
              </a:rPr>
              <a:t>are </a:t>
            </a:r>
            <a:r>
              <a:rPr dirty="0" sz="1300">
                <a:latin typeface="Calibri"/>
                <a:cs typeface="Calibri"/>
              </a:rPr>
              <a:t>described</a:t>
            </a:r>
            <a:r>
              <a:rPr dirty="0" sz="1300" spc="-4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in</a:t>
            </a:r>
            <a:r>
              <a:rPr dirty="0" sz="1300" spc="-3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the</a:t>
            </a:r>
            <a:r>
              <a:rPr dirty="0" sz="1300" spc="-20">
                <a:latin typeface="Calibri"/>
                <a:cs typeface="Calibri"/>
              </a:rPr>
              <a:t> </a:t>
            </a:r>
            <a:r>
              <a:rPr dirty="0" sz="1300" spc="-10">
                <a:latin typeface="Calibri"/>
                <a:cs typeface="Calibri"/>
              </a:rPr>
              <a:t>following: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11887" y="-12192"/>
            <a:ext cx="4596130" cy="3452495"/>
            <a:chOff x="-11887" y="-12192"/>
            <a:chExt cx="4596130" cy="345249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5203" y="752855"/>
              <a:ext cx="1659636" cy="219151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Spring</a:t>
            </a:r>
            <a:r>
              <a:rPr dirty="0" spc="-60"/>
              <a:t> </a:t>
            </a:r>
            <a:r>
              <a:rPr dirty="0"/>
              <a:t>Data</a:t>
            </a:r>
            <a:r>
              <a:rPr dirty="0" spc="-50"/>
              <a:t> </a:t>
            </a:r>
            <a:r>
              <a:rPr dirty="0" spc="-10"/>
              <a:t>Repositories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02995"/>
            <a:ext cx="3878579" cy="2340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0" indent="-114300">
              <a:lnSpc>
                <a:spcPts val="1225"/>
              </a:lnSpc>
              <a:spcBef>
                <a:spcPts val="10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200">
                <a:latin typeface="Calibri"/>
                <a:cs typeface="Calibri"/>
              </a:rPr>
              <a:t>Spring</a:t>
            </a:r>
            <a:r>
              <a:rPr dirty="0" sz="1200" spc="3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3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Commons</a:t>
            </a:r>
            <a:r>
              <a:rPr dirty="0" sz="1200" spc="3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3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3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following</a:t>
            </a:r>
            <a:r>
              <a:rPr dirty="0" sz="1200" spc="3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repository</a:t>
            </a:r>
            <a:endParaRPr sz="1200">
              <a:latin typeface="Calibri"/>
              <a:cs typeface="Calibri"/>
            </a:endParaRPr>
          </a:p>
          <a:p>
            <a:pPr marL="127000">
              <a:lnSpc>
                <a:spcPts val="1170"/>
              </a:lnSpc>
            </a:pPr>
            <a:r>
              <a:rPr dirty="0" sz="1200" spc="-10">
                <a:latin typeface="Calibri"/>
                <a:cs typeface="Calibri"/>
              </a:rPr>
              <a:t>interfaces:</a:t>
            </a:r>
            <a:endParaRPr sz="1200">
              <a:latin typeface="Calibri"/>
              <a:cs typeface="Calibri"/>
            </a:endParaRPr>
          </a:p>
          <a:p>
            <a:pPr lvl="1" marL="354330" marR="6985" indent="-113030">
              <a:lnSpc>
                <a:spcPct val="70000"/>
              </a:lnSpc>
              <a:spcBef>
                <a:spcPts val="3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000">
                <a:latin typeface="Calibri"/>
                <a:cs typeface="Calibri"/>
              </a:rPr>
              <a:t>Repository</a:t>
            </a:r>
            <a:r>
              <a:rPr dirty="0" sz="1000" spc="229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—</a:t>
            </a:r>
            <a:r>
              <a:rPr dirty="0" sz="1000" spc="229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Central</a:t>
            </a:r>
            <a:r>
              <a:rPr dirty="0" sz="1000" spc="229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repository</a:t>
            </a:r>
            <a:r>
              <a:rPr dirty="0" sz="1000" spc="2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marker</a:t>
            </a:r>
            <a:r>
              <a:rPr dirty="0" sz="1000" spc="229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interface.</a:t>
            </a:r>
            <a:r>
              <a:rPr dirty="0" sz="1000" spc="2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Captures</a:t>
            </a:r>
            <a:r>
              <a:rPr dirty="0" sz="1000" spc="22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the</a:t>
            </a:r>
            <a:r>
              <a:rPr dirty="0" sz="1000">
                <a:latin typeface="Calibri"/>
                <a:cs typeface="Calibri"/>
              </a:rPr>
              <a:t> 	domain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type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ID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type.</a:t>
            </a:r>
            <a:endParaRPr sz="1000">
              <a:latin typeface="Calibri"/>
              <a:cs typeface="Calibri"/>
            </a:endParaRPr>
          </a:p>
          <a:p>
            <a:pPr lvl="1" marL="354330" marR="6350" indent="-113030">
              <a:lnSpc>
                <a:spcPct val="70000"/>
              </a:lnSpc>
              <a:spcBef>
                <a:spcPts val="25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000">
                <a:latin typeface="Calibri"/>
                <a:cs typeface="Calibri"/>
              </a:rPr>
              <a:t>CrudRepository</a:t>
            </a:r>
            <a:r>
              <a:rPr dirty="0" sz="1000" spc="2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—</a:t>
            </a:r>
            <a:r>
              <a:rPr dirty="0" sz="1000" spc="2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Interface</a:t>
            </a:r>
            <a:r>
              <a:rPr dirty="0" sz="1000" spc="29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for</a:t>
            </a:r>
            <a:r>
              <a:rPr dirty="0" sz="1000" spc="2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generic</a:t>
            </a:r>
            <a:r>
              <a:rPr dirty="0" sz="1000" spc="2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CRUD</a:t>
            </a:r>
            <a:r>
              <a:rPr dirty="0" sz="1000" spc="2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operations</a:t>
            </a:r>
            <a:r>
              <a:rPr dirty="0" sz="1000" spc="29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290">
                <a:latin typeface="Calibri"/>
                <a:cs typeface="Calibri"/>
              </a:rPr>
              <a:t> </a:t>
            </a:r>
            <a:r>
              <a:rPr dirty="0" sz="1000" spc="-50">
                <a:latin typeface="Calibri"/>
                <a:cs typeface="Calibri"/>
              </a:rPr>
              <a:t>a</a:t>
            </a:r>
            <a:r>
              <a:rPr dirty="0" sz="1000">
                <a:latin typeface="Calibri"/>
                <a:cs typeface="Calibri"/>
              </a:rPr>
              <a:t> 	repository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for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specific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type.</a:t>
            </a:r>
            <a:endParaRPr sz="1000">
              <a:latin typeface="Calibri"/>
              <a:cs typeface="Calibri"/>
            </a:endParaRPr>
          </a:p>
          <a:p>
            <a:pPr lvl="1" marL="354330" indent="-113030">
              <a:lnSpc>
                <a:spcPts val="910"/>
              </a:lnSpc>
              <a:buFont typeface="Arial"/>
              <a:buChar char="•"/>
              <a:tabLst>
                <a:tab pos="354330" algn="l"/>
              </a:tabLst>
            </a:pPr>
            <a:r>
              <a:rPr dirty="0" sz="1000">
                <a:latin typeface="Calibri"/>
                <a:cs typeface="Calibri"/>
              </a:rPr>
              <a:t>PagingAndSortingRepository</a:t>
            </a:r>
            <a:r>
              <a:rPr dirty="0" sz="1000" spc="38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—</a:t>
            </a:r>
            <a:r>
              <a:rPr dirty="0" sz="1000" spc="3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Extension</a:t>
            </a:r>
            <a:r>
              <a:rPr dirty="0" sz="1000" spc="37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3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CrudRepository</a:t>
            </a:r>
            <a:r>
              <a:rPr dirty="0" sz="1000" spc="37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to</a:t>
            </a:r>
            <a:endParaRPr sz="1000">
              <a:latin typeface="Calibri"/>
              <a:cs typeface="Calibri"/>
            </a:endParaRPr>
          </a:p>
          <a:p>
            <a:pPr marL="355600" marR="7620">
              <a:lnSpc>
                <a:spcPct val="70000"/>
              </a:lnSpc>
              <a:spcBef>
                <a:spcPts val="180"/>
              </a:spcBef>
            </a:pPr>
            <a:r>
              <a:rPr dirty="0" sz="1000">
                <a:latin typeface="Calibri"/>
                <a:cs typeface="Calibri"/>
              </a:rPr>
              <a:t>provide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additional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methods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retrieve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entities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using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pagination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sorting</a:t>
            </a:r>
            <a:r>
              <a:rPr dirty="0" sz="1000" spc="-10">
                <a:latin typeface="Calibri"/>
                <a:cs typeface="Calibri"/>
              </a:rPr>
              <a:t> abstraction.</a:t>
            </a:r>
            <a:endParaRPr sz="1000">
              <a:latin typeface="Calibri"/>
              <a:cs typeface="Calibri"/>
            </a:endParaRPr>
          </a:p>
          <a:p>
            <a:pPr lvl="1" marL="354330" marR="5080" indent="-113030">
              <a:lnSpc>
                <a:spcPct val="70000"/>
              </a:lnSpc>
              <a:spcBef>
                <a:spcPts val="25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000" i="1">
                <a:latin typeface="Calibri"/>
                <a:cs typeface="Calibri"/>
              </a:rPr>
              <a:t>QuerydslPredicateExecutor</a:t>
            </a:r>
            <a:r>
              <a:rPr dirty="0" sz="1000" spc="47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—</a:t>
            </a:r>
            <a:r>
              <a:rPr dirty="0" sz="1000" spc="47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Interface</a:t>
            </a:r>
            <a:r>
              <a:rPr dirty="0" sz="1000" spc="484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to</a:t>
            </a:r>
            <a:r>
              <a:rPr dirty="0" sz="1000" spc="48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allow</a:t>
            </a:r>
            <a:r>
              <a:rPr dirty="0" sz="1000" spc="47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execution</a:t>
            </a:r>
            <a:r>
              <a:rPr dirty="0" sz="1000" spc="484" i="1">
                <a:latin typeface="Calibri"/>
                <a:cs typeface="Calibri"/>
              </a:rPr>
              <a:t> </a:t>
            </a:r>
            <a:r>
              <a:rPr dirty="0" sz="1000" spc="-25" i="1">
                <a:latin typeface="Calibri"/>
                <a:cs typeface="Calibri"/>
              </a:rPr>
              <a:t>of</a:t>
            </a:r>
            <a:r>
              <a:rPr dirty="0" sz="100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	</a:t>
            </a:r>
            <a:r>
              <a:rPr dirty="0" u="sng" sz="1000" i="1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QueryDSL</a:t>
            </a:r>
            <a:r>
              <a:rPr dirty="0" sz="1000" spc="-20" i="1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Predicate</a:t>
            </a:r>
            <a:r>
              <a:rPr dirty="0" sz="1000" spc="-10" i="1">
                <a:latin typeface="Calibri"/>
                <a:cs typeface="Calibri"/>
              </a:rPr>
              <a:t> instances.</a:t>
            </a:r>
            <a:r>
              <a:rPr dirty="0" sz="1000" spc="-2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It</a:t>
            </a:r>
            <a:r>
              <a:rPr dirty="0" sz="1000" spc="-1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is</a:t>
            </a:r>
            <a:r>
              <a:rPr dirty="0" sz="1000" spc="-2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not</a:t>
            </a:r>
            <a:r>
              <a:rPr dirty="0" sz="1000" spc="-3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a</a:t>
            </a:r>
            <a:r>
              <a:rPr dirty="0" sz="1000" spc="-1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repository</a:t>
            </a:r>
            <a:r>
              <a:rPr dirty="0" sz="1000" spc="-5" i="1">
                <a:latin typeface="Calibri"/>
                <a:cs typeface="Calibri"/>
              </a:rPr>
              <a:t> </a:t>
            </a:r>
            <a:r>
              <a:rPr dirty="0" sz="1000" spc="-10" i="1">
                <a:latin typeface="Calibri"/>
                <a:cs typeface="Calibri"/>
              </a:rPr>
              <a:t>interface.</a:t>
            </a:r>
            <a:endParaRPr sz="1000">
              <a:latin typeface="Calibri"/>
              <a:cs typeface="Calibri"/>
            </a:endParaRPr>
          </a:p>
          <a:p>
            <a:pPr marL="127000" marR="5715" indent="-114935">
              <a:lnSpc>
                <a:spcPct val="70000"/>
              </a:lnSpc>
              <a:spcBef>
                <a:spcPts val="50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200">
                <a:latin typeface="Calibri"/>
                <a:cs typeface="Calibri"/>
              </a:rPr>
              <a:t>Spring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JPA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following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additional </a:t>
            </a:r>
            <a:r>
              <a:rPr dirty="0" sz="1200" spc="-10">
                <a:latin typeface="Calibri"/>
                <a:cs typeface="Calibri"/>
              </a:rPr>
              <a:t>repository interfaces:</a:t>
            </a:r>
            <a:endParaRPr sz="1200">
              <a:latin typeface="Calibri"/>
              <a:cs typeface="Calibri"/>
            </a:endParaRPr>
          </a:p>
          <a:p>
            <a:pPr lvl="1" marL="354330" indent="-113030">
              <a:lnSpc>
                <a:spcPts val="910"/>
              </a:lnSpc>
              <a:buFont typeface="Arial"/>
              <a:buChar char="•"/>
              <a:tabLst>
                <a:tab pos="354330" algn="l"/>
              </a:tabLst>
            </a:pPr>
            <a:r>
              <a:rPr dirty="0" sz="1000">
                <a:latin typeface="Calibri"/>
                <a:cs typeface="Calibri"/>
              </a:rPr>
              <a:t>JpaRepository</a:t>
            </a:r>
            <a:r>
              <a:rPr dirty="0" sz="1000" spc="114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—</a:t>
            </a:r>
            <a:r>
              <a:rPr dirty="0" sz="1000" spc="114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JPA</a:t>
            </a:r>
            <a:r>
              <a:rPr dirty="0" sz="1000" spc="1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specific</a:t>
            </a:r>
            <a:r>
              <a:rPr dirty="0" sz="1000" spc="1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extension</a:t>
            </a:r>
            <a:r>
              <a:rPr dirty="0" sz="1000" spc="114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Repository</a:t>
            </a:r>
            <a:r>
              <a:rPr dirty="0" sz="1000" spc="1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interface.</a:t>
            </a:r>
            <a:r>
              <a:rPr dirty="0" sz="1000" spc="10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It</a:t>
            </a:r>
            <a:endParaRPr sz="1000">
              <a:latin typeface="Calibri"/>
              <a:cs typeface="Calibri"/>
            </a:endParaRPr>
          </a:p>
          <a:p>
            <a:pPr marL="355600" marR="6985">
              <a:lnSpc>
                <a:spcPct val="70000"/>
              </a:lnSpc>
              <a:spcBef>
                <a:spcPts val="180"/>
              </a:spcBef>
            </a:pPr>
            <a:r>
              <a:rPr dirty="0" sz="1000">
                <a:latin typeface="Calibri"/>
                <a:cs typeface="Calibri"/>
              </a:rPr>
              <a:t>combines</a:t>
            </a:r>
            <a:r>
              <a:rPr dirty="0" sz="1000" spc="3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all</a:t>
            </a:r>
            <a:r>
              <a:rPr dirty="0" sz="1000" spc="3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methods</a:t>
            </a:r>
            <a:r>
              <a:rPr dirty="0" sz="1000" spc="3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declared</a:t>
            </a:r>
            <a:r>
              <a:rPr dirty="0" sz="1000" spc="3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by</a:t>
            </a:r>
            <a:r>
              <a:rPr dirty="0" sz="1000" spc="3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3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Spring</a:t>
            </a:r>
            <a:r>
              <a:rPr dirty="0" sz="1000" spc="3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Data</a:t>
            </a:r>
            <a:r>
              <a:rPr dirty="0" sz="1000" spc="35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Commons </a:t>
            </a:r>
            <a:r>
              <a:rPr dirty="0" sz="1000">
                <a:latin typeface="Calibri"/>
                <a:cs typeface="Calibri"/>
              </a:rPr>
              <a:t>repository</a:t>
            </a:r>
            <a:r>
              <a:rPr dirty="0" sz="1000" spc="-10">
                <a:latin typeface="Calibri"/>
                <a:cs typeface="Calibri"/>
              </a:rPr>
              <a:t> interfaces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behind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single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interface.</a:t>
            </a:r>
            <a:endParaRPr sz="1000">
              <a:latin typeface="Calibri"/>
              <a:cs typeface="Calibri"/>
            </a:endParaRPr>
          </a:p>
          <a:p>
            <a:pPr lvl="1" marL="353695" indent="-112395">
              <a:lnSpc>
                <a:spcPts val="915"/>
              </a:lnSpc>
              <a:buFont typeface="Arial"/>
              <a:buChar char="•"/>
              <a:tabLst>
                <a:tab pos="353695" algn="l"/>
              </a:tabLst>
            </a:pPr>
            <a:r>
              <a:rPr dirty="0" sz="1000" spc="-10" i="1">
                <a:latin typeface="Calibri"/>
                <a:cs typeface="Calibri"/>
              </a:rPr>
              <a:t>JpaSpecificationExecutor</a:t>
            </a:r>
            <a:r>
              <a:rPr dirty="0" sz="1000" spc="6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—</a:t>
            </a:r>
            <a:r>
              <a:rPr dirty="0" sz="1000" spc="5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It</a:t>
            </a:r>
            <a:r>
              <a:rPr dirty="0" sz="1000" spc="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is</a:t>
            </a:r>
            <a:r>
              <a:rPr dirty="0" sz="1000" spc="5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not</a:t>
            </a:r>
            <a:r>
              <a:rPr dirty="0" sz="1000" spc="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a</a:t>
            </a:r>
            <a:r>
              <a:rPr dirty="0" sz="1000" spc="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repository</a:t>
            </a:r>
            <a:r>
              <a:rPr dirty="0" sz="1000" spc="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interface.</a:t>
            </a:r>
            <a:r>
              <a:rPr dirty="0" sz="1000" spc="6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It</a:t>
            </a:r>
            <a:r>
              <a:rPr dirty="0" sz="1000" spc="60" i="1">
                <a:latin typeface="Calibri"/>
                <a:cs typeface="Calibri"/>
              </a:rPr>
              <a:t> </a:t>
            </a:r>
            <a:r>
              <a:rPr dirty="0" sz="1000" spc="-10" i="1">
                <a:latin typeface="Calibri"/>
                <a:cs typeface="Calibri"/>
              </a:rPr>
              <a:t>allows</a:t>
            </a:r>
            <a:endParaRPr sz="1000">
              <a:latin typeface="Calibri"/>
              <a:cs typeface="Calibri"/>
            </a:endParaRPr>
          </a:p>
          <a:p>
            <a:pPr marL="355600">
              <a:lnSpc>
                <a:spcPts val="1019"/>
              </a:lnSpc>
            </a:pPr>
            <a:r>
              <a:rPr dirty="0" sz="1000" i="1">
                <a:latin typeface="Calibri"/>
                <a:cs typeface="Calibri"/>
              </a:rPr>
              <a:t>the</a:t>
            </a:r>
            <a:r>
              <a:rPr dirty="0" sz="1000" spc="-25" i="1">
                <a:latin typeface="Calibri"/>
                <a:cs typeface="Calibri"/>
              </a:rPr>
              <a:t> </a:t>
            </a:r>
            <a:r>
              <a:rPr dirty="0" sz="1000" spc="-10" i="1">
                <a:latin typeface="Calibri"/>
                <a:cs typeface="Calibri"/>
              </a:rPr>
              <a:t>execution</a:t>
            </a:r>
            <a:r>
              <a:rPr dirty="0" sz="1000" spc="-2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of</a:t>
            </a:r>
            <a:r>
              <a:rPr dirty="0" sz="1000" spc="-2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Specifications</a:t>
            </a:r>
            <a:r>
              <a:rPr dirty="0" sz="1000" spc="-1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based</a:t>
            </a:r>
            <a:r>
              <a:rPr dirty="0" sz="1000" spc="-3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on</a:t>
            </a:r>
            <a:r>
              <a:rPr dirty="0" sz="1000" spc="-10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the</a:t>
            </a:r>
            <a:r>
              <a:rPr dirty="0" sz="1000" spc="-25" i="1">
                <a:latin typeface="Calibri"/>
                <a:cs typeface="Calibri"/>
              </a:rPr>
              <a:t> </a:t>
            </a:r>
            <a:r>
              <a:rPr dirty="0" sz="1000" spc="-20" i="1">
                <a:latin typeface="Calibri"/>
                <a:cs typeface="Calibri"/>
              </a:rPr>
              <a:t>JPA</a:t>
            </a:r>
            <a:r>
              <a:rPr dirty="0" sz="1000" spc="-15" i="1">
                <a:latin typeface="Calibri"/>
                <a:cs typeface="Calibri"/>
              </a:rPr>
              <a:t> </a:t>
            </a:r>
            <a:r>
              <a:rPr dirty="0" sz="1000" i="1">
                <a:latin typeface="Calibri"/>
                <a:cs typeface="Calibri"/>
              </a:rPr>
              <a:t>criteria </a:t>
            </a:r>
            <a:r>
              <a:rPr dirty="0" sz="1000" spc="-20" i="1">
                <a:latin typeface="Calibri"/>
                <a:cs typeface="Calibri"/>
              </a:rPr>
              <a:t>API.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16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/>
              <a:t>Setting</a:t>
            </a:r>
            <a:r>
              <a:rPr dirty="0" sz="2000" spc="-60"/>
              <a:t> </a:t>
            </a:r>
            <a:r>
              <a:rPr dirty="0" sz="2000"/>
              <a:t>up</a:t>
            </a:r>
            <a:r>
              <a:rPr dirty="0" sz="2000" spc="-45"/>
              <a:t> </a:t>
            </a:r>
            <a:r>
              <a:rPr dirty="0" sz="2000"/>
              <a:t>your</a:t>
            </a:r>
            <a:r>
              <a:rPr dirty="0" sz="2000" spc="-45"/>
              <a:t> </a:t>
            </a:r>
            <a:r>
              <a:rPr dirty="0" sz="2000"/>
              <a:t>project</a:t>
            </a:r>
            <a:r>
              <a:rPr dirty="0" sz="2000" spc="-55"/>
              <a:t> </a:t>
            </a:r>
            <a:r>
              <a:rPr dirty="0" sz="2000" spc="-10"/>
              <a:t>components</a:t>
            </a:r>
            <a:endParaRPr sz="200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3020" rIns="0" bIns="0" rtlCol="0" vert="horz">
            <a:spAutoFit/>
          </a:bodyPr>
          <a:lstStyle/>
          <a:p>
            <a:pPr algn="just" marL="127000" marR="5080" indent="-114935">
              <a:lnSpc>
                <a:spcPts val="1300"/>
              </a:lnSpc>
              <a:spcBef>
                <a:spcPts val="26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200"/>
              <a:t>The</a:t>
            </a:r>
            <a:r>
              <a:rPr dirty="0" sz="1200" spc="250"/>
              <a:t>   </a:t>
            </a:r>
            <a:r>
              <a:rPr dirty="0" sz="1200"/>
              <a:t>JDBC</a:t>
            </a:r>
            <a:r>
              <a:rPr dirty="0" sz="1200" spc="245"/>
              <a:t>   </a:t>
            </a:r>
            <a:r>
              <a:rPr dirty="0" sz="1200"/>
              <a:t>driver</a:t>
            </a:r>
            <a:r>
              <a:rPr dirty="0" sz="1200" spc="250"/>
              <a:t>   </a:t>
            </a:r>
            <a:r>
              <a:rPr dirty="0" sz="1200"/>
              <a:t>provides</a:t>
            </a:r>
            <a:r>
              <a:rPr dirty="0" sz="1200" spc="250"/>
              <a:t>   </a:t>
            </a:r>
            <a:r>
              <a:rPr dirty="0" sz="1200"/>
              <a:t>a</a:t>
            </a:r>
            <a:r>
              <a:rPr dirty="0" sz="1200" spc="250"/>
              <a:t>   </a:t>
            </a:r>
            <a:r>
              <a:rPr dirty="0" sz="1200"/>
              <a:t>database</a:t>
            </a:r>
            <a:r>
              <a:rPr dirty="0" sz="1200" spc="254"/>
              <a:t>   </a:t>
            </a:r>
            <a:r>
              <a:rPr dirty="0" sz="1200" spc="-10"/>
              <a:t>specific </a:t>
            </a:r>
            <a:r>
              <a:rPr dirty="0" sz="1200"/>
              <a:t>implementation</a:t>
            </a:r>
            <a:r>
              <a:rPr dirty="0" sz="1200" spc="240"/>
              <a:t> </a:t>
            </a:r>
            <a:r>
              <a:rPr dirty="0" sz="1200"/>
              <a:t>of</a:t>
            </a:r>
            <a:r>
              <a:rPr dirty="0" sz="1200" spc="225"/>
              <a:t> </a:t>
            </a:r>
            <a:r>
              <a:rPr dirty="0" sz="1200"/>
              <a:t>the</a:t>
            </a:r>
            <a:r>
              <a:rPr dirty="0" sz="1200" spc="215"/>
              <a:t> </a:t>
            </a:r>
            <a:r>
              <a:rPr dirty="0" sz="1200"/>
              <a:t>JDBC</a:t>
            </a:r>
            <a:r>
              <a:rPr dirty="0" sz="1200" spc="240"/>
              <a:t> </a:t>
            </a:r>
            <a:r>
              <a:rPr dirty="0" sz="1200"/>
              <a:t>API.</a:t>
            </a:r>
            <a:r>
              <a:rPr dirty="0" sz="1200" spc="235"/>
              <a:t> </a:t>
            </a:r>
            <a:r>
              <a:rPr dirty="0" sz="1200"/>
              <a:t>(MS</a:t>
            </a:r>
            <a:r>
              <a:rPr dirty="0" sz="1200" spc="235"/>
              <a:t> </a:t>
            </a:r>
            <a:r>
              <a:rPr dirty="0" sz="1200"/>
              <a:t>SQLServer,</a:t>
            </a:r>
            <a:r>
              <a:rPr dirty="0" sz="1200" spc="240"/>
              <a:t> </a:t>
            </a:r>
            <a:r>
              <a:rPr dirty="0" sz="1200" spc="-10"/>
              <a:t>MySQL, MariaDB,…)</a:t>
            </a:r>
            <a:endParaRPr sz="1200"/>
          </a:p>
          <a:p>
            <a:pPr algn="just" marL="127000" indent="-1143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200"/>
              <a:t>The</a:t>
            </a:r>
            <a:r>
              <a:rPr dirty="0" sz="1200" spc="-30"/>
              <a:t> </a:t>
            </a:r>
            <a:r>
              <a:rPr dirty="0" sz="1200" spc="-25"/>
              <a:t>JPA</a:t>
            </a:r>
            <a:r>
              <a:rPr dirty="0" sz="1200" spc="-40"/>
              <a:t> </a:t>
            </a:r>
            <a:r>
              <a:rPr dirty="0" sz="1200"/>
              <a:t>Provider</a:t>
            </a:r>
            <a:r>
              <a:rPr dirty="0" sz="1200" spc="-35"/>
              <a:t> </a:t>
            </a:r>
            <a:r>
              <a:rPr dirty="0" sz="1200"/>
              <a:t>implements</a:t>
            </a:r>
            <a:r>
              <a:rPr dirty="0" sz="1200" spc="-40"/>
              <a:t> </a:t>
            </a:r>
            <a:r>
              <a:rPr dirty="0" sz="1200"/>
              <a:t>the</a:t>
            </a:r>
            <a:r>
              <a:rPr dirty="0" sz="1200" spc="-40"/>
              <a:t> </a:t>
            </a:r>
            <a:r>
              <a:rPr dirty="0" sz="1200"/>
              <a:t>Java</a:t>
            </a:r>
            <a:r>
              <a:rPr dirty="0" sz="1200" spc="-30"/>
              <a:t> </a:t>
            </a:r>
            <a:r>
              <a:rPr dirty="0" sz="1200" spc="-10"/>
              <a:t>Persistence</a:t>
            </a:r>
            <a:r>
              <a:rPr dirty="0" sz="1200" spc="-35"/>
              <a:t> </a:t>
            </a:r>
            <a:r>
              <a:rPr dirty="0" sz="1200" spc="-20"/>
              <a:t>API.</a:t>
            </a:r>
            <a:endParaRPr sz="1200"/>
          </a:p>
          <a:p>
            <a:pPr lvl="1" marL="354330" indent="-11303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354330" algn="l"/>
              </a:tabLst>
            </a:pPr>
            <a:r>
              <a:rPr dirty="0" sz="1000">
                <a:latin typeface="Calibri"/>
                <a:cs typeface="Calibri"/>
              </a:rPr>
              <a:t>Hibernate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(default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JPA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implementation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provider)</a:t>
            </a:r>
            <a:endParaRPr sz="1000">
              <a:latin typeface="Calibri"/>
              <a:cs typeface="Calibri"/>
            </a:endParaRPr>
          </a:p>
          <a:p>
            <a:pPr lvl="1" marL="354330" indent="-113030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354330" algn="l"/>
              </a:tabLst>
            </a:pPr>
            <a:r>
              <a:rPr dirty="0" sz="1000">
                <a:latin typeface="Calibri"/>
                <a:cs typeface="Calibri"/>
              </a:rPr>
              <a:t>EclipseLink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(you</a:t>
            </a:r>
            <a:r>
              <a:rPr dirty="0" sz="1000" spc="-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need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config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yourself)</a:t>
            </a:r>
            <a:endParaRPr sz="1000">
              <a:latin typeface="Calibri"/>
              <a:cs typeface="Calibri"/>
            </a:endParaRPr>
          </a:p>
          <a:p>
            <a:pPr marL="127000" marR="5080" indent="-114935">
              <a:lnSpc>
                <a:spcPts val="1300"/>
              </a:lnSpc>
              <a:spcBef>
                <a:spcPts val="509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200"/>
              <a:t>Spring</a:t>
            </a:r>
            <a:r>
              <a:rPr dirty="0" sz="1200" spc="305"/>
              <a:t> </a:t>
            </a:r>
            <a:r>
              <a:rPr dirty="0" sz="1200"/>
              <a:t>Data</a:t>
            </a:r>
            <a:r>
              <a:rPr dirty="0" sz="1200" spc="330"/>
              <a:t> </a:t>
            </a:r>
            <a:r>
              <a:rPr dirty="0" sz="1200"/>
              <a:t>JPA</a:t>
            </a:r>
            <a:r>
              <a:rPr dirty="0" sz="1200" spc="305"/>
              <a:t> </a:t>
            </a:r>
            <a:r>
              <a:rPr dirty="0" sz="1200"/>
              <a:t>hides</a:t>
            </a:r>
            <a:r>
              <a:rPr dirty="0" sz="1200" spc="300"/>
              <a:t> </a:t>
            </a:r>
            <a:r>
              <a:rPr dirty="0" sz="1200"/>
              <a:t>the</a:t>
            </a:r>
            <a:r>
              <a:rPr dirty="0" sz="1200" spc="315"/>
              <a:t> </a:t>
            </a:r>
            <a:r>
              <a:rPr dirty="0" sz="1200"/>
              <a:t>used</a:t>
            </a:r>
            <a:r>
              <a:rPr dirty="0" sz="1200" spc="330"/>
              <a:t> </a:t>
            </a:r>
            <a:r>
              <a:rPr dirty="0" sz="1200"/>
              <a:t>JPA</a:t>
            </a:r>
            <a:r>
              <a:rPr dirty="0" sz="1200" spc="305"/>
              <a:t> </a:t>
            </a:r>
            <a:r>
              <a:rPr dirty="0" sz="1200"/>
              <a:t>provider</a:t>
            </a:r>
            <a:r>
              <a:rPr dirty="0" sz="1200" spc="315"/>
              <a:t> </a:t>
            </a:r>
            <a:r>
              <a:rPr dirty="0" sz="1200"/>
              <a:t>behind</a:t>
            </a:r>
            <a:r>
              <a:rPr dirty="0" sz="1200" spc="330"/>
              <a:t> </a:t>
            </a:r>
            <a:r>
              <a:rPr dirty="0" sz="1200" spc="-25"/>
              <a:t>its </a:t>
            </a:r>
            <a:r>
              <a:rPr dirty="0" sz="1200"/>
              <a:t>repository</a:t>
            </a:r>
            <a:r>
              <a:rPr dirty="0" sz="1200" spc="-50"/>
              <a:t> </a:t>
            </a:r>
            <a:r>
              <a:rPr dirty="0" sz="1200" spc="-10"/>
              <a:t>abstraction.</a:t>
            </a:r>
            <a:endParaRPr sz="1200"/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17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11887" y="-12192"/>
            <a:ext cx="4596130" cy="3452495"/>
            <a:chOff x="-11887" y="-12192"/>
            <a:chExt cx="4596130" cy="345249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5883" y="2310383"/>
              <a:ext cx="3515856" cy="94030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93471" y="2308034"/>
              <a:ext cx="3529965" cy="945515"/>
            </a:xfrm>
            <a:custGeom>
              <a:avLst/>
              <a:gdLst/>
              <a:ahLst/>
              <a:cxnLst/>
              <a:rect l="l" t="t" r="r" b="b"/>
              <a:pathLst>
                <a:path w="3529965" h="945514">
                  <a:moveTo>
                    <a:pt x="0" y="945070"/>
                  </a:moveTo>
                  <a:lnTo>
                    <a:pt x="3529710" y="945070"/>
                  </a:lnTo>
                  <a:lnTo>
                    <a:pt x="3529710" y="0"/>
                  </a:lnTo>
                  <a:lnTo>
                    <a:pt x="0" y="0"/>
                  </a:lnTo>
                  <a:lnTo>
                    <a:pt x="0" y="945070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Configure</a:t>
            </a:r>
            <a:r>
              <a:rPr dirty="0" spc="-65"/>
              <a:t> </a:t>
            </a:r>
            <a:r>
              <a:rPr dirty="0"/>
              <a:t>the</a:t>
            </a:r>
            <a:r>
              <a:rPr dirty="0" spc="-90"/>
              <a:t> </a:t>
            </a:r>
            <a:r>
              <a:rPr dirty="0" spc="-10"/>
              <a:t>DataSource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37025" y="3239566"/>
            <a:ext cx="76200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0"/>
              </a:lnSpc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18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0140" y="2273807"/>
              <a:ext cx="3137916" cy="111556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117726" y="2271420"/>
              <a:ext cx="3142615" cy="1120775"/>
            </a:xfrm>
            <a:custGeom>
              <a:avLst/>
              <a:gdLst/>
              <a:ahLst/>
              <a:cxnLst/>
              <a:rect l="l" t="t" r="r" b="b"/>
              <a:pathLst>
                <a:path w="3142615" h="1120775">
                  <a:moveTo>
                    <a:pt x="0" y="1120330"/>
                  </a:moveTo>
                  <a:lnTo>
                    <a:pt x="3142615" y="1120330"/>
                  </a:lnTo>
                  <a:lnTo>
                    <a:pt x="3142615" y="0"/>
                  </a:lnTo>
                  <a:lnTo>
                    <a:pt x="0" y="0"/>
                  </a:lnTo>
                  <a:lnTo>
                    <a:pt x="0" y="1120330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308" y="547176"/>
              <a:ext cx="4174211" cy="1686982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39319" y="521842"/>
              <a:ext cx="4201795" cy="1724025"/>
            </a:xfrm>
            <a:custGeom>
              <a:avLst/>
              <a:gdLst/>
              <a:ahLst/>
              <a:cxnLst/>
              <a:rect l="l" t="t" r="r" b="b"/>
              <a:pathLst>
                <a:path w="4201795" h="1724025">
                  <a:moveTo>
                    <a:pt x="0" y="1723898"/>
                  </a:moveTo>
                  <a:lnTo>
                    <a:pt x="4201795" y="1723898"/>
                  </a:lnTo>
                  <a:lnTo>
                    <a:pt x="4201795" y="0"/>
                  </a:lnTo>
                  <a:lnTo>
                    <a:pt x="0" y="0"/>
                  </a:lnTo>
                  <a:lnTo>
                    <a:pt x="0" y="1723898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6700" y="2461259"/>
              <a:ext cx="547115" cy="39014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Entities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583533"/>
            <a:ext cx="3567429" cy="2091689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@Entity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entity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@Table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if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you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want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customize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your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table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Should</a:t>
            </a:r>
            <a:r>
              <a:rPr dirty="0" sz="1400" spc="-10">
                <a:latin typeface="Calibri"/>
                <a:cs typeface="Calibri"/>
              </a:rPr>
              <a:t> have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@Id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primary-</a:t>
            </a:r>
            <a:r>
              <a:rPr dirty="0" sz="1400" spc="-20">
                <a:latin typeface="Calibri"/>
                <a:cs typeface="Calibri"/>
              </a:rPr>
              <a:t>key.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@Column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customize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column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other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annotation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if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needed</a:t>
            </a:r>
            <a:endParaRPr sz="14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10">
                <a:latin typeface="Calibri"/>
                <a:cs typeface="Calibri"/>
              </a:rPr>
              <a:t>@OnetoMany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10">
                <a:latin typeface="Calibri"/>
                <a:cs typeface="Calibri"/>
              </a:rPr>
              <a:t>@ManytoOne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1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10">
                <a:latin typeface="Calibri"/>
                <a:cs typeface="Calibri"/>
              </a:rPr>
              <a:t>@OneToOne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50">
                <a:latin typeface="Calibri"/>
                <a:cs typeface="Calibri"/>
              </a:rPr>
              <a:t>…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19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19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366391" y="441705"/>
            <a:ext cx="2154555" cy="1669414"/>
            <a:chOff x="2366391" y="441705"/>
            <a:chExt cx="2154555" cy="1669414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4252" y="529055"/>
              <a:ext cx="2089286" cy="149458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2368931" y="444245"/>
              <a:ext cx="2149475" cy="1664335"/>
            </a:xfrm>
            <a:custGeom>
              <a:avLst/>
              <a:gdLst/>
              <a:ahLst/>
              <a:cxnLst/>
              <a:rect l="l" t="t" r="r" b="b"/>
              <a:pathLst>
                <a:path w="2149475" h="1664335">
                  <a:moveTo>
                    <a:pt x="0" y="1664335"/>
                  </a:moveTo>
                  <a:lnTo>
                    <a:pt x="2148967" y="1664335"/>
                  </a:lnTo>
                  <a:lnTo>
                    <a:pt x="2148967" y="0"/>
                  </a:lnTo>
                  <a:lnTo>
                    <a:pt x="0" y="0"/>
                  </a:lnTo>
                  <a:lnTo>
                    <a:pt x="0" y="1664335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Entity</a:t>
            </a:r>
            <a:r>
              <a:rPr dirty="0" spc="-30"/>
              <a:t> </a:t>
            </a:r>
            <a:r>
              <a:rPr dirty="0" spc="-10"/>
              <a:t>sample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20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7150" y="552449"/>
            <a:ext cx="2283460" cy="1554480"/>
          </a:xfrm>
          <a:custGeom>
            <a:avLst/>
            <a:gdLst/>
            <a:ahLst/>
            <a:cxnLst/>
            <a:rect l="l" t="t" r="r" b="b"/>
            <a:pathLst>
              <a:path w="2283460" h="1554480">
                <a:moveTo>
                  <a:pt x="0" y="1554479"/>
                </a:moveTo>
                <a:lnTo>
                  <a:pt x="2282952" y="1554479"/>
                </a:lnTo>
                <a:lnTo>
                  <a:pt x="2282952" y="0"/>
                </a:lnTo>
                <a:lnTo>
                  <a:pt x="0" y="0"/>
                </a:lnTo>
                <a:lnTo>
                  <a:pt x="0" y="1554479"/>
                </a:lnTo>
                <a:close/>
              </a:path>
            </a:pathLst>
          </a:custGeom>
          <a:ln w="4762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9531" y="557910"/>
            <a:ext cx="2292985" cy="1518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95"/>
              </a:spcBef>
            </a:pPr>
            <a:r>
              <a:rPr dirty="0" sz="700" spc="-10">
                <a:solidFill>
                  <a:srgbClr val="9E870D"/>
                </a:solidFill>
                <a:latin typeface="Calibri"/>
                <a:cs typeface="Calibri"/>
              </a:rPr>
              <a:t>@Entity</a:t>
            </a:r>
            <a:endParaRPr sz="700">
              <a:latin typeface="Calibri"/>
              <a:cs typeface="Calibri"/>
            </a:endParaRPr>
          </a:p>
          <a:p>
            <a:pPr marL="121920" marR="1323340" indent="-80010">
              <a:lnSpc>
                <a:spcPct val="100000"/>
              </a:lnSpc>
            </a:pPr>
            <a:r>
              <a:rPr dirty="0" sz="700">
                <a:solidFill>
                  <a:srgbClr val="0033B3"/>
                </a:solidFill>
                <a:latin typeface="Calibri"/>
                <a:cs typeface="Calibri"/>
              </a:rPr>
              <a:t>public</a:t>
            </a:r>
            <a:r>
              <a:rPr dirty="0" sz="700" spc="1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0033B3"/>
                </a:solidFill>
                <a:latin typeface="Calibri"/>
                <a:cs typeface="Calibri"/>
              </a:rPr>
              <a:t>class</a:t>
            </a:r>
            <a:r>
              <a:rPr dirty="0" sz="700" spc="-2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Department</a:t>
            </a:r>
            <a:r>
              <a:rPr dirty="0" sz="700" spc="20">
                <a:latin typeface="Calibri"/>
                <a:cs typeface="Calibri"/>
              </a:rPr>
              <a:t> </a:t>
            </a:r>
            <a:r>
              <a:rPr dirty="0" sz="700" spc="-50">
                <a:solidFill>
                  <a:srgbClr val="080808"/>
                </a:solidFill>
                <a:latin typeface="Calibri"/>
                <a:cs typeface="Calibri"/>
              </a:rPr>
              <a:t>{</a:t>
            </a:r>
            <a:r>
              <a:rPr dirty="0" sz="700" spc="5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 spc="-25">
                <a:solidFill>
                  <a:srgbClr val="9E870D"/>
                </a:solidFill>
                <a:latin typeface="Calibri"/>
                <a:cs typeface="Calibri"/>
              </a:rPr>
              <a:t>@Id</a:t>
            </a:r>
            <a:endParaRPr sz="700">
              <a:latin typeface="Calibri"/>
              <a:cs typeface="Calibri"/>
            </a:endParaRPr>
          </a:p>
          <a:p>
            <a:pPr marL="121920" marR="269875">
              <a:lnSpc>
                <a:spcPct val="100000"/>
              </a:lnSpc>
            </a:pPr>
            <a:r>
              <a:rPr dirty="0" sz="700" spc="-10">
                <a:solidFill>
                  <a:srgbClr val="9E870D"/>
                </a:solidFill>
                <a:latin typeface="Calibri"/>
                <a:cs typeface="Calibri"/>
              </a:rPr>
              <a:t>@GeneratedValue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(strategy</a:t>
            </a:r>
            <a:r>
              <a:rPr dirty="0" sz="700" spc="5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= </a:t>
            </a:r>
            <a:r>
              <a:rPr dirty="0" sz="700" spc="-10">
                <a:latin typeface="Calibri"/>
                <a:cs typeface="Calibri"/>
              </a:rPr>
              <a:t>GenerationType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.</a:t>
            </a:r>
            <a:r>
              <a:rPr dirty="0" sz="700" spc="-10" i="1">
                <a:solidFill>
                  <a:srgbClr val="860F93"/>
                </a:solidFill>
                <a:latin typeface="Calibri"/>
                <a:cs typeface="Calibri"/>
              </a:rPr>
              <a:t>AUTO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)</a:t>
            </a:r>
            <a:r>
              <a:rPr dirty="0" sz="700" spc="5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033B3"/>
                </a:solidFill>
                <a:latin typeface="Calibri"/>
                <a:cs typeface="Calibri"/>
              </a:rPr>
              <a:t>private</a:t>
            </a:r>
            <a:r>
              <a:rPr dirty="0" sz="700" spc="1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Long</a:t>
            </a:r>
            <a:r>
              <a:rPr dirty="0" sz="700" spc="-10"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860F93"/>
                </a:solidFill>
                <a:latin typeface="Calibri"/>
                <a:cs typeface="Calibri"/>
              </a:rPr>
              <a:t>deptId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;</a:t>
            </a:r>
            <a:endParaRPr sz="700">
              <a:latin typeface="Calibri"/>
              <a:cs typeface="Calibri"/>
            </a:endParaRPr>
          </a:p>
          <a:p>
            <a:pPr marL="121920" marR="187325">
              <a:lnSpc>
                <a:spcPct val="100000"/>
              </a:lnSpc>
              <a:spcBef>
                <a:spcPts val="840"/>
              </a:spcBef>
            </a:pPr>
            <a:r>
              <a:rPr dirty="0" sz="700" spc="-10">
                <a:solidFill>
                  <a:srgbClr val="9E870D"/>
                </a:solidFill>
                <a:latin typeface="Calibri"/>
                <a:cs typeface="Calibri"/>
              </a:rPr>
              <a:t>@Column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(unique</a:t>
            </a:r>
            <a:r>
              <a:rPr dirty="0" sz="700" spc="3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=</a:t>
            </a:r>
            <a:r>
              <a:rPr dirty="0" sz="700" spc="-1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0033B3"/>
                </a:solidFill>
                <a:latin typeface="Calibri"/>
                <a:cs typeface="Calibri"/>
              </a:rPr>
              <a:t>true</a:t>
            </a: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,</a:t>
            </a:r>
            <a:r>
              <a:rPr dirty="0" sz="700" spc="1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nullable</a:t>
            </a:r>
            <a:r>
              <a:rPr dirty="0" sz="700" spc="2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=</a:t>
            </a:r>
            <a:r>
              <a:rPr dirty="0" sz="700" spc="-1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0033B3"/>
                </a:solidFill>
                <a:latin typeface="Calibri"/>
                <a:cs typeface="Calibri"/>
              </a:rPr>
              <a:t>false</a:t>
            </a: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,</a:t>
            </a:r>
            <a:r>
              <a:rPr dirty="0" sz="700" spc="-2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length</a:t>
            </a:r>
            <a:r>
              <a:rPr dirty="0" sz="700" spc="2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=</a:t>
            </a:r>
            <a:r>
              <a:rPr dirty="0" sz="700" spc="-2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1750EB"/>
                </a:solidFill>
                <a:latin typeface="Calibri"/>
                <a:cs typeface="Calibri"/>
              </a:rPr>
              <a:t>150</a:t>
            </a:r>
            <a:r>
              <a:rPr dirty="0" sz="700" spc="-20">
                <a:solidFill>
                  <a:srgbClr val="080808"/>
                </a:solidFill>
                <a:latin typeface="Calibri"/>
                <a:cs typeface="Calibri"/>
              </a:rPr>
              <a:t>)</a:t>
            </a:r>
            <a:r>
              <a:rPr dirty="0" sz="700" spc="5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033B3"/>
                </a:solidFill>
                <a:latin typeface="Calibri"/>
                <a:cs typeface="Calibri"/>
              </a:rPr>
              <a:t>private</a:t>
            </a:r>
            <a:r>
              <a:rPr dirty="0" sz="700" spc="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700">
                <a:latin typeface="Calibri"/>
                <a:cs typeface="Calibri"/>
              </a:rPr>
              <a:t>String </a:t>
            </a:r>
            <a:r>
              <a:rPr dirty="0" sz="700" spc="-10">
                <a:solidFill>
                  <a:srgbClr val="860F93"/>
                </a:solidFill>
                <a:latin typeface="Calibri"/>
                <a:cs typeface="Calibri"/>
              </a:rPr>
              <a:t>deptName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;</a:t>
            </a:r>
            <a:endParaRPr sz="700">
              <a:latin typeface="Calibri"/>
              <a:cs typeface="Calibri"/>
            </a:endParaRPr>
          </a:p>
          <a:p>
            <a:pPr marL="121920">
              <a:lnSpc>
                <a:spcPct val="100000"/>
              </a:lnSpc>
              <a:spcBef>
                <a:spcPts val="840"/>
              </a:spcBef>
            </a:pPr>
            <a:r>
              <a:rPr dirty="0" sz="700" spc="-10">
                <a:solidFill>
                  <a:srgbClr val="9E870D"/>
                </a:solidFill>
                <a:latin typeface="Calibri"/>
                <a:cs typeface="Calibri"/>
              </a:rPr>
              <a:t>@OneToMany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(mappedBy</a:t>
            </a:r>
            <a:r>
              <a:rPr dirty="0" sz="700" spc="3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= </a:t>
            </a:r>
            <a:r>
              <a:rPr dirty="0" sz="700" spc="-10">
                <a:solidFill>
                  <a:srgbClr val="057C17"/>
                </a:solidFill>
                <a:latin typeface="Calibri"/>
                <a:cs typeface="Calibri"/>
              </a:rPr>
              <a:t>"dept"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,</a:t>
            </a:r>
            <a:endParaRPr sz="700">
              <a:latin typeface="Calibri"/>
              <a:cs typeface="Calibri"/>
            </a:endParaRPr>
          </a:p>
          <a:p>
            <a:pPr marL="121920" marR="67310" indent="149225">
              <a:lnSpc>
                <a:spcPct val="100000"/>
              </a:lnSpc>
            </a:pP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cascade </a:t>
            </a: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=</a:t>
            </a:r>
            <a:r>
              <a:rPr dirty="0" sz="700" spc="1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CascadeType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.</a:t>
            </a:r>
            <a:r>
              <a:rPr dirty="0" sz="700" spc="-10" i="1">
                <a:solidFill>
                  <a:srgbClr val="860F93"/>
                </a:solidFill>
                <a:latin typeface="Calibri"/>
                <a:cs typeface="Calibri"/>
              </a:rPr>
              <a:t>ALL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,</a:t>
            </a:r>
            <a:r>
              <a:rPr dirty="0" sz="700" spc="4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fetch</a:t>
            </a:r>
            <a:r>
              <a:rPr dirty="0" sz="700">
                <a:solidFill>
                  <a:srgbClr val="080808"/>
                </a:solidFill>
                <a:latin typeface="Calibri"/>
                <a:cs typeface="Calibri"/>
              </a:rPr>
              <a:t> =</a:t>
            </a:r>
            <a:r>
              <a:rPr dirty="0" sz="700" spc="2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FetchType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.</a:t>
            </a:r>
            <a:r>
              <a:rPr dirty="0" sz="700" spc="-10" i="1">
                <a:solidFill>
                  <a:srgbClr val="860F93"/>
                </a:solidFill>
                <a:latin typeface="Calibri"/>
                <a:cs typeface="Calibri"/>
              </a:rPr>
              <a:t>EAGER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)</a:t>
            </a:r>
            <a:r>
              <a:rPr dirty="0" sz="700" spc="5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0033B3"/>
                </a:solidFill>
                <a:latin typeface="Calibri"/>
                <a:cs typeface="Calibri"/>
              </a:rPr>
              <a:t>private</a:t>
            </a:r>
            <a:r>
              <a:rPr dirty="0" sz="700" spc="4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latin typeface="Calibri"/>
                <a:cs typeface="Calibri"/>
              </a:rPr>
              <a:t>Set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700" spc="-10">
                <a:latin typeface="Calibri"/>
                <a:cs typeface="Calibri"/>
              </a:rPr>
              <a:t>Employee</a:t>
            </a:r>
            <a:r>
              <a:rPr dirty="0" sz="700" spc="-10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r>
              <a:rPr dirty="0" sz="700" spc="4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860F93"/>
                </a:solidFill>
                <a:latin typeface="Calibri"/>
                <a:cs typeface="Calibri"/>
              </a:rPr>
              <a:t>employees</a:t>
            </a:r>
            <a:endParaRPr sz="700">
              <a:latin typeface="Calibri"/>
              <a:cs typeface="Calibri"/>
            </a:endParaRPr>
          </a:p>
          <a:p>
            <a:pPr marL="42545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Calibri"/>
                <a:cs typeface="Calibri"/>
              </a:rPr>
              <a:t>…</a:t>
            </a:r>
            <a:endParaRPr sz="700">
              <a:latin typeface="Calibri"/>
              <a:cs typeface="Calibri"/>
            </a:endParaRPr>
          </a:p>
          <a:p>
            <a:pPr marL="42545">
              <a:lnSpc>
                <a:spcPct val="100000"/>
              </a:lnSpc>
            </a:pPr>
            <a:r>
              <a:rPr dirty="0" sz="700" spc="-50">
                <a:solidFill>
                  <a:srgbClr val="080808"/>
                </a:solidFill>
                <a:latin typeface="Calibri"/>
                <a:cs typeface="Calibri"/>
              </a:rPr>
              <a:t>}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68630" y="2187701"/>
            <a:ext cx="3275329" cy="1153795"/>
          </a:xfrm>
          <a:prstGeom prst="rect">
            <a:avLst/>
          </a:prstGeom>
          <a:ln w="4762">
            <a:solidFill>
              <a:srgbClr val="4471C4"/>
            </a:solidFill>
          </a:ln>
        </p:spPr>
        <p:txBody>
          <a:bodyPr wrap="square" lIns="0" tIns="1587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solidFill>
                  <a:srgbClr val="9E870D"/>
                </a:solidFill>
                <a:latin typeface="Calibri"/>
                <a:cs typeface="Calibri"/>
              </a:rPr>
              <a:t>@Entity</a:t>
            </a:r>
            <a:endParaRPr sz="800">
              <a:latin typeface="Calibri"/>
              <a:cs typeface="Calibri"/>
            </a:endParaRPr>
          </a:p>
          <a:p>
            <a:pPr marL="44450">
              <a:lnSpc>
                <a:spcPct val="100000"/>
              </a:lnSpc>
            </a:pPr>
            <a:r>
              <a:rPr dirty="0" sz="800" spc="-10">
                <a:solidFill>
                  <a:srgbClr val="0033B3"/>
                </a:solidFill>
                <a:latin typeface="Calibri"/>
                <a:cs typeface="Calibri"/>
              </a:rPr>
              <a:t>public</a:t>
            </a:r>
            <a:r>
              <a:rPr dirty="0" sz="800">
                <a:solidFill>
                  <a:srgbClr val="0033B3"/>
                </a:solidFill>
                <a:latin typeface="Calibri"/>
                <a:cs typeface="Calibri"/>
              </a:rPr>
              <a:t> class </a:t>
            </a:r>
            <a:r>
              <a:rPr dirty="0" sz="800" spc="-10">
                <a:latin typeface="Calibri"/>
                <a:cs typeface="Calibri"/>
              </a:rPr>
              <a:t>Employee</a:t>
            </a:r>
            <a:r>
              <a:rPr dirty="0" sz="800"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080808"/>
                </a:solidFill>
                <a:latin typeface="Calibri"/>
                <a:cs typeface="Calibri"/>
              </a:rPr>
              <a:t>{</a:t>
            </a:r>
            <a:endParaRPr sz="800">
              <a:latin typeface="Calibri"/>
              <a:cs typeface="Calibri"/>
            </a:endParaRPr>
          </a:p>
          <a:p>
            <a:pPr marL="135890">
              <a:lnSpc>
                <a:spcPct val="100000"/>
              </a:lnSpc>
            </a:pPr>
            <a:r>
              <a:rPr dirty="0" sz="800">
                <a:solidFill>
                  <a:srgbClr val="9E870D"/>
                </a:solidFill>
                <a:latin typeface="Calibri"/>
                <a:cs typeface="Calibri"/>
              </a:rPr>
              <a:t>@Id</a:t>
            </a:r>
            <a:r>
              <a:rPr dirty="0" sz="800" spc="-30">
                <a:solidFill>
                  <a:srgbClr val="9E870D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9E870D"/>
                </a:solidFill>
                <a:latin typeface="Calibri"/>
                <a:cs typeface="Calibri"/>
              </a:rPr>
              <a:t>@GeneratedValue</a:t>
            </a: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(strategy</a:t>
            </a:r>
            <a:r>
              <a:rPr dirty="0" sz="800" spc="3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080808"/>
                </a:solidFill>
                <a:latin typeface="Calibri"/>
                <a:cs typeface="Calibri"/>
              </a:rPr>
              <a:t>=</a:t>
            </a: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GenerationType</a:t>
            </a: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.</a:t>
            </a:r>
            <a:r>
              <a:rPr dirty="0" sz="800" spc="-10" i="1">
                <a:solidFill>
                  <a:srgbClr val="860F93"/>
                </a:solidFill>
                <a:latin typeface="Calibri"/>
                <a:cs typeface="Calibri"/>
              </a:rPr>
              <a:t>AUTO</a:t>
            </a: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)</a:t>
            </a:r>
            <a:endParaRPr sz="800">
              <a:latin typeface="Calibri"/>
              <a:cs typeface="Calibri"/>
            </a:endParaRPr>
          </a:p>
          <a:p>
            <a:pPr marL="135890" marR="2095500">
              <a:lnSpc>
                <a:spcPct val="100000"/>
              </a:lnSpc>
            </a:pPr>
            <a:r>
              <a:rPr dirty="0" sz="800" spc="-10">
                <a:solidFill>
                  <a:srgbClr val="0033B3"/>
                </a:solidFill>
                <a:latin typeface="Calibri"/>
                <a:cs typeface="Calibri"/>
              </a:rPr>
              <a:t>private</a:t>
            </a:r>
            <a:r>
              <a:rPr dirty="0" sz="800" spc="-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Long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860F93"/>
                </a:solidFill>
                <a:latin typeface="Calibri"/>
                <a:cs typeface="Calibri"/>
              </a:rPr>
              <a:t>empId</a:t>
            </a: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;</a:t>
            </a:r>
            <a:r>
              <a:rPr dirty="0" sz="800" spc="5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033B3"/>
                </a:solidFill>
                <a:latin typeface="Calibri"/>
                <a:cs typeface="Calibri"/>
              </a:rPr>
              <a:t>private</a:t>
            </a:r>
            <a:r>
              <a:rPr dirty="0" sz="800" spc="1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String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860F93"/>
                </a:solidFill>
                <a:latin typeface="Calibri"/>
                <a:cs typeface="Calibri"/>
              </a:rPr>
              <a:t>empName</a:t>
            </a: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;</a:t>
            </a:r>
            <a:r>
              <a:rPr dirty="0" sz="800" spc="5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033B3"/>
                </a:solidFill>
                <a:latin typeface="Calibri"/>
                <a:cs typeface="Calibri"/>
              </a:rPr>
              <a:t>private</a:t>
            </a:r>
            <a:r>
              <a:rPr dirty="0" sz="80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Date </a:t>
            </a:r>
            <a:r>
              <a:rPr dirty="0" sz="800" spc="-20">
                <a:solidFill>
                  <a:srgbClr val="860F93"/>
                </a:solidFill>
                <a:latin typeface="Calibri"/>
                <a:cs typeface="Calibri"/>
              </a:rPr>
              <a:t>dob</a:t>
            </a:r>
            <a:r>
              <a:rPr dirty="0" sz="800" spc="-20">
                <a:solidFill>
                  <a:srgbClr val="080808"/>
                </a:solidFill>
                <a:latin typeface="Calibri"/>
                <a:cs typeface="Calibri"/>
              </a:rPr>
              <a:t>;</a:t>
            </a:r>
            <a:endParaRPr sz="800">
              <a:latin typeface="Calibri"/>
              <a:cs typeface="Calibri"/>
            </a:endParaRPr>
          </a:p>
          <a:p>
            <a:pPr marL="135890" marR="1529715">
              <a:lnSpc>
                <a:spcPct val="100000"/>
              </a:lnSpc>
            </a:pPr>
            <a:r>
              <a:rPr dirty="0" sz="800" spc="-10">
                <a:solidFill>
                  <a:srgbClr val="9E870D"/>
                </a:solidFill>
                <a:latin typeface="Calibri"/>
                <a:cs typeface="Calibri"/>
              </a:rPr>
              <a:t>@ManyToOne</a:t>
            </a: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(fetch </a:t>
            </a:r>
            <a:r>
              <a:rPr dirty="0" sz="800">
                <a:solidFill>
                  <a:srgbClr val="080808"/>
                </a:solidFill>
                <a:latin typeface="Calibri"/>
                <a:cs typeface="Calibri"/>
              </a:rPr>
              <a:t>=</a:t>
            </a:r>
            <a:r>
              <a:rPr dirty="0" sz="800" spc="-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FetchType</a:t>
            </a: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.</a:t>
            </a:r>
            <a:r>
              <a:rPr dirty="0" sz="800" spc="-10" i="1">
                <a:solidFill>
                  <a:srgbClr val="860F93"/>
                </a:solidFill>
                <a:latin typeface="Calibri"/>
                <a:cs typeface="Calibri"/>
              </a:rPr>
              <a:t>LAZY</a:t>
            </a:r>
            <a:r>
              <a:rPr dirty="0" sz="800" spc="-10">
                <a:solidFill>
                  <a:srgbClr val="080808"/>
                </a:solidFill>
                <a:latin typeface="Calibri"/>
                <a:cs typeface="Calibri"/>
              </a:rPr>
              <a:t>)</a:t>
            </a:r>
            <a:r>
              <a:rPr dirty="0" sz="800" spc="5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0033B3"/>
                </a:solidFill>
                <a:latin typeface="Calibri"/>
                <a:cs typeface="Calibri"/>
              </a:rPr>
              <a:t>private</a:t>
            </a:r>
            <a:r>
              <a:rPr dirty="0" sz="80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800">
                <a:latin typeface="Calibri"/>
                <a:cs typeface="Calibri"/>
              </a:rPr>
              <a:t>Department</a:t>
            </a:r>
            <a:r>
              <a:rPr dirty="0" sz="800" spc="-5"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860F93"/>
                </a:solidFill>
                <a:latin typeface="Calibri"/>
                <a:cs typeface="Calibri"/>
              </a:rPr>
              <a:t>dept</a:t>
            </a:r>
            <a:r>
              <a:rPr dirty="0" sz="800" spc="-20">
                <a:solidFill>
                  <a:srgbClr val="080808"/>
                </a:solidFill>
                <a:latin typeface="Calibri"/>
                <a:cs typeface="Calibri"/>
              </a:rPr>
              <a:t>;</a:t>
            </a:r>
            <a:endParaRPr sz="800">
              <a:latin typeface="Calibri"/>
              <a:cs typeface="Calibri"/>
            </a:endParaRPr>
          </a:p>
          <a:p>
            <a:pPr marL="273685">
              <a:lnSpc>
                <a:spcPct val="100000"/>
              </a:lnSpc>
            </a:pPr>
            <a:r>
              <a:rPr dirty="0" sz="800" spc="-50">
                <a:solidFill>
                  <a:srgbClr val="080808"/>
                </a:solidFill>
                <a:latin typeface="Calibri"/>
                <a:cs typeface="Calibri"/>
              </a:rPr>
              <a:t>…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Repositories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08456"/>
            <a:ext cx="3842385" cy="1940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 indent="-113664">
              <a:lnSpc>
                <a:spcPts val="1664"/>
              </a:lnSpc>
              <a:spcBef>
                <a:spcPts val="10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repository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for:</a:t>
            </a:r>
            <a:endParaRPr sz="1400">
              <a:latin typeface="Calibri"/>
              <a:cs typeface="Calibri"/>
            </a:endParaRPr>
          </a:p>
          <a:p>
            <a:pPr lvl="1" marL="355600" indent="-114300">
              <a:lnSpc>
                <a:spcPts val="141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200" spc="-10">
                <a:latin typeface="Calibri"/>
                <a:cs typeface="Calibri"/>
              </a:rPr>
              <a:t>Persist,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update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remove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entities.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ts val="1405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Find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entities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their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primary</a:t>
            </a:r>
            <a:r>
              <a:rPr dirty="0" sz="1200" spc="-20">
                <a:latin typeface="Calibri"/>
                <a:cs typeface="Calibri"/>
              </a:rPr>
              <a:t> keys.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ts val="14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Count,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get,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remove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entities.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ts val="14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Check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entity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exists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given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primary</a:t>
            </a:r>
            <a:r>
              <a:rPr dirty="0" sz="1200" spc="-20">
                <a:latin typeface="Calibri"/>
                <a:cs typeface="Calibri"/>
              </a:rPr>
              <a:t> key.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ts val="142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200" spc="-50">
                <a:latin typeface="Calibri"/>
                <a:cs typeface="Calibri"/>
              </a:rPr>
              <a:t>…</a:t>
            </a:r>
            <a:endParaRPr sz="1200">
              <a:latin typeface="Calibri"/>
              <a:cs typeface="Calibri"/>
            </a:endParaRPr>
          </a:p>
          <a:p>
            <a:pPr marL="125730" marR="5080" indent="-113664">
              <a:lnSpc>
                <a:spcPts val="1340"/>
              </a:lnSpc>
              <a:spcBef>
                <a:spcPts val="49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You</a:t>
            </a:r>
            <a:r>
              <a:rPr dirty="0" sz="1400" spc="229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do</a:t>
            </a:r>
            <a:r>
              <a:rPr dirty="0" sz="1400" spc="2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not</a:t>
            </a:r>
            <a:r>
              <a:rPr dirty="0" sz="1400" spc="2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need</a:t>
            </a:r>
            <a:r>
              <a:rPr dirty="0" sz="1400" spc="2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2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write</a:t>
            </a:r>
            <a:r>
              <a:rPr dirty="0" sz="1400" spc="2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2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boilerplate</a:t>
            </a:r>
            <a:r>
              <a:rPr dirty="0" sz="1400" spc="2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code</a:t>
            </a:r>
            <a:r>
              <a:rPr dirty="0" sz="1400" spc="22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for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CRUD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methods.</a:t>
            </a:r>
            <a:endParaRPr sz="1400">
              <a:latin typeface="Calibri"/>
              <a:cs typeface="Calibri"/>
            </a:endParaRPr>
          </a:p>
          <a:p>
            <a:pPr marL="125730" marR="5715" indent="-113664">
              <a:lnSpc>
                <a:spcPts val="1340"/>
              </a:lnSpc>
              <a:spcBef>
                <a:spcPts val="509"/>
              </a:spcBef>
              <a:buFont typeface="Arial"/>
              <a:buChar char="•"/>
              <a:tabLst>
                <a:tab pos="127000" algn="l"/>
                <a:tab pos="524510" algn="l"/>
                <a:tab pos="1148080" algn="l"/>
                <a:tab pos="1824989" algn="l"/>
                <a:tab pos="2544445" algn="l"/>
                <a:tab pos="3140710" algn="l"/>
              </a:tabLst>
            </a:pPr>
            <a:r>
              <a:rPr dirty="0" sz="1400" spc="-25">
                <a:latin typeface="Calibri"/>
                <a:cs typeface="Calibri"/>
              </a:rPr>
              <a:t>You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should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specific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pakages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20">
                <a:latin typeface="Calibri"/>
                <a:cs typeface="Calibri"/>
              </a:rPr>
              <a:t>where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container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finding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repositories.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62425" y="3207257"/>
            <a:ext cx="635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37025" y="3239007"/>
            <a:ext cx="38100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0"/>
              </a:lnSpc>
            </a:pPr>
            <a:r>
              <a:rPr dirty="0" sz="600" spc="-5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-11887" y="-12192"/>
            <a:ext cx="4596130" cy="3452495"/>
            <a:chOff x="-11887" y="-12192"/>
            <a:chExt cx="4596130" cy="345249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4715" y="2697479"/>
              <a:ext cx="3788664" cy="643127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92303" y="2695130"/>
              <a:ext cx="3793490" cy="648335"/>
            </a:xfrm>
            <a:custGeom>
              <a:avLst/>
              <a:gdLst/>
              <a:ahLst/>
              <a:cxnLst/>
              <a:rect l="l" t="t" r="r" b="b"/>
              <a:pathLst>
                <a:path w="3793490" h="648335">
                  <a:moveTo>
                    <a:pt x="0" y="647890"/>
                  </a:moveTo>
                  <a:lnTo>
                    <a:pt x="3793363" y="647890"/>
                  </a:lnTo>
                  <a:lnTo>
                    <a:pt x="3793363" y="0"/>
                  </a:lnTo>
                  <a:lnTo>
                    <a:pt x="0" y="0"/>
                  </a:lnTo>
                  <a:lnTo>
                    <a:pt x="0" y="647890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Repositories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45"/>
              <a:t> </a:t>
            </a:r>
            <a:r>
              <a:rPr dirty="0"/>
              <a:t>Query</a:t>
            </a:r>
            <a:r>
              <a:rPr dirty="0" spc="-30"/>
              <a:t> </a:t>
            </a:r>
            <a:r>
              <a:rPr dirty="0" spc="-10"/>
              <a:t>creation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08787"/>
            <a:ext cx="3878579" cy="156146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algn="just" marL="125730" marR="7620" indent="-113664">
              <a:lnSpc>
                <a:spcPts val="1340"/>
              </a:lnSpc>
              <a:spcBef>
                <a:spcPts val="434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 spc="-10">
                <a:latin typeface="Calibri"/>
                <a:cs typeface="Calibri"/>
              </a:rPr>
              <a:t>Auto-</a:t>
            </a:r>
            <a:r>
              <a:rPr dirty="0" sz="1400">
                <a:latin typeface="Calibri"/>
                <a:cs typeface="Calibri"/>
              </a:rPr>
              <a:t>Generated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Queries: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 JPA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</a:t>
            </a:r>
            <a:r>
              <a:rPr dirty="0" sz="1400" spc="-10">
                <a:latin typeface="Calibri"/>
                <a:cs typeface="Calibri"/>
              </a:rPr>
              <a:t> auto-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generate</a:t>
            </a:r>
            <a:r>
              <a:rPr dirty="0" sz="1400" spc="204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database</a:t>
            </a:r>
            <a:r>
              <a:rPr dirty="0" sz="1400" spc="20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queries</a:t>
            </a:r>
            <a:r>
              <a:rPr dirty="0" sz="1400" spc="204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based</a:t>
            </a:r>
            <a:r>
              <a:rPr dirty="0" sz="1400" spc="204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204">
                <a:latin typeface="Calibri"/>
                <a:cs typeface="Calibri"/>
              </a:rPr>
              <a:t>  </a:t>
            </a:r>
            <a:r>
              <a:rPr dirty="0" sz="1400" spc="-10">
                <a:latin typeface="Calibri"/>
                <a:cs typeface="Calibri"/>
              </a:rPr>
              <a:t>method 	names.</a:t>
            </a:r>
            <a:endParaRPr sz="1400">
              <a:latin typeface="Calibri"/>
              <a:cs typeface="Calibri"/>
            </a:endParaRPr>
          </a:p>
          <a:p>
            <a:pPr algn="just" marL="125730" marR="5080" indent="-113664">
              <a:lnSpc>
                <a:spcPts val="1340"/>
              </a:lnSpc>
              <a:spcBef>
                <a:spcPts val="51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 spc="-10">
                <a:latin typeface="Calibri"/>
                <a:cs typeface="Calibri"/>
              </a:rPr>
              <a:t>Auto-</a:t>
            </a:r>
            <a:r>
              <a:rPr dirty="0" sz="1400">
                <a:latin typeface="Calibri"/>
                <a:cs typeface="Calibri"/>
              </a:rPr>
              <a:t>generated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queries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may</a:t>
            </a:r>
            <a:r>
              <a:rPr dirty="0" sz="1400" spc="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not</a:t>
            </a:r>
            <a:r>
              <a:rPr dirty="0" sz="1400" spc="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</a:t>
            </a:r>
            <a:r>
              <a:rPr dirty="0" sz="1400" spc="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well-</a:t>
            </a:r>
            <a:r>
              <a:rPr dirty="0" sz="1400">
                <a:latin typeface="Calibri"/>
                <a:cs typeface="Calibri"/>
              </a:rPr>
              <a:t>suited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for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complex</a:t>
            </a:r>
            <a:r>
              <a:rPr dirty="0" sz="1400" spc="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</a:t>
            </a:r>
            <a:r>
              <a:rPr dirty="0" sz="1400" spc="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cases.</a:t>
            </a:r>
            <a:r>
              <a:rPr dirty="0" sz="1400" spc="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But</a:t>
            </a:r>
            <a:r>
              <a:rPr dirty="0" sz="1400" spc="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simple</a:t>
            </a:r>
            <a:r>
              <a:rPr dirty="0" sz="1400" spc="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scenarios,</a:t>
            </a:r>
            <a:r>
              <a:rPr dirty="0" sz="1400" spc="8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these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queries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valuable.</a:t>
            </a:r>
            <a:endParaRPr sz="1400">
              <a:latin typeface="Calibri"/>
              <a:cs typeface="Calibri"/>
            </a:endParaRPr>
          </a:p>
          <a:p>
            <a:pPr algn="just" marL="125730" marR="6985" indent="-113664">
              <a:lnSpc>
                <a:spcPct val="80000"/>
              </a:lnSpc>
              <a:spcBef>
                <a:spcPts val="51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 spc="-10">
                <a:latin typeface="Calibri"/>
                <a:cs typeface="Calibri"/>
              </a:rPr>
              <a:t>Parsing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query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method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names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 divided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subject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predicate.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967988" y="2651201"/>
            <a:ext cx="25590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latin typeface="Calibri"/>
                <a:cs typeface="Calibri"/>
              </a:rPr>
              <a:t>Like,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76452" y="2140965"/>
            <a:ext cx="3649979" cy="81026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0" marR="5080" indent="-114300">
              <a:lnSpc>
                <a:spcPts val="1150"/>
              </a:lnSpc>
              <a:spcBef>
                <a:spcPts val="38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6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first</a:t>
            </a:r>
            <a:r>
              <a:rPr dirty="0" sz="1200" spc="15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15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(</a:t>
            </a:r>
            <a:r>
              <a:rPr dirty="0" sz="1200">
                <a:solidFill>
                  <a:srgbClr val="FF0000"/>
                </a:solidFill>
                <a:latin typeface="Calibri"/>
                <a:cs typeface="Calibri"/>
              </a:rPr>
              <a:t>find…By…</a:t>
            </a:r>
            <a:r>
              <a:rPr dirty="0" sz="1200">
                <a:latin typeface="Calibri"/>
                <a:cs typeface="Calibri"/>
              </a:rPr>
              <a:t>,</a:t>
            </a:r>
            <a:r>
              <a:rPr dirty="0" sz="1200" spc="160">
                <a:latin typeface="Calibri"/>
                <a:cs typeface="Calibri"/>
              </a:rPr>
              <a:t>  </a:t>
            </a:r>
            <a:r>
              <a:rPr dirty="0" sz="1200">
                <a:solidFill>
                  <a:srgbClr val="FF0000"/>
                </a:solidFill>
                <a:latin typeface="Calibri"/>
                <a:cs typeface="Calibri"/>
              </a:rPr>
              <a:t>exists…By…</a:t>
            </a:r>
            <a:r>
              <a:rPr dirty="0" sz="1200">
                <a:latin typeface="Calibri"/>
                <a:cs typeface="Calibri"/>
              </a:rPr>
              <a:t>)</a:t>
            </a:r>
            <a:r>
              <a:rPr dirty="0" sz="1200" spc="15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defines</a:t>
            </a:r>
            <a:r>
              <a:rPr dirty="0" sz="1200" spc="160">
                <a:latin typeface="Calibri"/>
                <a:cs typeface="Calibri"/>
              </a:rPr>
              <a:t> 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>
                <a:latin typeface="Calibri"/>
                <a:cs typeface="Calibri"/>
              </a:rPr>
              <a:t>subject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query,</a:t>
            </a:r>
            <a:endParaRPr sz="1200">
              <a:latin typeface="Calibri"/>
              <a:cs typeface="Calibri"/>
            </a:endParaRPr>
          </a:p>
          <a:p>
            <a:pPr marL="127000" indent="-114300">
              <a:lnSpc>
                <a:spcPts val="1415"/>
              </a:lnSpc>
              <a:buFont typeface="Arial"/>
              <a:buChar char="•"/>
              <a:tabLst>
                <a:tab pos="127000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second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C55A11"/>
                </a:solidFill>
                <a:latin typeface="Calibri"/>
                <a:cs typeface="Calibri"/>
              </a:rPr>
              <a:t>predicate</a:t>
            </a:r>
            <a:endParaRPr sz="1200">
              <a:latin typeface="Calibri"/>
              <a:cs typeface="Calibri"/>
            </a:endParaRPr>
          </a:p>
          <a:p>
            <a:pPr lvl="1" marL="353695" indent="-112395">
              <a:lnSpc>
                <a:spcPts val="1080"/>
              </a:lnSpc>
              <a:spcBef>
                <a:spcPts val="20"/>
              </a:spcBef>
              <a:buFont typeface="Arial"/>
              <a:buChar char="•"/>
              <a:tabLst>
                <a:tab pos="353695" algn="l"/>
              </a:tabLst>
            </a:pPr>
            <a:r>
              <a:rPr dirty="0" sz="1000">
                <a:latin typeface="Calibri"/>
                <a:cs typeface="Calibri"/>
              </a:rPr>
              <a:t>Distinct,</a:t>
            </a:r>
            <a:r>
              <a:rPr dirty="0" sz="1000" spc="4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And,</a:t>
            </a:r>
            <a:r>
              <a:rPr dirty="0" sz="1000" spc="4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Or,</a:t>
            </a:r>
            <a:r>
              <a:rPr dirty="0" sz="1000" spc="4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Between,</a:t>
            </a:r>
            <a:r>
              <a:rPr dirty="0" sz="1000" spc="459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LessThan,</a:t>
            </a:r>
            <a:r>
              <a:rPr dirty="0" sz="1000" spc="45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GreaterThan,</a:t>
            </a:r>
            <a:endParaRPr sz="1000">
              <a:latin typeface="Calibri"/>
              <a:cs typeface="Calibri"/>
            </a:endParaRPr>
          </a:p>
          <a:p>
            <a:pPr marL="355600">
              <a:lnSpc>
                <a:spcPts val="1080"/>
              </a:lnSpc>
            </a:pPr>
            <a:r>
              <a:rPr dirty="0" sz="1000" spc="-10">
                <a:latin typeface="Calibri"/>
                <a:cs typeface="Calibri"/>
              </a:rPr>
              <a:t>IgnoreCase,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OrderBy</a:t>
            </a:r>
            <a:r>
              <a:rPr dirty="0" sz="1000">
                <a:latin typeface="Calibri"/>
                <a:cs typeface="Calibri"/>
              </a:rPr>
              <a:t> (with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Asc,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Desc)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22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Repositories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45"/>
              <a:t> </a:t>
            </a:r>
            <a:r>
              <a:rPr dirty="0"/>
              <a:t>Query</a:t>
            </a:r>
            <a:r>
              <a:rPr dirty="0" spc="-30"/>
              <a:t> </a:t>
            </a:r>
            <a:r>
              <a:rPr dirty="0" spc="-10"/>
              <a:t>creation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9949" y="967485"/>
            <a:ext cx="4472305" cy="2014220"/>
            <a:chOff x="49949" y="967485"/>
            <a:chExt cx="4472305" cy="201422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4" y="972311"/>
              <a:ext cx="4462272" cy="2004059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2489" y="970025"/>
              <a:ext cx="4467225" cy="2009139"/>
            </a:xfrm>
            <a:custGeom>
              <a:avLst/>
              <a:gdLst/>
              <a:ahLst/>
              <a:cxnLst/>
              <a:rect l="l" t="t" r="r" b="b"/>
              <a:pathLst>
                <a:path w="4467225" h="2009139">
                  <a:moveTo>
                    <a:pt x="0" y="2008759"/>
                  </a:moveTo>
                  <a:lnTo>
                    <a:pt x="4466971" y="2008759"/>
                  </a:lnTo>
                  <a:lnTo>
                    <a:pt x="4466971" y="0"/>
                  </a:lnTo>
                  <a:lnTo>
                    <a:pt x="0" y="0"/>
                  </a:lnTo>
                  <a:lnTo>
                    <a:pt x="0" y="2008759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47599" y="625220"/>
            <a:ext cx="7518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latin typeface="Calibri"/>
                <a:cs typeface="Calibri"/>
              </a:rPr>
              <a:t>Example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25095" y="3040760"/>
            <a:ext cx="4289425" cy="591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6535" marR="431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Calibri"/>
                <a:cs typeface="Calibri"/>
              </a:rPr>
              <a:t>More:</a:t>
            </a:r>
            <a:r>
              <a:rPr dirty="0" sz="900" spc="-30">
                <a:latin typeface="Calibri"/>
                <a:cs typeface="Calibri"/>
              </a:rPr>
              <a:t> </a:t>
            </a:r>
            <a:r>
              <a:rPr dirty="0" u="sng" sz="9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https://docs.spring.io/spring-</a:t>
            </a:r>
            <a:r>
              <a:rPr dirty="0" sz="900" spc="500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u="sng" sz="9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data/jpa/docs/current/reference/html/#repositories.query-methods.query-</a:t>
            </a:r>
            <a:r>
              <a:rPr dirty="0" u="sng" sz="90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creation</a:t>
            </a:r>
            <a:r>
              <a:rPr dirty="0" sz="900" spc="434">
                <a:solidFill>
                  <a:srgbClr val="0462C1"/>
                </a:solidFill>
                <a:latin typeface="Calibri"/>
                <a:cs typeface="Calibri"/>
              </a:rPr>
              <a:t> </a:t>
            </a:r>
            <a:r>
              <a:rPr dirty="0" baseline="4629" sz="900" spc="-37">
                <a:solidFill>
                  <a:srgbClr val="888888"/>
                </a:solidFill>
                <a:latin typeface="Calibri"/>
                <a:cs typeface="Calibri"/>
              </a:rPr>
              <a:t>23</a:t>
            </a:r>
            <a:endParaRPr baseline="4629" sz="900">
              <a:latin typeface="Calibri"/>
              <a:cs typeface="Calibri"/>
            </a:endParaRPr>
          </a:p>
          <a:p>
            <a:pPr marL="25400">
              <a:lnSpc>
                <a:spcPct val="100000"/>
              </a:lnSpc>
              <a:spcBef>
                <a:spcPts val="10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Queries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08177"/>
            <a:ext cx="2973070" cy="175133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20">
                <a:latin typeface="Calibri"/>
                <a:cs typeface="Calibri"/>
              </a:rPr>
              <a:t>JPQL</a:t>
            </a:r>
            <a:endParaRPr sz="14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default,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query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definition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JPQL.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80"/>
              </a:spcBef>
              <a:buFont typeface="Arial"/>
              <a:buChar char="•"/>
            </a:pPr>
            <a:endParaRPr sz="12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latin typeface="Calibri"/>
                <a:cs typeface="Calibri"/>
              </a:rPr>
              <a:t>Native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latin typeface="Calibri"/>
                <a:cs typeface="Calibri"/>
              </a:rPr>
              <a:t>Updatable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Queries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24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41934" y="1077150"/>
            <a:ext cx="4088129" cy="1024890"/>
            <a:chOff x="241934" y="1077150"/>
            <a:chExt cx="4088129" cy="102489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526" y="1082039"/>
              <a:ext cx="2611957" cy="31957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660526" y="1079690"/>
              <a:ext cx="2677795" cy="358775"/>
            </a:xfrm>
            <a:custGeom>
              <a:avLst/>
              <a:gdLst/>
              <a:ahLst/>
              <a:cxnLst/>
              <a:rect l="l" t="t" r="r" b="b"/>
              <a:pathLst>
                <a:path w="2677795" h="358775">
                  <a:moveTo>
                    <a:pt x="0" y="358330"/>
                  </a:moveTo>
                  <a:lnTo>
                    <a:pt x="2677795" y="358330"/>
                  </a:lnTo>
                  <a:lnTo>
                    <a:pt x="2677795" y="0"/>
                  </a:lnTo>
                  <a:lnTo>
                    <a:pt x="0" y="0"/>
                  </a:lnTo>
                  <a:lnTo>
                    <a:pt x="0" y="358330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196" y="1769363"/>
              <a:ext cx="4050761" cy="27228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44474" y="1767014"/>
              <a:ext cx="4083050" cy="332740"/>
            </a:xfrm>
            <a:custGeom>
              <a:avLst/>
              <a:gdLst/>
              <a:ahLst/>
              <a:cxnLst/>
              <a:rect l="l" t="t" r="r" b="b"/>
              <a:pathLst>
                <a:path w="4083050" h="332739">
                  <a:moveTo>
                    <a:pt x="0" y="332422"/>
                  </a:moveTo>
                  <a:lnTo>
                    <a:pt x="4082923" y="332422"/>
                  </a:lnTo>
                  <a:lnTo>
                    <a:pt x="4082923" y="0"/>
                  </a:lnTo>
                  <a:lnTo>
                    <a:pt x="0" y="0"/>
                  </a:lnTo>
                  <a:lnTo>
                    <a:pt x="0" y="332422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41198" y="2481833"/>
            <a:ext cx="3851275" cy="599440"/>
          </a:xfrm>
          <a:prstGeom prst="rect">
            <a:avLst/>
          </a:prstGeom>
          <a:ln w="4762">
            <a:solidFill>
              <a:srgbClr val="4471C4"/>
            </a:solidFill>
          </a:ln>
        </p:spPr>
        <p:txBody>
          <a:bodyPr wrap="square" lIns="0" tIns="14604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114"/>
              </a:spcBef>
            </a:pPr>
            <a:r>
              <a:rPr dirty="0" sz="900" spc="-10">
                <a:solidFill>
                  <a:srgbClr val="9E870D"/>
                </a:solidFill>
                <a:latin typeface="Calibri"/>
                <a:cs typeface="Calibri"/>
              </a:rPr>
              <a:t>@Modifying</a:t>
            </a:r>
            <a:endParaRPr sz="900">
              <a:latin typeface="Calibri"/>
              <a:cs typeface="Calibri"/>
            </a:endParaRPr>
          </a:p>
          <a:p>
            <a:pPr marL="45085" marR="415925">
              <a:lnSpc>
                <a:spcPct val="100000"/>
              </a:lnSpc>
            </a:pPr>
            <a:r>
              <a:rPr dirty="0" sz="900" spc="-10">
                <a:solidFill>
                  <a:srgbClr val="9E870D"/>
                </a:solidFill>
                <a:latin typeface="Calibri"/>
                <a:cs typeface="Calibri"/>
              </a:rPr>
              <a:t>@Query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"update</a:t>
            </a:r>
            <a:r>
              <a:rPr dirty="0" sz="900" spc="4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Employee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 u</a:t>
            </a:r>
            <a:r>
              <a:rPr dirty="0" sz="900" spc="-1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set</a:t>
            </a:r>
            <a:r>
              <a:rPr dirty="0" sz="900" spc="1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u.status</a:t>
            </a:r>
            <a:r>
              <a:rPr dirty="0" sz="900" spc="1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=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 :status</a:t>
            </a:r>
            <a:r>
              <a:rPr dirty="0" sz="900" spc="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where</a:t>
            </a:r>
            <a:r>
              <a:rPr dirty="0" sz="900" spc="1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u.empId</a:t>
            </a:r>
            <a:r>
              <a:rPr dirty="0" sz="900" spc="1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=</a:t>
            </a:r>
            <a:r>
              <a:rPr dirty="0" sz="900" spc="-1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:id"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)</a:t>
            </a:r>
            <a:r>
              <a:rPr dirty="0" sz="900" spc="5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33B3"/>
                </a:solidFill>
                <a:latin typeface="Calibri"/>
                <a:cs typeface="Calibri"/>
              </a:rPr>
              <a:t>int</a:t>
            </a:r>
            <a:r>
              <a:rPr dirty="0" sz="900" spc="1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06179"/>
                </a:solidFill>
                <a:latin typeface="Calibri"/>
                <a:cs typeface="Calibri"/>
              </a:rPr>
              <a:t>updateEmployeeStatusForName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900" spc="-10">
                <a:solidFill>
                  <a:srgbClr val="9E870D"/>
                </a:solidFill>
                <a:latin typeface="Calibri"/>
                <a:cs typeface="Calibri"/>
              </a:rPr>
              <a:t>@Param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"status"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)</a:t>
            </a:r>
            <a:r>
              <a:rPr dirty="0" sz="900" spc="8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Integer</a:t>
            </a:r>
            <a:r>
              <a:rPr dirty="0" sz="900" spc="25"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status,</a:t>
            </a:r>
            <a:endParaRPr sz="900">
              <a:latin typeface="Calibri"/>
              <a:cs typeface="Calibri"/>
            </a:endParaRPr>
          </a:p>
          <a:p>
            <a:pPr marL="857885">
              <a:lnSpc>
                <a:spcPct val="100000"/>
              </a:lnSpc>
            </a:pPr>
            <a:r>
              <a:rPr dirty="0" sz="900" spc="-10">
                <a:solidFill>
                  <a:srgbClr val="9E870D"/>
                </a:solidFill>
                <a:latin typeface="Calibri"/>
                <a:cs typeface="Calibri"/>
              </a:rPr>
              <a:t>@Param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"id"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)</a:t>
            </a:r>
            <a:r>
              <a:rPr dirty="0" sz="900" spc="2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Long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empId);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Query</a:t>
            </a:r>
            <a:r>
              <a:rPr dirty="0" spc="-55"/>
              <a:t> </a:t>
            </a:r>
            <a:r>
              <a:rPr dirty="0" spc="-20"/>
              <a:t>Parameters</a:t>
            </a:r>
            <a:r>
              <a:rPr dirty="0" spc="-25"/>
              <a:t> (1)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26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7599" y="608102"/>
            <a:ext cx="4147820" cy="198945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latin typeface="Calibri"/>
                <a:cs typeface="Calibri"/>
              </a:rPr>
              <a:t>Indexed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Query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Parameters</a:t>
            </a:r>
            <a:endParaRPr sz="1400">
              <a:latin typeface="Calibri"/>
              <a:cs typeface="Calibri"/>
            </a:endParaRPr>
          </a:p>
          <a:p>
            <a:pPr algn="just" lvl="1" marL="355600" marR="274320" indent="-114300">
              <a:lnSpc>
                <a:spcPts val="1300"/>
              </a:lnSpc>
              <a:spcBef>
                <a:spcPts val="28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Spring Data will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pass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parameters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query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in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order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appear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declaration</a:t>
            </a:r>
            <a:endParaRPr sz="1200">
              <a:latin typeface="Calibri"/>
              <a:cs typeface="Calibri"/>
            </a:endParaRPr>
          </a:p>
          <a:p>
            <a:pPr marL="292100" marR="1024890">
              <a:lnSpc>
                <a:spcPct val="100000"/>
              </a:lnSpc>
              <a:spcBef>
                <a:spcPts val="320"/>
              </a:spcBef>
            </a:pPr>
            <a:r>
              <a:rPr dirty="0" sz="900" spc="-10">
                <a:solidFill>
                  <a:srgbClr val="9E870D"/>
                </a:solidFill>
                <a:latin typeface="Calibri"/>
                <a:cs typeface="Calibri"/>
              </a:rPr>
              <a:t>@Query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"SELECT</a:t>
            </a:r>
            <a:r>
              <a:rPr dirty="0" sz="900" spc="2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e FROM 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Employee</a:t>
            </a:r>
            <a:r>
              <a:rPr dirty="0" sz="900" spc="1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e</a:t>
            </a:r>
            <a:r>
              <a:rPr dirty="0" sz="900" spc="-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WHERE</a:t>
            </a:r>
            <a:r>
              <a:rPr dirty="0" sz="900" spc="1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e.status</a:t>
            </a:r>
            <a:r>
              <a:rPr dirty="0" sz="900" spc="1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=</a:t>
            </a:r>
            <a:r>
              <a:rPr dirty="0" sz="900" spc="1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057C17"/>
                </a:solidFill>
                <a:latin typeface="Calibri"/>
                <a:cs typeface="Calibri"/>
              </a:rPr>
              <a:t>?1"</a:t>
            </a:r>
            <a:r>
              <a:rPr dirty="0" sz="900" spc="-20">
                <a:solidFill>
                  <a:srgbClr val="080808"/>
                </a:solidFill>
                <a:latin typeface="Calibri"/>
                <a:cs typeface="Calibri"/>
              </a:rPr>
              <a:t>)</a:t>
            </a:r>
            <a:r>
              <a:rPr dirty="0" sz="900" spc="5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List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900" spc="-10">
                <a:latin typeface="Calibri"/>
                <a:cs typeface="Calibri"/>
              </a:rPr>
              <a:t>Employee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r>
              <a:rPr dirty="0" sz="900" spc="2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06179"/>
                </a:solidFill>
                <a:latin typeface="Calibri"/>
                <a:cs typeface="Calibri"/>
              </a:rPr>
              <a:t>findEmployeeByStatus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900" spc="-10">
                <a:latin typeface="Calibri"/>
                <a:cs typeface="Calibri"/>
              </a:rPr>
              <a:t>Integer</a:t>
            </a:r>
            <a:r>
              <a:rPr dirty="0" sz="900" spc="60"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status);</a:t>
            </a:r>
            <a:endParaRPr sz="900">
              <a:latin typeface="Calibri"/>
              <a:cs typeface="Calibri"/>
            </a:endParaRPr>
          </a:p>
          <a:p>
            <a:pPr marL="292100" marR="5080">
              <a:lnSpc>
                <a:spcPct val="100000"/>
              </a:lnSpc>
            </a:pPr>
            <a:r>
              <a:rPr dirty="0" sz="900" spc="-10">
                <a:solidFill>
                  <a:srgbClr val="9E870D"/>
                </a:solidFill>
                <a:latin typeface="Calibri"/>
                <a:cs typeface="Calibri"/>
              </a:rPr>
              <a:t>@Query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"SELECT</a:t>
            </a:r>
            <a:r>
              <a:rPr dirty="0" sz="900" spc="2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e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FROM</a:t>
            </a:r>
            <a:r>
              <a:rPr dirty="0" sz="900" spc="-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Employee</a:t>
            </a:r>
            <a:r>
              <a:rPr dirty="0" sz="900" spc="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e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WHERE 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e.status</a:t>
            </a:r>
            <a:r>
              <a:rPr dirty="0" sz="900" spc="1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= ?1</a:t>
            </a:r>
            <a:r>
              <a:rPr dirty="0" sz="900" spc="-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and</a:t>
            </a:r>
            <a:r>
              <a:rPr dirty="0" sz="900" spc="2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e.empName</a:t>
            </a:r>
            <a:r>
              <a:rPr dirty="0" sz="900" spc="15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57C17"/>
                </a:solidFill>
                <a:latin typeface="Calibri"/>
                <a:cs typeface="Calibri"/>
              </a:rPr>
              <a:t>=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057C17"/>
                </a:solidFill>
                <a:latin typeface="Calibri"/>
                <a:cs typeface="Calibri"/>
              </a:rPr>
              <a:t>?2"</a:t>
            </a:r>
            <a:r>
              <a:rPr dirty="0" sz="900" spc="-20">
                <a:solidFill>
                  <a:srgbClr val="080808"/>
                </a:solidFill>
                <a:latin typeface="Calibri"/>
                <a:cs typeface="Calibri"/>
              </a:rPr>
              <a:t>)</a:t>
            </a:r>
            <a:r>
              <a:rPr dirty="0" sz="900" spc="5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List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900" spc="-10">
                <a:latin typeface="Calibri"/>
                <a:cs typeface="Calibri"/>
              </a:rPr>
              <a:t>Employee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r>
              <a:rPr dirty="0" sz="900" spc="2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06179"/>
                </a:solidFill>
                <a:latin typeface="Calibri"/>
                <a:cs typeface="Calibri"/>
              </a:rPr>
              <a:t>findEmployeeByStatusAndName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900" spc="-10">
                <a:latin typeface="Calibri"/>
                <a:cs typeface="Calibri"/>
              </a:rPr>
              <a:t>Integer</a:t>
            </a:r>
            <a:r>
              <a:rPr dirty="0" sz="900" spc="60"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status,</a:t>
            </a:r>
            <a:r>
              <a:rPr dirty="0" sz="900" spc="2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String</a:t>
            </a:r>
            <a:r>
              <a:rPr dirty="0" sz="900" spc="20"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name);</a:t>
            </a:r>
            <a:endParaRPr sz="9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Named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Parameters</a:t>
            </a:r>
            <a:endParaRPr sz="1400">
              <a:latin typeface="Calibri"/>
              <a:cs typeface="Calibri"/>
            </a:endParaRPr>
          </a:p>
          <a:p>
            <a:pPr algn="just" lvl="1" marL="355600" marR="273050" indent="-114300">
              <a:lnSpc>
                <a:spcPts val="1300"/>
              </a:lnSpc>
              <a:spcBef>
                <a:spcPts val="28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1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parameter</a:t>
            </a:r>
            <a:r>
              <a:rPr dirty="0" sz="1200" spc="1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annotated</a:t>
            </a:r>
            <a:r>
              <a:rPr dirty="0" sz="1200" spc="1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175"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4471C4"/>
                </a:solidFill>
                <a:latin typeface="Calibri"/>
                <a:cs typeface="Calibri"/>
              </a:rPr>
              <a:t>@Param</a:t>
            </a:r>
            <a:r>
              <a:rPr dirty="0" sz="1200" spc="165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must</a:t>
            </a:r>
            <a:r>
              <a:rPr dirty="0" sz="1200" spc="1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18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value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string</a:t>
            </a:r>
            <a:r>
              <a:rPr dirty="0" sz="1200" spc="2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matching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corresponding</a:t>
            </a:r>
            <a:r>
              <a:rPr dirty="0" sz="1200" spc="2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JPQL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254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SQL </a:t>
            </a:r>
            <a:r>
              <a:rPr dirty="0" sz="1200">
                <a:latin typeface="Calibri"/>
                <a:cs typeface="Calibri"/>
              </a:rPr>
              <a:t>query </a:t>
            </a:r>
            <a:r>
              <a:rPr dirty="0" sz="1200" spc="-10">
                <a:latin typeface="Calibri"/>
                <a:cs typeface="Calibri"/>
              </a:rPr>
              <a:t>parameter</a:t>
            </a:r>
            <a:r>
              <a:rPr dirty="0" sz="120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name.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11887" y="-12192"/>
            <a:ext cx="4596130" cy="3452495"/>
            <a:chOff x="-11887" y="-12192"/>
            <a:chExt cx="4596130" cy="345249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0144" y="2639579"/>
              <a:ext cx="3971526" cy="57301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Query</a:t>
            </a:r>
            <a:r>
              <a:rPr dirty="0" spc="-55"/>
              <a:t> </a:t>
            </a:r>
            <a:r>
              <a:rPr dirty="0" spc="-20"/>
              <a:t>Parameters</a:t>
            </a:r>
            <a:r>
              <a:rPr dirty="0" spc="-25"/>
              <a:t> (2)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08177"/>
            <a:ext cx="3879850" cy="61976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latin typeface="Calibri"/>
                <a:cs typeface="Calibri"/>
              </a:rPr>
              <a:t>Collection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Parameter</a:t>
            </a:r>
            <a:endParaRPr sz="1400">
              <a:latin typeface="Calibri"/>
              <a:cs typeface="Calibri"/>
            </a:endParaRPr>
          </a:p>
          <a:p>
            <a:pPr lvl="1" marL="355600" marR="5080" indent="-114300">
              <a:lnSpc>
                <a:spcPts val="1300"/>
              </a:lnSpc>
              <a:spcBef>
                <a:spcPts val="28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case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clause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our</a:t>
            </a:r>
            <a:r>
              <a:rPr dirty="0" sz="1200" spc="10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JPQL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or </a:t>
            </a:r>
            <a:r>
              <a:rPr dirty="0" sz="1200">
                <a:latin typeface="Calibri"/>
                <a:cs typeface="Calibri"/>
              </a:rPr>
              <a:t>SQL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query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contains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IN) </a:t>
            </a:r>
            <a:r>
              <a:rPr dirty="0" sz="1200" spc="-10">
                <a:latin typeface="Calibri"/>
                <a:cs typeface="Calibri"/>
              </a:rPr>
              <a:t>keyword: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81844" y="1213008"/>
          <a:ext cx="4094479" cy="2132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3200"/>
              </a:tblGrid>
              <a:tr h="61595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u="sng" sz="900" spc="-10">
                          <a:solidFill>
                            <a:srgbClr val="C55A11"/>
                          </a:solidFill>
                          <a:uFill>
                            <a:solidFill>
                              <a:srgbClr val="C55A11"/>
                            </a:solidFill>
                          </a:uFill>
                          <a:latin typeface="Calibri"/>
                          <a:cs typeface="Calibri"/>
                        </a:rPr>
                        <a:t>Repository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45720" marR="2984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solidFill>
                            <a:srgbClr val="9E870D"/>
                          </a:solidFill>
                          <a:latin typeface="Calibri"/>
                          <a:cs typeface="Calibri"/>
                        </a:rPr>
                        <a:t>@Query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(value</a:t>
                      </a:r>
                      <a:r>
                        <a:rPr dirty="0" sz="900" spc="15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= </a:t>
                      </a:r>
                      <a:r>
                        <a:rPr dirty="0" sz="90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"SELECT</a:t>
                      </a:r>
                      <a:r>
                        <a:rPr dirty="0" sz="900" spc="-25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900" spc="-5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dirty="0" sz="900" spc="-1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 Employee</a:t>
                      </a:r>
                      <a:r>
                        <a:rPr dirty="0" sz="900" spc="-15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900" spc="-1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WHERE</a:t>
                      </a:r>
                      <a:r>
                        <a:rPr dirty="0" sz="900" spc="-15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e.empName</a:t>
                      </a:r>
                      <a:r>
                        <a:rPr dirty="0" sz="900" spc="2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900" spc="-15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:names"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)</a:t>
                      </a:r>
                      <a:r>
                        <a:rPr dirty="0" sz="900" spc="50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&lt;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Employee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900" spc="35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006179"/>
                          </a:solidFill>
                          <a:latin typeface="Calibri"/>
                          <a:cs typeface="Calibri"/>
                        </a:rPr>
                        <a:t>findEmployeeByNameList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(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274320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9E870D"/>
                          </a:solidFill>
                          <a:latin typeface="Calibri"/>
                          <a:cs typeface="Calibri"/>
                        </a:rPr>
                        <a:t>@Param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900" spc="-1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"names"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)</a:t>
                      </a:r>
                      <a:r>
                        <a:rPr dirty="0" sz="900" spc="7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Collection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&lt;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String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900" spc="8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names);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524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</a:tr>
              <a:tr h="62674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u="sng" sz="900" spc="-10">
                          <a:solidFill>
                            <a:srgbClr val="C55A11"/>
                          </a:solidFill>
                          <a:uFill>
                            <a:solidFill>
                              <a:srgbClr val="C55A11"/>
                            </a:solidFill>
                          </a:uFill>
                          <a:latin typeface="Calibri"/>
                          <a:cs typeface="Calibri"/>
                        </a:rPr>
                        <a:t>Service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150495" marR="455930" indent="-105410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0033B3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r>
                        <a:rPr dirty="0" sz="900" spc="10">
                          <a:solidFill>
                            <a:srgbClr val="0033B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&lt;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Employee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900" spc="5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006179"/>
                          </a:solidFill>
                          <a:latin typeface="Calibri"/>
                          <a:cs typeface="Calibri"/>
                        </a:rPr>
                        <a:t>findEmployeeByNameList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Collection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&lt;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String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&gt;names){</a:t>
                      </a:r>
                      <a:r>
                        <a:rPr dirty="0" sz="900" spc="50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0033B3"/>
                          </a:solidFill>
                          <a:latin typeface="Calibri"/>
                          <a:cs typeface="Calibri"/>
                        </a:rPr>
                        <a:t>return</a:t>
                      </a:r>
                      <a:r>
                        <a:rPr dirty="0" sz="900">
                          <a:solidFill>
                            <a:srgbClr val="0033B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860F93"/>
                          </a:solidFill>
                          <a:latin typeface="Calibri"/>
                          <a:cs typeface="Calibri"/>
                        </a:rPr>
                        <a:t>employeeRepository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.findEmployeeByNameList(names);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dirty="0" sz="900" spc="-5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}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</a:tr>
              <a:tr h="88963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u="sng" sz="900" spc="-10">
                          <a:solidFill>
                            <a:srgbClr val="C55A11"/>
                          </a:solidFill>
                          <a:uFill>
                            <a:solidFill>
                              <a:srgbClr val="C55A11"/>
                            </a:solidFill>
                          </a:uFill>
                          <a:latin typeface="Calibri"/>
                          <a:cs typeface="Calibri"/>
                        </a:rPr>
                        <a:t>Application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Collection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&lt;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String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900" spc="95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names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900" spc="-10" i="1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900" spc="-1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"Ty"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900" spc="-1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"Teo"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900" spc="-1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"Men"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);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45720" marR="5384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&lt;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Employee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900" spc="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lst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= </a:t>
                      </a:r>
                      <a:r>
                        <a:rPr dirty="0" sz="900" spc="-10">
                          <a:solidFill>
                            <a:srgbClr val="851691"/>
                          </a:solidFill>
                          <a:latin typeface="Calibri"/>
                          <a:cs typeface="Calibri"/>
                        </a:rPr>
                        <a:t>employeeServices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.findEmployeeByNameList(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names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);</a:t>
                      </a:r>
                      <a:r>
                        <a:rPr dirty="0" sz="900" spc="50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lst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.stream().iterator().forEachRemaining(employee</a:t>
                      </a:r>
                      <a:r>
                        <a:rPr dirty="0" sz="900" spc="75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-&gt;</a:t>
                      </a:r>
                      <a:r>
                        <a:rPr dirty="0" sz="900" spc="35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{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150495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System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900" spc="-10" i="1">
                          <a:solidFill>
                            <a:srgbClr val="860F93"/>
                          </a:solidFill>
                          <a:latin typeface="Calibri"/>
                          <a:cs typeface="Calibri"/>
                        </a:rPr>
                        <a:t>out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.println(</a:t>
                      </a:r>
                      <a:r>
                        <a:rPr dirty="0" sz="900" spc="-1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"-</a:t>
                      </a:r>
                      <a:r>
                        <a:rPr dirty="0" sz="90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------------------</a:t>
                      </a:r>
                      <a:r>
                        <a:rPr dirty="0" sz="900" spc="25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057C17"/>
                          </a:solidFill>
                          <a:latin typeface="Calibri"/>
                          <a:cs typeface="Calibri"/>
                        </a:rPr>
                        <a:t>"</a:t>
                      </a:r>
                      <a:r>
                        <a:rPr dirty="0" sz="90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900" spc="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employee.getEmpName());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45720">
                        <a:lnSpc>
                          <a:spcPct val="100000"/>
                        </a:lnSpc>
                        <a:spcBef>
                          <a:spcPts val="70"/>
                        </a:spcBef>
                        <a:tabLst>
                          <a:tab pos="3852545" algn="l"/>
                        </a:tabLst>
                      </a:pPr>
                      <a:r>
                        <a:rPr dirty="0" baseline="3086" sz="1350" spc="-37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});</a:t>
                      </a:r>
                      <a:r>
                        <a:rPr dirty="0" baseline="3086" sz="1350">
                          <a:solidFill>
                            <a:srgbClr val="080808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600" spc="-25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27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2794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Queries</a:t>
            </a:r>
            <a:r>
              <a:rPr dirty="0" spc="-30"/>
              <a:t> </a:t>
            </a:r>
            <a:r>
              <a:rPr dirty="0"/>
              <a:t>–</a:t>
            </a:r>
            <a:r>
              <a:rPr dirty="0" spc="-45"/>
              <a:t> </a:t>
            </a:r>
            <a:r>
              <a:rPr dirty="0" spc="-10"/>
              <a:t>Pagination</a:t>
            </a:r>
            <a:r>
              <a:rPr dirty="0"/>
              <a:t> and</a:t>
            </a:r>
            <a:r>
              <a:rPr dirty="0" spc="-30"/>
              <a:t> </a:t>
            </a:r>
            <a:r>
              <a:rPr dirty="0" spc="-10"/>
              <a:t>Sorting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37025" y="3239007"/>
            <a:ext cx="76200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0"/>
              </a:lnSpc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28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0865" y="1082801"/>
            <a:ext cx="3263265" cy="1153795"/>
          </a:xfrm>
          <a:custGeom>
            <a:avLst/>
            <a:gdLst/>
            <a:ahLst/>
            <a:cxnLst/>
            <a:rect l="l" t="t" r="r" b="b"/>
            <a:pathLst>
              <a:path w="3263265" h="1153795">
                <a:moveTo>
                  <a:pt x="0" y="1153668"/>
                </a:moveTo>
                <a:lnTo>
                  <a:pt x="3262884" y="1153668"/>
                </a:lnTo>
                <a:lnTo>
                  <a:pt x="3262884" y="0"/>
                </a:lnTo>
                <a:lnTo>
                  <a:pt x="0" y="0"/>
                </a:lnTo>
                <a:lnTo>
                  <a:pt x="0" y="1153668"/>
                </a:lnTo>
                <a:close/>
              </a:path>
            </a:pathLst>
          </a:custGeom>
          <a:ln w="4762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03733" y="613028"/>
            <a:ext cx="4119879" cy="159512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368935" marR="5080" indent="-113030">
              <a:lnSpc>
                <a:spcPct val="70000"/>
              </a:lnSpc>
              <a:spcBef>
                <a:spcPts val="455"/>
              </a:spcBef>
              <a:buFont typeface="Arial"/>
              <a:buChar char="•"/>
              <a:tabLst>
                <a:tab pos="370840" algn="l"/>
              </a:tabLst>
            </a:pPr>
            <a:r>
              <a:rPr dirty="0" sz="1000">
                <a:latin typeface="Calibri"/>
                <a:cs typeface="Calibri"/>
              </a:rPr>
              <a:t>Pagination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often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helpful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when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we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have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large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dataset,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we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want </a:t>
            </a:r>
            <a:r>
              <a:rPr dirty="0" sz="1000" spc="-20">
                <a:latin typeface="Calibri"/>
                <a:cs typeface="Calibri"/>
              </a:rPr>
              <a:t>	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present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it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user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smaller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chunks.</a:t>
            </a:r>
            <a:endParaRPr sz="1000">
              <a:latin typeface="Calibri"/>
              <a:cs typeface="Calibri"/>
            </a:endParaRPr>
          </a:p>
          <a:p>
            <a:pPr marL="369570" indent="-11303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369570" algn="l"/>
              </a:tabLst>
            </a:pPr>
            <a:r>
              <a:rPr dirty="0" sz="1000">
                <a:latin typeface="Calibri"/>
                <a:cs typeface="Calibri"/>
              </a:rPr>
              <a:t>Also,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often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need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sort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data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by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some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criteria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while</a:t>
            </a:r>
            <a:r>
              <a:rPr dirty="0" sz="1000" spc="-10">
                <a:latin typeface="Calibri"/>
                <a:cs typeface="Calibri"/>
              </a:rPr>
              <a:t> paging.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900">
                <a:solidFill>
                  <a:srgbClr val="0033B3"/>
                </a:solidFill>
                <a:latin typeface="Calibri"/>
                <a:cs typeface="Calibri"/>
              </a:rPr>
              <a:t>import</a:t>
            </a:r>
            <a:r>
              <a:rPr dirty="0" sz="900" spc="-4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org.springframework.data.domain.Pageable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;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 spc="-25">
                <a:solidFill>
                  <a:srgbClr val="080808"/>
                </a:solidFill>
                <a:latin typeface="Calibri"/>
                <a:cs typeface="Calibri"/>
              </a:rPr>
              <a:t>//…</a:t>
            </a:r>
            <a:endParaRPr sz="900">
              <a:latin typeface="Calibri"/>
              <a:cs typeface="Calibri"/>
            </a:endParaRPr>
          </a:p>
          <a:p>
            <a:pPr marL="12700" marR="1851025">
              <a:lnSpc>
                <a:spcPct val="100000"/>
              </a:lnSpc>
            </a:pPr>
            <a:r>
              <a:rPr dirty="0" sz="900">
                <a:solidFill>
                  <a:srgbClr val="0033B3"/>
                </a:solidFill>
                <a:latin typeface="Calibri"/>
                <a:cs typeface="Calibri"/>
              </a:rPr>
              <a:t>public</a:t>
            </a:r>
            <a:r>
              <a:rPr dirty="0" sz="900" spc="3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033B3"/>
                </a:solidFill>
                <a:latin typeface="Calibri"/>
                <a:cs typeface="Calibri"/>
              </a:rPr>
              <a:t>interface</a:t>
            </a:r>
            <a:r>
              <a:rPr dirty="0" sz="900" spc="2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ProductRepository</a:t>
            </a:r>
            <a:r>
              <a:rPr dirty="0" sz="900" spc="15"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033B3"/>
                </a:solidFill>
                <a:latin typeface="Calibri"/>
                <a:cs typeface="Calibri"/>
              </a:rPr>
              <a:t>extends</a:t>
            </a:r>
            <a:r>
              <a:rPr dirty="0" sz="900" spc="50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PagingAndSortingRepository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900" spc="-10">
                <a:latin typeface="Calibri"/>
                <a:cs typeface="Calibri"/>
              </a:rPr>
              <a:t>Product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,</a:t>
            </a:r>
            <a:r>
              <a:rPr dirty="0" sz="900" spc="9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Integer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r>
              <a:rPr dirty="0" sz="900" spc="6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solidFill>
                  <a:srgbClr val="080808"/>
                </a:solidFill>
                <a:latin typeface="Calibri"/>
                <a:cs typeface="Calibri"/>
              </a:rPr>
              <a:t>{</a:t>
            </a:r>
            <a:endParaRPr sz="9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080"/>
              </a:spcBef>
            </a:pPr>
            <a:r>
              <a:rPr dirty="0" sz="900" spc="-10">
                <a:latin typeface="Calibri"/>
                <a:cs typeface="Calibri"/>
              </a:rPr>
              <a:t>List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900" spc="-10">
                <a:latin typeface="Calibri"/>
                <a:cs typeface="Calibri"/>
              </a:rPr>
              <a:t>Product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r>
              <a:rPr dirty="0" sz="9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06179"/>
                </a:solidFill>
                <a:latin typeface="Calibri"/>
                <a:cs typeface="Calibri"/>
              </a:rPr>
              <a:t>findAllByPrice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(</a:t>
            </a:r>
            <a:r>
              <a:rPr dirty="0" sz="900" spc="-10">
                <a:solidFill>
                  <a:srgbClr val="0033B3"/>
                </a:solidFill>
                <a:latin typeface="Calibri"/>
                <a:cs typeface="Calibri"/>
              </a:rPr>
              <a:t>double</a:t>
            </a:r>
            <a:r>
              <a:rPr dirty="0" sz="900" spc="4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80808"/>
                </a:solidFill>
                <a:latin typeface="Calibri"/>
                <a:cs typeface="Calibri"/>
              </a:rPr>
              <a:t>price,</a:t>
            </a:r>
            <a:r>
              <a:rPr dirty="0" sz="900" spc="2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Pageable</a:t>
            </a:r>
            <a:r>
              <a:rPr dirty="0" sz="900" spc="30"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pageable);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900" spc="-50">
                <a:solidFill>
                  <a:srgbClr val="080808"/>
                </a:solidFill>
                <a:latin typeface="Calibri"/>
                <a:cs typeface="Calibri"/>
              </a:rPr>
              <a:t>}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-11887" y="-12192"/>
            <a:ext cx="4596130" cy="3452495"/>
            <a:chOff x="-11887" y="-12192"/>
            <a:chExt cx="4596130" cy="345249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103" y="2264663"/>
              <a:ext cx="4396740" cy="1141476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67729" y="2262314"/>
              <a:ext cx="4401820" cy="1146810"/>
            </a:xfrm>
            <a:custGeom>
              <a:avLst/>
              <a:gdLst/>
              <a:ahLst/>
              <a:cxnLst/>
              <a:rect l="l" t="t" r="r" b="b"/>
              <a:pathLst>
                <a:path w="4401820" h="1146810">
                  <a:moveTo>
                    <a:pt x="0" y="1146238"/>
                  </a:moveTo>
                  <a:lnTo>
                    <a:pt x="4401439" y="1146238"/>
                  </a:lnTo>
                  <a:lnTo>
                    <a:pt x="4401439" y="0"/>
                  </a:lnTo>
                  <a:lnTo>
                    <a:pt x="0" y="0"/>
                  </a:lnTo>
                  <a:lnTo>
                    <a:pt x="0" y="1146238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6035" y="1066799"/>
              <a:ext cx="1235964" cy="1502663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7599" y="117728"/>
            <a:ext cx="277939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0">
                <a:latin typeface="Calibri Light"/>
                <a:cs typeface="Calibri Light"/>
              </a:rPr>
              <a:t>Streaming</a:t>
            </a:r>
            <a:r>
              <a:rPr dirty="0" sz="2200" spc="-55" b="0">
                <a:latin typeface="Calibri Light"/>
                <a:cs typeface="Calibri Light"/>
              </a:rPr>
              <a:t> </a:t>
            </a:r>
            <a:r>
              <a:rPr dirty="0" sz="2200" b="0">
                <a:latin typeface="Calibri Light"/>
                <a:cs typeface="Calibri Light"/>
              </a:rPr>
              <a:t>Query</a:t>
            </a:r>
            <a:r>
              <a:rPr dirty="0" sz="2200" spc="-70" b="0">
                <a:latin typeface="Calibri Light"/>
                <a:cs typeface="Calibri Light"/>
              </a:rPr>
              <a:t> </a:t>
            </a:r>
            <a:r>
              <a:rPr dirty="0" sz="2200" spc="-10" b="0">
                <a:latin typeface="Calibri Light"/>
                <a:cs typeface="Calibri Light"/>
              </a:rPr>
              <a:t>Results</a:t>
            </a:r>
            <a:endParaRPr sz="2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29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08634" y="502602"/>
            <a:ext cx="2779395" cy="817880"/>
            <a:chOff x="508634" y="502602"/>
            <a:chExt cx="2779395" cy="81788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7319" y="507491"/>
              <a:ext cx="2750799" cy="77100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511174" y="505142"/>
              <a:ext cx="2774315" cy="812800"/>
            </a:xfrm>
            <a:custGeom>
              <a:avLst/>
              <a:gdLst/>
              <a:ahLst/>
              <a:cxnLst/>
              <a:rect l="l" t="t" r="r" b="b"/>
              <a:pathLst>
                <a:path w="2774315" h="812800">
                  <a:moveTo>
                    <a:pt x="0" y="812482"/>
                  </a:moveTo>
                  <a:lnTo>
                    <a:pt x="2773806" y="812482"/>
                  </a:lnTo>
                  <a:lnTo>
                    <a:pt x="2773806" y="0"/>
                  </a:lnTo>
                  <a:lnTo>
                    <a:pt x="0" y="0"/>
                  </a:lnTo>
                  <a:lnTo>
                    <a:pt x="0" y="812482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322579" y="2044445"/>
            <a:ext cx="320675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 b="0">
                <a:latin typeface="Calibri Light"/>
                <a:cs typeface="Calibri Light"/>
              </a:rPr>
              <a:t>Asynchronous</a:t>
            </a:r>
            <a:r>
              <a:rPr dirty="0" sz="2200" spc="-45" b="0">
                <a:latin typeface="Calibri Light"/>
                <a:cs typeface="Calibri Light"/>
              </a:rPr>
              <a:t> </a:t>
            </a:r>
            <a:r>
              <a:rPr dirty="0" sz="2200" b="0">
                <a:latin typeface="Calibri Light"/>
                <a:cs typeface="Calibri Light"/>
              </a:rPr>
              <a:t>Query</a:t>
            </a:r>
            <a:r>
              <a:rPr dirty="0" sz="2200" spc="-70" b="0">
                <a:latin typeface="Calibri Light"/>
                <a:cs typeface="Calibri Light"/>
              </a:rPr>
              <a:t> </a:t>
            </a:r>
            <a:r>
              <a:rPr dirty="0" sz="2200" spc="-10" b="0">
                <a:latin typeface="Calibri Light"/>
                <a:cs typeface="Calibri Light"/>
              </a:rPr>
              <a:t>Results</a:t>
            </a:r>
            <a:endParaRPr sz="2200">
              <a:latin typeface="Calibri Light"/>
              <a:cs typeface="Calibri Ligh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2197" y="2543615"/>
              <a:ext cx="3300860" cy="76036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83159" y="2509164"/>
              <a:ext cx="3397250" cy="824865"/>
            </a:xfrm>
            <a:custGeom>
              <a:avLst/>
              <a:gdLst/>
              <a:ahLst/>
              <a:cxnLst/>
              <a:rect l="l" t="t" r="r" b="b"/>
              <a:pathLst>
                <a:path w="3397250" h="824864">
                  <a:moveTo>
                    <a:pt x="0" y="824674"/>
                  </a:moveTo>
                  <a:lnTo>
                    <a:pt x="3397123" y="824674"/>
                  </a:lnTo>
                  <a:lnTo>
                    <a:pt x="3397123" y="0"/>
                  </a:lnTo>
                  <a:lnTo>
                    <a:pt x="0" y="0"/>
                  </a:lnTo>
                  <a:lnTo>
                    <a:pt x="0" y="824674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497" y="1415891"/>
              <a:ext cx="4340347" cy="70243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51511" y="1390586"/>
              <a:ext cx="4359275" cy="739775"/>
            </a:xfrm>
            <a:custGeom>
              <a:avLst/>
              <a:gdLst/>
              <a:ahLst/>
              <a:cxnLst/>
              <a:rect l="l" t="t" r="r" b="b"/>
              <a:pathLst>
                <a:path w="4359275" h="739775">
                  <a:moveTo>
                    <a:pt x="0" y="739330"/>
                  </a:moveTo>
                  <a:lnTo>
                    <a:pt x="4358767" y="739330"/>
                  </a:lnTo>
                  <a:lnTo>
                    <a:pt x="4358767" y="0"/>
                  </a:lnTo>
                  <a:lnTo>
                    <a:pt x="0" y="0"/>
                  </a:lnTo>
                  <a:lnTo>
                    <a:pt x="0" y="739330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29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Demo:</a:t>
            </a:r>
            <a:r>
              <a:rPr dirty="0" spc="-90"/>
              <a:t> </a:t>
            </a:r>
            <a:r>
              <a:rPr dirty="0"/>
              <a:t>Directories</a:t>
            </a:r>
            <a:r>
              <a:rPr dirty="0" spc="-50"/>
              <a:t> </a:t>
            </a:r>
            <a:r>
              <a:rPr dirty="0" spc="-10"/>
              <a:t>structures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55067" y="629157"/>
            <a:ext cx="2136140" cy="2449830"/>
            <a:chOff x="155067" y="629157"/>
            <a:chExt cx="2136140" cy="244983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347" y="652294"/>
              <a:ext cx="2029761" cy="242161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57607" y="631697"/>
              <a:ext cx="2131060" cy="2444750"/>
            </a:xfrm>
            <a:custGeom>
              <a:avLst/>
              <a:gdLst/>
              <a:ahLst/>
              <a:cxnLst/>
              <a:rect l="l" t="t" r="r" b="b"/>
              <a:pathLst>
                <a:path w="2131060" h="2444750">
                  <a:moveTo>
                    <a:pt x="0" y="2444623"/>
                  </a:moveTo>
                  <a:lnTo>
                    <a:pt x="2130679" y="2444623"/>
                  </a:lnTo>
                  <a:lnTo>
                    <a:pt x="2130679" y="0"/>
                  </a:lnTo>
                  <a:lnTo>
                    <a:pt x="0" y="0"/>
                  </a:lnTo>
                  <a:lnTo>
                    <a:pt x="0" y="2444623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137025" y="3239007"/>
            <a:ext cx="76200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0"/>
              </a:lnSpc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30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-11887" y="-12192"/>
            <a:ext cx="4596130" cy="3452495"/>
            <a:chOff x="-11887" y="-12192"/>
            <a:chExt cx="4596130" cy="345249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8484" y="464819"/>
              <a:ext cx="2101595" cy="289560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346071" y="462533"/>
              <a:ext cx="2106295" cy="2900680"/>
            </a:xfrm>
            <a:custGeom>
              <a:avLst/>
              <a:gdLst/>
              <a:ahLst/>
              <a:cxnLst/>
              <a:rect l="l" t="t" r="r" b="b"/>
              <a:pathLst>
                <a:path w="2106295" h="2900679">
                  <a:moveTo>
                    <a:pt x="0" y="2900299"/>
                  </a:moveTo>
                  <a:lnTo>
                    <a:pt x="2106295" y="2900299"/>
                  </a:lnTo>
                  <a:lnTo>
                    <a:pt x="2106295" y="0"/>
                  </a:lnTo>
                  <a:lnTo>
                    <a:pt x="0" y="0"/>
                  </a:lnTo>
                  <a:lnTo>
                    <a:pt x="0" y="2900299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-12395" y="3179190"/>
            <a:ext cx="145859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94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85622"/>
                </a:solidFill>
                <a:latin typeface="Calibri"/>
                <a:cs typeface="Calibri"/>
              </a:rPr>
              <a:t>entities/models/domains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0"/>
              <a:t>Test</a:t>
            </a:r>
            <a:r>
              <a:rPr dirty="0" spc="-60"/>
              <a:t> </a:t>
            </a:r>
            <a:r>
              <a:rPr dirty="0" spc="-10"/>
              <a:t>application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31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944" y="726953"/>
              <a:ext cx="3944111" cy="228751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MongoDB</a:t>
            </a:r>
            <a:r>
              <a:rPr dirty="0" spc="-50"/>
              <a:t> </a:t>
            </a:r>
            <a:r>
              <a:rPr dirty="0"/>
              <a:t>Model</a:t>
            </a:r>
            <a:r>
              <a:rPr dirty="0" spc="-55"/>
              <a:t> </a:t>
            </a:r>
            <a:r>
              <a:rPr dirty="0" spc="-10"/>
              <a:t>Implementation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26744"/>
            <a:ext cx="3879850" cy="200406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just" marL="125730" marR="5715" indent="-113664">
              <a:lnSpc>
                <a:spcPct val="90100"/>
              </a:lnSpc>
              <a:spcBef>
                <a:spcPts val="27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MongoDB</a:t>
            </a:r>
            <a:r>
              <a:rPr dirty="0" sz="1400" spc="2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2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2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Boot</a:t>
            </a:r>
            <a:r>
              <a:rPr dirty="0" sz="1400" spc="220">
                <a:latin typeface="Calibri"/>
                <a:cs typeface="Calibri"/>
              </a:rPr>
              <a:t> </a:t>
            </a:r>
            <a:r>
              <a:rPr dirty="0" sz="1400">
                <a:latin typeface="Arial"/>
                <a:cs typeface="Arial"/>
              </a:rPr>
              <a:t>can</a:t>
            </a:r>
            <a:r>
              <a:rPr dirty="0" sz="1400" spc="1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be</a:t>
            </a:r>
            <a:r>
              <a:rPr dirty="0" sz="1400" spc="150">
                <a:latin typeface="Arial"/>
                <a:cs typeface="Arial"/>
              </a:rPr>
              <a:t> </a:t>
            </a:r>
            <a:r>
              <a:rPr dirty="0" sz="1400">
                <a:latin typeface="Calibri"/>
                <a:cs typeface="Calibri"/>
              </a:rPr>
              <a:t>interact</a:t>
            </a:r>
            <a:r>
              <a:rPr dirty="0" sz="1400">
                <a:latin typeface="Arial"/>
                <a:cs typeface="Arial"/>
              </a:rPr>
              <a:t>ed</a:t>
            </a:r>
            <a:r>
              <a:rPr dirty="0" sz="1400" spc="15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by </a:t>
            </a:r>
            <a:r>
              <a:rPr dirty="0" sz="1400" spc="-25">
                <a:latin typeface="Arial"/>
                <a:cs typeface="Arial"/>
              </a:rPr>
              <a:t>	</a:t>
            </a:r>
            <a:r>
              <a:rPr dirty="0" sz="1400">
                <a:latin typeface="Calibri"/>
                <a:cs typeface="Calibri"/>
              </a:rPr>
              <a:t>using</a:t>
            </a:r>
            <a:r>
              <a:rPr dirty="0" sz="1400" spc="300">
                <a:latin typeface="Calibri"/>
                <a:cs typeface="Calibri"/>
              </a:rPr>
              <a:t>   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305">
                <a:latin typeface="Calibri"/>
                <a:cs typeface="Calibri"/>
              </a:rPr>
              <a:t>    </a:t>
            </a:r>
            <a:r>
              <a:rPr dirty="0" sz="1400">
                <a:latin typeface="Calibri"/>
                <a:cs typeface="Calibri"/>
              </a:rPr>
              <a:t>MongoTemplate</a:t>
            </a:r>
            <a:r>
              <a:rPr dirty="0" sz="1400" spc="305">
                <a:latin typeface="Calibri"/>
                <a:cs typeface="Calibri"/>
              </a:rPr>
              <a:t>    </a:t>
            </a:r>
            <a:r>
              <a:rPr dirty="0" sz="1400">
                <a:latin typeface="Calibri"/>
                <a:cs typeface="Calibri"/>
              </a:rPr>
              <a:t>class</a:t>
            </a:r>
            <a:r>
              <a:rPr dirty="0" sz="1400" spc="305">
                <a:latin typeface="Calibri"/>
                <a:cs typeface="Calibri"/>
              </a:rPr>
              <a:t>   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MongoRepository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interface.</a:t>
            </a:r>
            <a:endParaRPr sz="1400">
              <a:latin typeface="Calibri"/>
              <a:cs typeface="Calibri"/>
            </a:endParaRPr>
          </a:p>
          <a:p>
            <a:pPr algn="just" lvl="1" marL="355600" marR="5715" indent="-114300">
              <a:lnSpc>
                <a:spcPts val="1300"/>
              </a:lnSpc>
              <a:spcBef>
                <a:spcPts val="26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20">
                <a:latin typeface="Calibri"/>
                <a:cs typeface="Calibri"/>
              </a:rPr>
              <a:t>MongoTemplate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— </a:t>
            </a:r>
            <a:r>
              <a:rPr dirty="0" sz="1200" spc="-10">
                <a:latin typeface="Calibri"/>
                <a:cs typeface="Calibri"/>
              </a:rPr>
              <a:t>MongoTemplate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implements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 set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 spc="-10">
                <a:latin typeface="Calibri"/>
                <a:cs typeface="Calibri"/>
              </a:rPr>
              <a:t>ready-</a:t>
            </a:r>
            <a:r>
              <a:rPr dirty="0" sz="1200" spc="-20">
                <a:latin typeface="Calibri"/>
                <a:cs typeface="Calibri"/>
              </a:rPr>
              <a:t>to-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3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APIs.</a:t>
            </a:r>
            <a:r>
              <a:rPr dirty="0" sz="1200" spc="3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3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good</a:t>
            </a:r>
            <a:r>
              <a:rPr dirty="0" sz="1200" spc="3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choice</a:t>
            </a:r>
            <a:r>
              <a:rPr dirty="0" sz="1200" spc="3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3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operations</a:t>
            </a:r>
            <a:r>
              <a:rPr dirty="0" sz="1200" spc="3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like </a:t>
            </a:r>
            <a:r>
              <a:rPr dirty="0" sz="1200">
                <a:latin typeface="Calibri"/>
                <a:cs typeface="Calibri"/>
              </a:rPr>
              <a:t>update,</a:t>
            </a:r>
            <a:r>
              <a:rPr dirty="0" sz="1200" spc="22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aggregations,</a:t>
            </a:r>
            <a:r>
              <a:rPr dirty="0" sz="1200" spc="22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2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others,</a:t>
            </a:r>
            <a:r>
              <a:rPr dirty="0" sz="1200" spc="225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MongoTemplate offers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finer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control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over</a:t>
            </a:r>
            <a:r>
              <a:rPr dirty="0" sz="1200" spc="-10">
                <a:latin typeface="Calibri"/>
                <a:cs typeface="Calibri"/>
              </a:rPr>
              <a:t> custom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queries.</a:t>
            </a:r>
            <a:endParaRPr sz="1200">
              <a:latin typeface="Calibri"/>
              <a:cs typeface="Calibri"/>
            </a:endParaRPr>
          </a:p>
          <a:p>
            <a:pPr algn="just" lvl="1" marL="355600" marR="5080" indent="-114300">
              <a:lnSpc>
                <a:spcPts val="1300"/>
              </a:lnSpc>
              <a:spcBef>
                <a:spcPts val="23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MongoRepository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—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MongoRepository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used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basic </a:t>
            </a:r>
            <a:r>
              <a:rPr dirty="0" sz="1200">
                <a:latin typeface="Calibri"/>
                <a:cs typeface="Calibri"/>
              </a:rPr>
              <a:t>queries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involve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many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fields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6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document. </a:t>
            </a:r>
            <a:r>
              <a:rPr dirty="0" sz="1200">
                <a:latin typeface="Calibri"/>
                <a:cs typeface="Calibri"/>
              </a:rPr>
              <a:t>Examples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include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creation,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viewing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documents,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10">
                <a:latin typeface="Calibri"/>
                <a:cs typeface="Calibri"/>
              </a:rPr>
              <a:t>more.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36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01929" y="2713481"/>
            <a:ext cx="3942715" cy="184785"/>
          </a:xfrm>
          <a:prstGeom prst="rect">
            <a:avLst/>
          </a:prstGeom>
          <a:ln w="4762">
            <a:solidFill>
              <a:srgbClr val="4471C4"/>
            </a:solidFill>
          </a:ln>
        </p:spPr>
        <p:txBody>
          <a:bodyPr wrap="square" lIns="0" tIns="15240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20"/>
              </a:spcBef>
            </a:pP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implementation</a:t>
            </a:r>
            <a:r>
              <a:rPr dirty="0" sz="900" spc="24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'org.springframework.boot:spring-boot-starter-data-mongodb'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Connect</a:t>
            </a:r>
            <a:r>
              <a:rPr dirty="0" spc="-40"/>
              <a:t> </a:t>
            </a:r>
            <a:r>
              <a:rPr dirty="0" spc="-10"/>
              <a:t>Server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0805" y="2360320"/>
            <a:ext cx="2187575" cy="985519"/>
            <a:chOff x="40805" y="2360320"/>
            <a:chExt cx="2187575" cy="985519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" y="2365247"/>
              <a:ext cx="2177796" cy="97536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3345" y="2362860"/>
              <a:ext cx="2182495" cy="980440"/>
            </a:xfrm>
            <a:custGeom>
              <a:avLst/>
              <a:gdLst/>
              <a:ahLst/>
              <a:cxnLst/>
              <a:rect l="l" t="t" r="r" b="b"/>
              <a:pathLst>
                <a:path w="2182495" h="980439">
                  <a:moveTo>
                    <a:pt x="0" y="980122"/>
                  </a:moveTo>
                  <a:lnTo>
                    <a:pt x="2182494" y="980122"/>
                  </a:lnTo>
                  <a:lnTo>
                    <a:pt x="2182494" y="0"/>
                  </a:lnTo>
                  <a:lnTo>
                    <a:pt x="0" y="0"/>
                  </a:lnTo>
                  <a:lnTo>
                    <a:pt x="0" y="980122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37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884807" y="2139378"/>
            <a:ext cx="2503170" cy="700405"/>
            <a:chOff x="1884807" y="2139378"/>
            <a:chExt cx="2503170" cy="700405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9760" y="2144267"/>
              <a:ext cx="2493264" cy="690372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887347" y="2141918"/>
              <a:ext cx="2498090" cy="695325"/>
            </a:xfrm>
            <a:custGeom>
              <a:avLst/>
              <a:gdLst/>
              <a:ahLst/>
              <a:cxnLst/>
              <a:rect l="l" t="t" r="r" b="b"/>
              <a:pathLst>
                <a:path w="2498090" h="695325">
                  <a:moveTo>
                    <a:pt x="0" y="695134"/>
                  </a:moveTo>
                  <a:lnTo>
                    <a:pt x="2498090" y="695134"/>
                  </a:lnTo>
                  <a:lnTo>
                    <a:pt x="2498090" y="0"/>
                  </a:lnTo>
                  <a:lnTo>
                    <a:pt x="0" y="0"/>
                  </a:lnTo>
                  <a:lnTo>
                    <a:pt x="0" y="695134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224154" y="1864817"/>
            <a:ext cx="255778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alibri"/>
                <a:cs typeface="Calibri"/>
              </a:rPr>
              <a:t>create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you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did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not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have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one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215" y="530351"/>
              <a:ext cx="3401567" cy="1222247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82803" y="528002"/>
              <a:ext cx="3406775" cy="1227455"/>
            </a:xfrm>
            <a:custGeom>
              <a:avLst/>
              <a:gdLst/>
              <a:ahLst/>
              <a:cxnLst/>
              <a:rect l="l" t="t" r="r" b="b"/>
              <a:pathLst>
                <a:path w="3406775" h="1227455">
                  <a:moveTo>
                    <a:pt x="0" y="1227010"/>
                  </a:moveTo>
                  <a:lnTo>
                    <a:pt x="3406266" y="1227010"/>
                  </a:lnTo>
                  <a:lnTo>
                    <a:pt x="3406266" y="0"/>
                  </a:lnTo>
                  <a:lnTo>
                    <a:pt x="0" y="0"/>
                  </a:lnTo>
                  <a:lnTo>
                    <a:pt x="0" y="1227010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Connect</a:t>
            </a:r>
            <a:r>
              <a:rPr dirty="0" spc="-25"/>
              <a:t> </a:t>
            </a:r>
            <a:r>
              <a:rPr dirty="0"/>
              <a:t>Server</a:t>
            </a:r>
            <a:r>
              <a:rPr dirty="0" spc="-70"/>
              <a:t> </a:t>
            </a:r>
            <a:r>
              <a:rPr dirty="0" spc="-20"/>
              <a:t>-</a:t>
            </a:r>
            <a:r>
              <a:rPr dirty="0" spc="-10"/>
              <a:t>simple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38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11887" y="-12192"/>
            <a:ext cx="4596130" cy="3452495"/>
            <a:chOff x="-11887" y="-12192"/>
            <a:chExt cx="4596130" cy="34524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5260" y="582183"/>
              <a:ext cx="4221480" cy="259687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72846" y="570737"/>
              <a:ext cx="4226560" cy="2611120"/>
            </a:xfrm>
            <a:custGeom>
              <a:avLst/>
              <a:gdLst/>
              <a:ahLst/>
              <a:cxnLst/>
              <a:rect l="l" t="t" r="r" b="b"/>
              <a:pathLst>
                <a:path w="4226560" h="2611120">
                  <a:moveTo>
                    <a:pt x="0" y="2610739"/>
                  </a:moveTo>
                  <a:lnTo>
                    <a:pt x="4226179" y="2610739"/>
                  </a:lnTo>
                  <a:lnTo>
                    <a:pt x="4226179" y="0"/>
                  </a:lnTo>
                  <a:lnTo>
                    <a:pt x="0" y="0"/>
                  </a:lnTo>
                  <a:lnTo>
                    <a:pt x="0" y="2610739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Connect</a:t>
            </a:r>
            <a:r>
              <a:rPr dirty="0" spc="-25"/>
              <a:t> </a:t>
            </a:r>
            <a:r>
              <a:rPr dirty="0"/>
              <a:t>Server</a:t>
            </a:r>
            <a:r>
              <a:rPr dirty="0" spc="-65"/>
              <a:t> </a:t>
            </a:r>
            <a:r>
              <a:rPr dirty="0"/>
              <a:t>–</a:t>
            </a:r>
            <a:r>
              <a:rPr dirty="0" spc="-55"/>
              <a:t> </a:t>
            </a:r>
            <a:r>
              <a:rPr dirty="0" spc="-10"/>
              <a:t>abstract</a:t>
            </a:r>
            <a:r>
              <a:rPr dirty="0" spc="-30"/>
              <a:t> </a:t>
            </a:r>
            <a:r>
              <a:rPr dirty="0" spc="-10"/>
              <a:t>config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39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667" y="710183"/>
              <a:ext cx="3866387" cy="238353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389255" y="707859"/>
              <a:ext cx="3871595" cy="2388235"/>
            </a:xfrm>
            <a:custGeom>
              <a:avLst/>
              <a:gdLst/>
              <a:ahLst/>
              <a:cxnLst/>
              <a:rect l="l" t="t" r="r" b="b"/>
              <a:pathLst>
                <a:path w="3871595" h="2388235">
                  <a:moveTo>
                    <a:pt x="0" y="2388235"/>
                  </a:moveTo>
                  <a:lnTo>
                    <a:pt x="3871087" y="2388235"/>
                  </a:lnTo>
                  <a:lnTo>
                    <a:pt x="3871087" y="0"/>
                  </a:lnTo>
                  <a:lnTo>
                    <a:pt x="0" y="0"/>
                  </a:lnTo>
                  <a:lnTo>
                    <a:pt x="0" y="2388235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39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Times New Roman"/>
                <a:cs typeface="Times New Roman"/>
              </a:rPr>
              <a:t>Entities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Documentation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40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11887" y="-12192"/>
            <a:ext cx="4596130" cy="3452495"/>
            <a:chOff x="-11887" y="-12192"/>
            <a:chExt cx="4596130" cy="34524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748" y="640079"/>
              <a:ext cx="2819308" cy="132124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29107" y="637793"/>
              <a:ext cx="2911475" cy="1344295"/>
            </a:xfrm>
            <a:custGeom>
              <a:avLst/>
              <a:gdLst/>
              <a:ahLst/>
              <a:cxnLst/>
              <a:rect l="l" t="t" r="r" b="b"/>
              <a:pathLst>
                <a:path w="2911475" h="1344295">
                  <a:moveTo>
                    <a:pt x="0" y="1344295"/>
                  </a:moveTo>
                  <a:lnTo>
                    <a:pt x="2910967" y="1344295"/>
                  </a:lnTo>
                  <a:lnTo>
                    <a:pt x="2910967" y="0"/>
                  </a:lnTo>
                  <a:lnTo>
                    <a:pt x="0" y="0"/>
                  </a:lnTo>
                  <a:lnTo>
                    <a:pt x="0" y="1344295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928" y="2138171"/>
              <a:ext cx="2196068" cy="99364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83514" y="2135822"/>
              <a:ext cx="2223770" cy="998855"/>
            </a:xfrm>
            <a:custGeom>
              <a:avLst/>
              <a:gdLst/>
              <a:ahLst/>
              <a:cxnLst/>
              <a:rect l="l" t="t" r="r" b="b"/>
              <a:pathLst>
                <a:path w="2223770" h="998855">
                  <a:moveTo>
                    <a:pt x="0" y="998410"/>
                  </a:moveTo>
                  <a:lnTo>
                    <a:pt x="2223643" y="998410"/>
                  </a:lnTo>
                  <a:lnTo>
                    <a:pt x="2223643" y="0"/>
                  </a:lnTo>
                  <a:lnTo>
                    <a:pt x="0" y="0"/>
                  </a:lnTo>
                  <a:lnTo>
                    <a:pt x="0" y="998410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33472" y="2049779"/>
              <a:ext cx="1537634" cy="1170432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2631059" y="2047430"/>
              <a:ext cx="1629410" cy="1175385"/>
            </a:xfrm>
            <a:custGeom>
              <a:avLst/>
              <a:gdLst/>
              <a:ahLst/>
              <a:cxnLst/>
              <a:rect l="l" t="t" r="r" b="b"/>
              <a:pathLst>
                <a:path w="1629410" h="1175385">
                  <a:moveTo>
                    <a:pt x="0" y="1175194"/>
                  </a:moveTo>
                  <a:lnTo>
                    <a:pt x="1629283" y="1175194"/>
                  </a:lnTo>
                  <a:lnTo>
                    <a:pt x="1629283" y="0"/>
                  </a:lnTo>
                  <a:lnTo>
                    <a:pt x="0" y="0"/>
                  </a:lnTo>
                  <a:lnTo>
                    <a:pt x="0" y="1175194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 b="0">
                <a:latin typeface="Times New Roman"/>
                <a:cs typeface="Times New Roman"/>
              </a:rPr>
              <a:t>Repositories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31647"/>
            <a:ext cx="3877310" cy="1322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6364" indent="-113664">
              <a:lnSpc>
                <a:spcPts val="1580"/>
              </a:lnSpc>
              <a:spcBef>
                <a:spcPts val="105"/>
              </a:spcBef>
              <a:buChar char="•"/>
              <a:tabLst>
                <a:tab pos="126364" algn="l"/>
              </a:tabLst>
            </a:pPr>
            <a:r>
              <a:rPr dirty="0" sz="1400">
                <a:latin typeface="Arial"/>
                <a:cs typeface="Arial"/>
              </a:rPr>
              <a:t>Repositories</a:t>
            </a:r>
            <a:r>
              <a:rPr dirty="0" sz="1400" spc="1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1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our</a:t>
            </a:r>
            <a:r>
              <a:rPr dirty="0" sz="1400" spc="1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application</a:t>
            </a:r>
            <a:r>
              <a:rPr dirty="0" sz="1400" spc="1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should</a:t>
            </a:r>
            <a:r>
              <a:rPr dirty="0" sz="1400" spc="13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extends</a:t>
            </a:r>
            <a:endParaRPr sz="1400">
              <a:latin typeface="Arial"/>
              <a:cs typeface="Arial"/>
            </a:endParaRPr>
          </a:p>
          <a:p>
            <a:pPr marL="127000">
              <a:lnSpc>
                <a:spcPts val="1580"/>
              </a:lnSpc>
            </a:pP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25">
                <a:latin typeface="Arial"/>
                <a:cs typeface="Arial"/>
              </a:rPr>
              <a:t> </a:t>
            </a:r>
            <a:r>
              <a:rPr dirty="0" sz="1400" spc="-20">
                <a:latin typeface="Calibri"/>
                <a:cs typeface="Calibri"/>
              </a:rPr>
              <a:t>MongoRepository</a:t>
            </a:r>
            <a:r>
              <a:rPr dirty="0" sz="1400" spc="-2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1400" spc="-20">
                <a:solidFill>
                  <a:srgbClr val="007D89"/>
                </a:solidFill>
                <a:latin typeface="Calibri"/>
                <a:cs typeface="Calibri"/>
              </a:rPr>
              <a:t>T</a:t>
            </a:r>
            <a:r>
              <a:rPr dirty="0" sz="1400" spc="-20">
                <a:solidFill>
                  <a:srgbClr val="080808"/>
                </a:solidFill>
                <a:latin typeface="Calibri"/>
                <a:cs typeface="Calibri"/>
              </a:rPr>
              <a:t>,</a:t>
            </a:r>
            <a:r>
              <a:rPr dirty="0" sz="1400" spc="-1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07D89"/>
                </a:solidFill>
                <a:latin typeface="Calibri"/>
                <a:cs typeface="Calibri"/>
              </a:rPr>
              <a:t>ID</a:t>
            </a: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r>
              <a:rPr dirty="0" sz="1400" spc="3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80808"/>
                </a:solidFill>
                <a:latin typeface="Calibri"/>
                <a:cs typeface="Calibri"/>
              </a:rPr>
              <a:t>interface.</a:t>
            </a:r>
            <a:endParaRPr sz="1400">
              <a:latin typeface="Calibri"/>
              <a:cs typeface="Calibri"/>
            </a:endParaRPr>
          </a:p>
          <a:p>
            <a:pPr marL="125730" marR="5080" indent="-113664">
              <a:lnSpc>
                <a:spcPts val="1510"/>
              </a:lnSpc>
              <a:spcBef>
                <a:spcPts val="515"/>
              </a:spcBef>
              <a:buFont typeface="Arial"/>
              <a:buChar char="•"/>
              <a:tabLst>
                <a:tab pos="127000" algn="l"/>
                <a:tab pos="1768475" algn="l"/>
                <a:tab pos="2163445" algn="l"/>
                <a:tab pos="2933065" algn="l"/>
                <a:tab pos="3448050" algn="l"/>
              </a:tabLst>
            </a:pPr>
            <a:r>
              <a:rPr dirty="0" sz="1400" spc="-10">
                <a:latin typeface="Calibri"/>
                <a:cs typeface="Calibri"/>
              </a:rPr>
              <a:t>MongoRepository</a:t>
            </a:r>
            <a:r>
              <a:rPr dirty="0" sz="1400" spc="-1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1400" spc="-10">
                <a:solidFill>
                  <a:srgbClr val="007D89"/>
                </a:solidFill>
                <a:latin typeface="Calibri"/>
                <a:cs typeface="Calibri"/>
              </a:rPr>
              <a:t>T</a:t>
            </a:r>
            <a:r>
              <a:rPr dirty="0" sz="1400" spc="-10">
                <a:solidFill>
                  <a:srgbClr val="080808"/>
                </a:solidFill>
                <a:latin typeface="Calibri"/>
                <a:cs typeface="Calibri"/>
              </a:rPr>
              <a:t>,</a:t>
            </a: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	</a:t>
            </a:r>
            <a:r>
              <a:rPr dirty="0" sz="1400" spc="-25">
                <a:solidFill>
                  <a:srgbClr val="007D89"/>
                </a:solidFill>
                <a:latin typeface="Calibri"/>
                <a:cs typeface="Calibri"/>
              </a:rPr>
              <a:t>ID</a:t>
            </a:r>
            <a:r>
              <a:rPr dirty="0" sz="1400" spc="-25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	</a:t>
            </a:r>
            <a:r>
              <a:rPr dirty="0" sz="1400" spc="-10">
                <a:solidFill>
                  <a:srgbClr val="080808"/>
                </a:solidFill>
                <a:latin typeface="Calibri"/>
                <a:cs typeface="Calibri"/>
              </a:rPr>
              <a:t>provides</a:t>
            </a: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	</a:t>
            </a:r>
            <a:r>
              <a:rPr dirty="0" sz="1400" spc="-20">
                <a:solidFill>
                  <a:srgbClr val="080808"/>
                </a:solidFill>
                <a:latin typeface="Calibri"/>
                <a:cs typeface="Calibri"/>
              </a:rPr>
              <a:t>most</a:t>
            </a: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	</a:t>
            </a:r>
            <a:r>
              <a:rPr dirty="0" sz="1400" spc="-20">
                <a:solidFill>
                  <a:srgbClr val="080808"/>
                </a:solidFill>
                <a:latin typeface="Calibri"/>
                <a:cs typeface="Calibri"/>
              </a:rPr>
              <a:t>CRUD </a:t>
            </a:r>
            <a:r>
              <a:rPr dirty="0" sz="1400" spc="-20">
                <a:solidFill>
                  <a:srgbClr val="080808"/>
                </a:solidFill>
                <a:latin typeface="Calibri"/>
                <a:cs typeface="Calibri"/>
              </a:rPr>
              <a:t>	</a:t>
            </a:r>
            <a:r>
              <a:rPr dirty="0" sz="1400" spc="-10">
                <a:solidFill>
                  <a:srgbClr val="080808"/>
                </a:solidFill>
                <a:latin typeface="Calibri"/>
                <a:cs typeface="Calibri"/>
              </a:rPr>
              <a:t>operators.</a:t>
            </a:r>
            <a:endParaRPr sz="1400">
              <a:latin typeface="Calibri"/>
              <a:cs typeface="Calibri"/>
            </a:endParaRPr>
          </a:p>
          <a:p>
            <a:pPr marL="125730" marR="6350" indent="-113664">
              <a:lnSpc>
                <a:spcPts val="1510"/>
              </a:lnSpc>
              <a:spcBef>
                <a:spcPts val="509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We</a:t>
            </a:r>
            <a:r>
              <a:rPr dirty="0" sz="1400" spc="9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also</a:t>
            </a:r>
            <a:r>
              <a:rPr dirty="0" sz="1400" spc="10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define</a:t>
            </a:r>
            <a:r>
              <a:rPr dirty="0" sz="1400" spc="9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more</a:t>
            </a:r>
            <a:r>
              <a:rPr dirty="0" sz="1400" spc="9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queries</a:t>
            </a:r>
            <a:r>
              <a:rPr dirty="0" sz="1400" spc="9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using</a:t>
            </a:r>
            <a:r>
              <a:rPr dirty="0" sz="1400" spc="10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spring</a:t>
            </a:r>
            <a:r>
              <a:rPr dirty="0" sz="1400" spc="9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80808"/>
                </a:solidFill>
                <a:latin typeface="Calibri"/>
                <a:cs typeface="Calibri"/>
              </a:rPr>
              <a:t>naming- </a:t>
            </a:r>
            <a:r>
              <a:rPr dirty="0" sz="1400" spc="-10">
                <a:solidFill>
                  <a:srgbClr val="080808"/>
                </a:solidFill>
                <a:latin typeface="Calibri"/>
                <a:cs typeface="Calibri"/>
              </a:rPr>
              <a:t>	</a:t>
            </a: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method</a:t>
            </a:r>
            <a:r>
              <a:rPr dirty="0" sz="1400" spc="-2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or</a:t>
            </a:r>
            <a:r>
              <a:rPr dirty="0" sz="1400" spc="-3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using</a:t>
            </a:r>
            <a:r>
              <a:rPr dirty="0" sz="1400" spc="-2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080808"/>
                </a:solidFill>
                <a:latin typeface="Calibri"/>
                <a:cs typeface="Calibri"/>
              </a:rPr>
              <a:t>@Query</a:t>
            </a:r>
            <a:r>
              <a:rPr dirty="0" sz="1400" spc="-5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080808"/>
                </a:solidFill>
                <a:latin typeface="Calibri"/>
                <a:cs typeface="Calibri"/>
              </a:rPr>
              <a:t>annotaion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41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264" y="2074199"/>
              <a:ext cx="4276324" cy="107581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18021" y="2044344"/>
              <a:ext cx="4336415" cy="1177290"/>
            </a:xfrm>
            <a:custGeom>
              <a:avLst/>
              <a:gdLst/>
              <a:ahLst/>
              <a:cxnLst/>
              <a:rect l="l" t="t" r="r" b="b"/>
              <a:pathLst>
                <a:path w="4336415" h="1177289">
                  <a:moveTo>
                    <a:pt x="0" y="1176718"/>
                  </a:moveTo>
                  <a:lnTo>
                    <a:pt x="4335907" y="1176718"/>
                  </a:lnTo>
                  <a:lnTo>
                    <a:pt x="4335907" y="0"/>
                  </a:lnTo>
                  <a:lnTo>
                    <a:pt x="0" y="0"/>
                  </a:lnTo>
                  <a:lnTo>
                    <a:pt x="0" y="1176718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 b="0">
                <a:latin typeface="Times New Roman"/>
                <a:cs typeface="Times New Roman"/>
              </a:rPr>
              <a:t>Operations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15" y="623328"/>
            <a:ext cx="3907507" cy="154683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162425" y="3207257"/>
            <a:ext cx="635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50">
                <a:solidFill>
                  <a:srgbClr val="888888"/>
                </a:solidFill>
                <a:latin typeface="Calibri"/>
                <a:cs typeface="Calibri"/>
              </a:rPr>
              <a:t>2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37025" y="3239007"/>
            <a:ext cx="38100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570"/>
              </a:lnSpc>
            </a:pPr>
            <a:r>
              <a:rPr dirty="0" sz="600" spc="-5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6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639" y="2285999"/>
            <a:ext cx="3954748" cy="1098803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203327" y="607313"/>
            <a:ext cx="3949065" cy="1579245"/>
          </a:xfrm>
          <a:prstGeom prst="rect">
            <a:avLst/>
          </a:prstGeom>
          <a:ln w="4762">
            <a:solidFill>
              <a:srgbClr val="4471C4"/>
            </a:solidFill>
          </a:ln>
        </p:spPr>
        <p:txBody>
          <a:bodyPr wrap="square" lIns="0" tIns="62230" rIns="0" bIns="0" rtlCol="0" vert="horz">
            <a:spAutoFit/>
          </a:bodyPr>
          <a:lstStyle/>
          <a:p>
            <a:pPr algn="r" marR="124460">
              <a:lnSpc>
                <a:spcPct val="100000"/>
              </a:lnSpc>
              <a:spcBef>
                <a:spcPts val="490"/>
              </a:spcBef>
            </a:pPr>
            <a:r>
              <a:rPr dirty="0" sz="900">
                <a:solidFill>
                  <a:srgbClr val="FF0000"/>
                </a:solidFill>
                <a:latin typeface="Arial"/>
                <a:cs typeface="Arial"/>
              </a:rPr>
              <a:t>Using</a:t>
            </a:r>
            <a:r>
              <a:rPr dirty="0" sz="9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FF0000"/>
                </a:solidFill>
                <a:latin typeface="Arial"/>
                <a:cs typeface="Arial"/>
              </a:rPr>
              <a:t>Repository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5227" y="2283650"/>
            <a:ext cx="3987165" cy="1103630"/>
          </a:xfrm>
          <a:prstGeom prst="rect">
            <a:avLst/>
          </a:prstGeom>
          <a:ln w="4762">
            <a:solidFill>
              <a:srgbClr val="4471C4"/>
            </a:solidFill>
          </a:ln>
        </p:spPr>
        <p:txBody>
          <a:bodyPr wrap="square" lIns="0" tIns="47625" rIns="0" bIns="0" rtlCol="0" vert="horz">
            <a:spAutoFit/>
          </a:bodyPr>
          <a:lstStyle/>
          <a:p>
            <a:pPr marL="2278380">
              <a:lnSpc>
                <a:spcPct val="100000"/>
              </a:lnSpc>
              <a:spcBef>
                <a:spcPts val="375"/>
              </a:spcBef>
            </a:pPr>
            <a:r>
              <a:rPr dirty="0" sz="900">
                <a:solidFill>
                  <a:srgbClr val="FF0000"/>
                </a:solidFill>
                <a:latin typeface="Arial"/>
                <a:cs typeface="Arial"/>
              </a:rPr>
              <a:t>Using</a:t>
            </a:r>
            <a:r>
              <a:rPr dirty="0" sz="900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FF0000"/>
                </a:solidFill>
                <a:latin typeface="Arial"/>
                <a:cs typeface="Arial"/>
              </a:rPr>
              <a:t>MongoTemplate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Times New Roman"/>
                <a:cs typeface="Times New Roman"/>
              </a:rPr>
              <a:t>Example</a:t>
            </a:r>
            <a:r>
              <a:rPr dirty="0" spc="-7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structure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43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119" y="573023"/>
              <a:ext cx="2133600" cy="276301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95707" y="570572"/>
              <a:ext cx="2138680" cy="2767965"/>
            </a:xfrm>
            <a:custGeom>
              <a:avLst/>
              <a:gdLst/>
              <a:ahLst/>
              <a:cxnLst/>
              <a:rect l="l" t="t" r="r" b="b"/>
              <a:pathLst>
                <a:path w="2138680" h="2767965">
                  <a:moveTo>
                    <a:pt x="0" y="2767838"/>
                  </a:moveTo>
                  <a:lnTo>
                    <a:pt x="2138298" y="2767838"/>
                  </a:lnTo>
                  <a:lnTo>
                    <a:pt x="2138298" y="0"/>
                  </a:lnTo>
                  <a:lnTo>
                    <a:pt x="0" y="0"/>
                  </a:lnTo>
                  <a:lnTo>
                    <a:pt x="0" y="2767838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REST</a:t>
            </a:r>
            <a:r>
              <a:rPr dirty="0" spc="-70"/>
              <a:t> </a:t>
            </a: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25220"/>
            <a:ext cx="3878579" cy="19170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L="113664" marR="5080" indent="-113664">
              <a:lnSpc>
                <a:spcPts val="1595"/>
              </a:lnSpc>
              <a:spcBef>
                <a:spcPts val="100"/>
              </a:spcBef>
              <a:buFont typeface="Arial"/>
              <a:buChar char="•"/>
              <a:tabLst>
                <a:tab pos="113664" algn="l"/>
              </a:tabLst>
            </a:pPr>
            <a:r>
              <a:rPr dirty="0" sz="1400" spc="-10" b="1">
                <a:latin typeface="Calibri"/>
                <a:cs typeface="Calibri"/>
              </a:rPr>
              <a:t>RE</a:t>
            </a:r>
            <a:r>
              <a:rPr dirty="0" sz="1400" spc="-10">
                <a:latin typeface="Calibri"/>
                <a:cs typeface="Calibri"/>
              </a:rPr>
              <a:t>presentational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</a:t>
            </a:r>
            <a:r>
              <a:rPr dirty="0" sz="1400" spc="-10">
                <a:latin typeface="Calibri"/>
                <a:cs typeface="Calibri"/>
              </a:rPr>
              <a:t>tate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T</a:t>
            </a:r>
            <a:r>
              <a:rPr dirty="0" sz="1400" spc="-10">
                <a:latin typeface="Calibri"/>
                <a:cs typeface="Calibri"/>
              </a:rPr>
              <a:t>ransfer(REST)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lightweight</a:t>
            </a:r>
            <a:endParaRPr sz="1400">
              <a:latin typeface="Calibri"/>
              <a:cs typeface="Calibri"/>
            </a:endParaRPr>
          </a:p>
          <a:p>
            <a:pPr algn="r" marR="32384">
              <a:lnSpc>
                <a:spcPts val="1595"/>
              </a:lnSpc>
            </a:pPr>
            <a:r>
              <a:rPr dirty="0" sz="1400">
                <a:latin typeface="Calibri"/>
                <a:cs typeface="Calibri"/>
              </a:rPr>
              <a:t>approach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communicating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between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applications.</a:t>
            </a:r>
            <a:endParaRPr sz="1400">
              <a:latin typeface="Calibri"/>
              <a:cs typeface="Calibri"/>
            </a:endParaRPr>
          </a:p>
          <a:p>
            <a:pPr algn="just" marL="125730" marR="5080" indent="-113664">
              <a:lnSpc>
                <a:spcPts val="1510"/>
              </a:lnSpc>
              <a:spcBef>
                <a:spcPts val="53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REST</a:t>
            </a:r>
            <a:r>
              <a:rPr dirty="0" sz="1400" spc="1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APIs</a:t>
            </a:r>
            <a:r>
              <a:rPr dirty="0" sz="1400" spc="1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enable</a:t>
            </a:r>
            <a:r>
              <a:rPr dirty="0" sz="1400" spc="1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you</a:t>
            </a:r>
            <a:r>
              <a:rPr dirty="0" sz="1400" spc="1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1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develop</a:t>
            </a:r>
            <a:r>
              <a:rPr dirty="0" sz="1400" spc="1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all</a:t>
            </a:r>
            <a:r>
              <a:rPr dirty="0" sz="1400" spc="1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kinds</a:t>
            </a:r>
            <a:r>
              <a:rPr dirty="0" sz="1400" spc="1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15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web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applications</a:t>
            </a:r>
            <a:r>
              <a:rPr dirty="0" sz="1400" spc="17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having</a:t>
            </a:r>
            <a:r>
              <a:rPr dirty="0" sz="1400" spc="16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all</a:t>
            </a:r>
            <a:r>
              <a:rPr dirty="0" sz="1400" spc="16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possible</a:t>
            </a:r>
            <a:r>
              <a:rPr dirty="0" sz="1400" spc="16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CRUD</a:t>
            </a:r>
            <a:r>
              <a:rPr dirty="0" sz="1400" spc="165">
                <a:latin typeface="Calibri"/>
                <a:cs typeface="Calibri"/>
              </a:rPr>
              <a:t>  </a:t>
            </a:r>
            <a:r>
              <a:rPr dirty="0" sz="1400" spc="-10">
                <a:latin typeface="Calibri"/>
                <a:cs typeface="Calibri"/>
              </a:rPr>
              <a:t>(</a:t>
            </a:r>
            <a:r>
              <a:rPr dirty="0" sz="1400" spc="-10" b="1">
                <a:latin typeface="Calibri"/>
                <a:cs typeface="Calibri"/>
              </a:rPr>
              <a:t>C</a:t>
            </a:r>
            <a:r>
              <a:rPr dirty="0" sz="1400" spc="-10">
                <a:latin typeface="Calibri"/>
                <a:cs typeface="Calibri"/>
              </a:rPr>
              <a:t>reate,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 spc="-10" b="1">
                <a:latin typeface="Calibri"/>
                <a:cs typeface="Calibri"/>
              </a:rPr>
              <a:t>R</a:t>
            </a:r>
            <a:r>
              <a:rPr dirty="0" sz="1400" spc="-10">
                <a:latin typeface="Calibri"/>
                <a:cs typeface="Calibri"/>
              </a:rPr>
              <a:t>etrieve,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U</a:t>
            </a:r>
            <a:r>
              <a:rPr dirty="0" sz="1400">
                <a:latin typeface="Calibri"/>
                <a:cs typeface="Calibri"/>
              </a:rPr>
              <a:t>pdate,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D</a:t>
            </a:r>
            <a:r>
              <a:rPr dirty="0" sz="1400" spc="-10">
                <a:latin typeface="Calibri"/>
                <a:cs typeface="Calibri"/>
              </a:rPr>
              <a:t>elete)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operations.</a:t>
            </a:r>
            <a:endParaRPr sz="1400">
              <a:latin typeface="Calibri"/>
              <a:cs typeface="Calibri"/>
            </a:endParaRPr>
          </a:p>
          <a:p>
            <a:pPr algn="just" marL="126364" indent="-113664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latin typeface="Calibri"/>
                <a:cs typeface="Calibri"/>
              </a:rPr>
              <a:t>Characteristics:</a:t>
            </a:r>
            <a:endParaRPr sz="14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Language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independent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10">
                <a:latin typeface="Calibri"/>
                <a:cs typeface="Calibri"/>
              </a:rPr>
              <a:t>Platform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independent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format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(XML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JSON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common).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44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15569" y="2647060"/>
            <a:ext cx="1040130" cy="362585"/>
            <a:chOff x="615569" y="2647060"/>
            <a:chExt cx="1040130" cy="362585"/>
          </a:xfrm>
        </p:grpSpPr>
        <p:sp>
          <p:nvSpPr>
            <p:cNvPr id="6" name="object 6" descr=""/>
            <p:cNvSpPr/>
            <p:nvPr/>
          </p:nvSpPr>
          <p:spPr>
            <a:xfrm>
              <a:off x="618744" y="2650235"/>
              <a:ext cx="1033780" cy="320040"/>
            </a:xfrm>
            <a:custGeom>
              <a:avLst/>
              <a:gdLst/>
              <a:ahLst/>
              <a:cxnLst/>
              <a:rect l="l" t="t" r="r" b="b"/>
              <a:pathLst>
                <a:path w="1033780" h="320039">
                  <a:moveTo>
                    <a:pt x="0" y="53339"/>
                  </a:moveTo>
                  <a:lnTo>
                    <a:pt x="4191" y="32575"/>
                  </a:lnTo>
                  <a:lnTo>
                    <a:pt x="15621" y="15621"/>
                  </a:lnTo>
                  <a:lnTo>
                    <a:pt x="32575" y="4191"/>
                  </a:lnTo>
                  <a:lnTo>
                    <a:pt x="53339" y="0"/>
                  </a:lnTo>
                  <a:lnTo>
                    <a:pt x="979932" y="0"/>
                  </a:lnTo>
                  <a:lnTo>
                    <a:pt x="1000696" y="4190"/>
                  </a:lnTo>
                  <a:lnTo>
                    <a:pt x="1017651" y="15620"/>
                  </a:lnTo>
                  <a:lnTo>
                    <a:pt x="1029081" y="32575"/>
                  </a:lnTo>
                  <a:lnTo>
                    <a:pt x="1033272" y="53339"/>
                  </a:lnTo>
                  <a:lnTo>
                    <a:pt x="1033272" y="266700"/>
                  </a:lnTo>
                  <a:lnTo>
                    <a:pt x="1029081" y="287464"/>
                  </a:lnTo>
                  <a:lnTo>
                    <a:pt x="1017651" y="304418"/>
                  </a:lnTo>
                  <a:lnTo>
                    <a:pt x="1000696" y="315848"/>
                  </a:lnTo>
                  <a:lnTo>
                    <a:pt x="979932" y="320039"/>
                  </a:lnTo>
                  <a:lnTo>
                    <a:pt x="53339" y="320039"/>
                  </a:lnTo>
                  <a:lnTo>
                    <a:pt x="32575" y="315849"/>
                  </a:lnTo>
                  <a:lnTo>
                    <a:pt x="15620" y="304419"/>
                  </a:lnTo>
                  <a:lnTo>
                    <a:pt x="4190" y="287464"/>
                  </a:lnTo>
                  <a:lnTo>
                    <a:pt x="0" y="266700"/>
                  </a:lnTo>
                  <a:lnTo>
                    <a:pt x="0" y="53339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3524" y="2670035"/>
              <a:ext cx="741426" cy="339102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853186" y="2697606"/>
            <a:ext cx="5651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471C4"/>
                </a:solidFill>
                <a:latin typeface="Calibri"/>
                <a:cs typeface="Calibri"/>
              </a:rPr>
              <a:t>REST</a:t>
            </a:r>
            <a:r>
              <a:rPr dirty="0" sz="1200" spc="-4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471C4"/>
                </a:solidFill>
                <a:latin typeface="Calibri"/>
                <a:cs typeface="Calibri"/>
              </a:rPr>
              <a:t>API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718945" y="2613659"/>
            <a:ext cx="1040130" cy="438150"/>
            <a:chOff x="1718945" y="2613659"/>
            <a:chExt cx="1040130" cy="438150"/>
          </a:xfrm>
        </p:grpSpPr>
        <p:sp>
          <p:nvSpPr>
            <p:cNvPr id="10" name="object 10" descr=""/>
            <p:cNvSpPr/>
            <p:nvPr/>
          </p:nvSpPr>
          <p:spPr>
            <a:xfrm>
              <a:off x="1722120" y="2650235"/>
              <a:ext cx="1033780" cy="320040"/>
            </a:xfrm>
            <a:custGeom>
              <a:avLst/>
              <a:gdLst/>
              <a:ahLst/>
              <a:cxnLst/>
              <a:rect l="l" t="t" r="r" b="b"/>
              <a:pathLst>
                <a:path w="1033780" h="320039">
                  <a:moveTo>
                    <a:pt x="0" y="53339"/>
                  </a:moveTo>
                  <a:lnTo>
                    <a:pt x="4191" y="32575"/>
                  </a:lnTo>
                  <a:lnTo>
                    <a:pt x="15621" y="15621"/>
                  </a:lnTo>
                  <a:lnTo>
                    <a:pt x="32575" y="4191"/>
                  </a:lnTo>
                  <a:lnTo>
                    <a:pt x="53340" y="0"/>
                  </a:lnTo>
                  <a:lnTo>
                    <a:pt x="979932" y="0"/>
                  </a:lnTo>
                  <a:lnTo>
                    <a:pt x="1000696" y="4190"/>
                  </a:lnTo>
                  <a:lnTo>
                    <a:pt x="1017650" y="15620"/>
                  </a:lnTo>
                  <a:lnTo>
                    <a:pt x="1029080" y="32575"/>
                  </a:lnTo>
                  <a:lnTo>
                    <a:pt x="1033271" y="53339"/>
                  </a:lnTo>
                  <a:lnTo>
                    <a:pt x="1033271" y="266700"/>
                  </a:lnTo>
                  <a:lnTo>
                    <a:pt x="1029081" y="287464"/>
                  </a:lnTo>
                  <a:lnTo>
                    <a:pt x="1017651" y="304418"/>
                  </a:lnTo>
                  <a:lnTo>
                    <a:pt x="1000696" y="315848"/>
                  </a:lnTo>
                  <a:lnTo>
                    <a:pt x="979932" y="320039"/>
                  </a:lnTo>
                  <a:lnTo>
                    <a:pt x="53340" y="320039"/>
                  </a:lnTo>
                  <a:lnTo>
                    <a:pt x="32575" y="315849"/>
                  </a:lnTo>
                  <a:lnTo>
                    <a:pt x="15620" y="304419"/>
                  </a:lnTo>
                  <a:lnTo>
                    <a:pt x="4190" y="287464"/>
                  </a:lnTo>
                  <a:lnTo>
                    <a:pt x="0" y="266700"/>
                  </a:lnTo>
                  <a:lnTo>
                    <a:pt x="0" y="53339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28444" y="2613659"/>
              <a:ext cx="418337" cy="28575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0512" y="2766059"/>
              <a:ext cx="889253" cy="285750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885314" y="2638170"/>
            <a:ext cx="70929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solidFill>
                  <a:srgbClr val="4471C4"/>
                </a:solidFill>
                <a:latin typeface="Calibri"/>
                <a:cs typeface="Calibri"/>
              </a:rPr>
              <a:t>REST</a:t>
            </a:r>
            <a:endParaRPr sz="1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000" spc="-10">
                <a:solidFill>
                  <a:srgbClr val="4471C4"/>
                </a:solidFill>
                <a:latin typeface="Calibri"/>
                <a:cs typeface="Calibri"/>
              </a:rPr>
              <a:t>Web</a:t>
            </a:r>
            <a:r>
              <a:rPr dirty="0" sz="1000" spc="-3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4471C4"/>
                </a:solidFill>
                <a:latin typeface="Calibri"/>
                <a:cs typeface="Calibri"/>
              </a:rPr>
              <a:t>Services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823845" y="2647060"/>
            <a:ext cx="1038225" cy="328930"/>
            <a:chOff x="2823845" y="2647060"/>
            <a:chExt cx="1038225" cy="328930"/>
          </a:xfrm>
        </p:grpSpPr>
        <p:sp>
          <p:nvSpPr>
            <p:cNvPr id="15" name="object 15" descr=""/>
            <p:cNvSpPr/>
            <p:nvPr/>
          </p:nvSpPr>
          <p:spPr>
            <a:xfrm>
              <a:off x="2827020" y="2650235"/>
              <a:ext cx="1031875" cy="320040"/>
            </a:xfrm>
            <a:custGeom>
              <a:avLst/>
              <a:gdLst/>
              <a:ahLst/>
              <a:cxnLst/>
              <a:rect l="l" t="t" r="r" b="b"/>
              <a:pathLst>
                <a:path w="1031875" h="320039">
                  <a:moveTo>
                    <a:pt x="0" y="53339"/>
                  </a:moveTo>
                  <a:lnTo>
                    <a:pt x="4190" y="32575"/>
                  </a:lnTo>
                  <a:lnTo>
                    <a:pt x="15620" y="15621"/>
                  </a:lnTo>
                  <a:lnTo>
                    <a:pt x="32575" y="4191"/>
                  </a:lnTo>
                  <a:lnTo>
                    <a:pt x="53339" y="0"/>
                  </a:lnTo>
                  <a:lnTo>
                    <a:pt x="978407" y="0"/>
                  </a:lnTo>
                  <a:lnTo>
                    <a:pt x="999172" y="4190"/>
                  </a:lnTo>
                  <a:lnTo>
                    <a:pt x="1016126" y="15620"/>
                  </a:lnTo>
                  <a:lnTo>
                    <a:pt x="1027556" y="32575"/>
                  </a:lnTo>
                  <a:lnTo>
                    <a:pt x="1031747" y="53339"/>
                  </a:lnTo>
                  <a:lnTo>
                    <a:pt x="1031747" y="266700"/>
                  </a:lnTo>
                  <a:lnTo>
                    <a:pt x="1027556" y="287464"/>
                  </a:lnTo>
                  <a:lnTo>
                    <a:pt x="1016126" y="304418"/>
                  </a:lnTo>
                  <a:lnTo>
                    <a:pt x="999172" y="315848"/>
                  </a:lnTo>
                  <a:lnTo>
                    <a:pt x="978407" y="320039"/>
                  </a:lnTo>
                  <a:lnTo>
                    <a:pt x="53339" y="320039"/>
                  </a:lnTo>
                  <a:lnTo>
                    <a:pt x="32575" y="315849"/>
                  </a:lnTo>
                  <a:lnTo>
                    <a:pt x="15621" y="304419"/>
                  </a:lnTo>
                  <a:lnTo>
                    <a:pt x="4191" y="287464"/>
                  </a:lnTo>
                  <a:lnTo>
                    <a:pt x="0" y="266700"/>
                  </a:lnTo>
                  <a:lnTo>
                    <a:pt x="0" y="53339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94076" y="2689859"/>
              <a:ext cx="928877" cy="285750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2969514" y="2714370"/>
            <a:ext cx="7486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4471C4"/>
                </a:solidFill>
                <a:latin typeface="Calibri"/>
                <a:cs typeface="Calibri"/>
              </a:rPr>
              <a:t>REST</a:t>
            </a:r>
            <a:r>
              <a:rPr dirty="0" sz="1000" spc="185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4471C4"/>
                </a:solidFill>
                <a:latin typeface="Calibri"/>
                <a:cs typeface="Calibri"/>
              </a:rPr>
              <a:t>Services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15569" y="3069208"/>
            <a:ext cx="1040130" cy="360045"/>
            <a:chOff x="615569" y="3069208"/>
            <a:chExt cx="1040130" cy="360045"/>
          </a:xfrm>
        </p:grpSpPr>
        <p:sp>
          <p:nvSpPr>
            <p:cNvPr id="19" name="object 19" descr=""/>
            <p:cNvSpPr/>
            <p:nvPr/>
          </p:nvSpPr>
          <p:spPr>
            <a:xfrm>
              <a:off x="618744" y="3072383"/>
              <a:ext cx="1033780" cy="320040"/>
            </a:xfrm>
            <a:custGeom>
              <a:avLst/>
              <a:gdLst/>
              <a:ahLst/>
              <a:cxnLst/>
              <a:rect l="l" t="t" r="r" b="b"/>
              <a:pathLst>
                <a:path w="1033780" h="320039">
                  <a:moveTo>
                    <a:pt x="0" y="53339"/>
                  </a:moveTo>
                  <a:lnTo>
                    <a:pt x="4191" y="32575"/>
                  </a:lnTo>
                  <a:lnTo>
                    <a:pt x="15621" y="15621"/>
                  </a:lnTo>
                  <a:lnTo>
                    <a:pt x="32575" y="4191"/>
                  </a:lnTo>
                  <a:lnTo>
                    <a:pt x="53339" y="0"/>
                  </a:lnTo>
                  <a:lnTo>
                    <a:pt x="979932" y="0"/>
                  </a:lnTo>
                  <a:lnTo>
                    <a:pt x="1000696" y="4190"/>
                  </a:lnTo>
                  <a:lnTo>
                    <a:pt x="1017651" y="15620"/>
                  </a:lnTo>
                  <a:lnTo>
                    <a:pt x="1029081" y="32575"/>
                  </a:lnTo>
                  <a:lnTo>
                    <a:pt x="1033272" y="53339"/>
                  </a:lnTo>
                  <a:lnTo>
                    <a:pt x="1033272" y="266700"/>
                  </a:lnTo>
                  <a:lnTo>
                    <a:pt x="1029081" y="287464"/>
                  </a:lnTo>
                  <a:lnTo>
                    <a:pt x="1017651" y="304418"/>
                  </a:lnTo>
                  <a:lnTo>
                    <a:pt x="1000696" y="315848"/>
                  </a:lnTo>
                  <a:lnTo>
                    <a:pt x="979932" y="320039"/>
                  </a:lnTo>
                  <a:lnTo>
                    <a:pt x="53339" y="320039"/>
                  </a:lnTo>
                  <a:lnTo>
                    <a:pt x="32575" y="315849"/>
                  </a:lnTo>
                  <a:lnTo>
                    <a:pt x="15620" y="304419"/>
                  </a:lnTo>
                  <a:lnTo>
                    <a:pt x="4190" y="287464"/>
                  </a:lnTo>
                  <a:lnTo>
                    <a:pt x="0" y="266700"/>
                  </a:lnTo>
                  <a:lnTo>
                    <a:pt x="0" y="53339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2752" y="3090659"/>
              <a:ext cx="902969" cy="338340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772413" y="3119119"/>
            <a:ext cx="726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471C4"/>
                </a:solidFill>
                <a:latin typeface="Calibri"/>
                <a:cs typeface="Calibri"/>
              </a:rPr>
              <a:t>RESTful</a:t>
            </a:r>
            <a:r>
              <a:rPr dirty="0" sz="1200" spc="-45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4471C4"/>
                </a:solidFill>
                <a:latin typeface="Calibri"/>
                <a:cs typeface="Calibri"/>
              </a:rPr>
              <a:t>API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718945" y="3035807"/>
            <a:ext cx="1040130" cy="393700"/>
            <a:chOff x="1718945" y="3035807"/>
            <a:chExt cx="1040130" cy="393700"/>
          </a:xfrm>
        </p:grpSpPr>
        <p:sp>
          <p:nvSpPr>
            <p:cNvPr id="23" name="object 23" descr=""/>
            <p:cNvSpPr/>
            <p:nvPr/>
          </p:nvSpPr>
          <p:spPr>
            <a:xfrm>
              <a:off x="1722120" y="3072383"/>
              <a:ext cx="1033780" cy="320040"/>
            </a:xfrm>
            <a:custGeom>
              <a:avLst/>
              <a:gdLst/>
              <a:ahLst/>
              <a:cxnLst/>
              <a:rect l="l" t="t" r="r" b="b"/>
              <a:pathLst>
                <a:path w="1033780" h="320039">
                  <a:moveTo>
                    <a:pt x="0" y="53339"/>
                  </a:moveTo>
                  <a:lnTo>
                    <a:pt x="4191" y="32575"/>
                  </a:lnTo>
                  <a:lnTo>
                    <a:pt x="15621" y="15621"/>
                  </a:lnTo>
                  <a:lnTo>
                    <a:pt x="32575" y="4191"/>
                  </a:lnTo>
                  <a:lnTo>
                    <a:pt x="53340" y="0"/>
                  </a:lnTo>
                  <a:lnTo>
                    <a:pt x="979932" y="0"/>
                  </a:lnTo>
                  <a:lnTo>
                    <a:pt x="1000696" y="4190"/>
                  </a:lnTo>
                  <a:lnTo>
                    <a:pt x="1017650" y="15620"/>
                  </a:lnTo>
                  <a:lnTo>
                    <a:pt x="1029080" y="32575"/>
                  </a:lnTo>
                  <a:lnTo>
                    <a:pt x="1033271" y="53339"/>
                  </a:lnTo>
                  <a:lnTo>
                    <a:pt x="1033271" y="266700"/>
                  </a:lnTo>
                  <a:lnTo>
                    <a:pt x="1029081" y="287464"/>
                  </a:lnTo>
                  <a:lnTo>
                    <a:pt x="1017651" y="304418"/>
                  </a:lnTo>
                  <a:lnTo>
                    <a:pt x="1000696" y="315848"/>
                  </a:lnTo>
                  <a:lnTo>
                    <a:pt x="979932" y="320039"/>
                  </a:lnTo>
                  <a:lnTo>
                    <a:pt x="53340" y="320039"/>
                  </a:lnTo>
                  <a:lnTo>
                    <a:pt x="32575" y="315849"/>
                  </a:lnTo>
                  <a:lnTo>
                    <a:pt x="15620" y="304419"/>
                  </a:lnTo>
                  <a:lnTo>
                    <a:pt x="4190" y="287464"/>
                  </a:lnTo>
                  <a:lnTo>
                    <a:pt x="0" y="266700"/>
                  </a:lnTo>
                  <a:lnTo>
                    <a:pt x="0" y="53339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61388" y="3035807"/>
              <a:ext cx="552437" cy="285750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10512" y="3188195"/>
              <a:ext cx="889253" cy="240804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1885314" y="3059683"/>
            <a:ext cx="70929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50495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4471C4"/>
                </a:solidFill>
                <a:latin typeface="Calibri"/>
                <a:cs typeface="Calibri"/>
              </a:rPr>
              <a:t>RESTful Web</a:t>
            </a:r>
            <a:r>
              <a:rPr dirty="0" sz="1000" spc="-3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4471C4"/>
                </a:solidFill>
                <a:latin typeface="Calibri"/>
                <a:cs typeface="Calibri"/>
              </a:rPr>
              <a:t>Services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27" name="object 2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23845" y="3069208"/>
            <a:ext cx="1064640" cy="328549"/>
          </a:xfrm>
          <a:prstGeom prst="rect">
            <a:avLst/>
          </a:prstGeom>
        </p:spPr>
      </p:pic>
      <p:sp>
        <p:nvSpPr>
          <p:cNvPr id="28" name="object 28" descr=""/>
          <p:cNvSpPr txBox="1"/>
          <p:nvPr/>
        </p:nvSpPr>
        <p:spPr>
          <a:xfrm>
            <a:off x="2900933" y="3135883"/>
            <a:ext cx="883919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4471C4"/>
                </a:solidFill>
                <a:latin typeface="Calibri"/>
                <a:cs typeface="Calibri"/>
              </a:rPr>
              <a:t>RESTful</a:t>
            </a:r>
            <a:r>
              <a:rPr dirty="0" sz="1000" spc="185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4471C4"/>
                </a:solidFill>
                <a:latin typeface="Calibri"/>
                <a:cs typeface="Calibri"/>
              </a:rPr>
              <a:t>Services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" y="117728"/>
            <a:ext cx="1784985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REST</a:t>
            </a:r>
            <a:r>
              <a:rPr dirty="0" spc="-60"/>
              <a:t> </a:t>
            </a:r>
            <a:r>
              <a:rPr dirty="0"/>
              <a:t>over</a:t>
            </a:r>
            <a:r>
              <a:rPr dirty="0" spc="-45"/>
              <a:t> </a:t>
            </a:r>
            <a:r>
              <a:rPr dirty="0" spc="-20"/>
              <a:t>HTTP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08177"/>
            <a:ext cx="3877310" cy="81661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REST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HTTP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methods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communication.</a:t>
            </a:r>
            <a:endParaRPr sz="1400">
              <a:latin typeface="Calibri"/>
              <a:cs typeface="Calibri"/>
            </a:endParaRPr>
          </a:p>
          <a:p>
            <a:pPr lvl="1" marL="355600" marR="5080" indent="-114300">
              <a:lnSpc>
                <a:spcPts val="1300"/>
              </a:lnSpc>
              <a:spcBef>
                <a:spcPts val="28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HTTP</a:t>
            </a:r>
            <a:r>
              <a:rPr dirty="0" sz="1200" spc="10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methods: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FAC46"/>
                </a:solidFill>
                <a:latin typeface="Calibri"/>
                <a:cs typeface="Calibri"/>
              </a:rPr>
              <a:t>GET,</a:t>
            </a:r>
            <a:r>
              <a:rPr dirty="0" sz="1200" spc="85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6FAC46"/>
                </a:solidFill>
                <a:latin typeface="Calibri"/>
                <a:cs typeface="Calibri"/>
              </a:rPr>
              <a:t>POST,</a:t>
            </a:r>
            <a:r>
              <a:rPr dirty="0" sz="1200" spc="95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FAC46"/>
                </a:solidFill>
                <a:latin typeface="Calibri"/>
                <a:cs typeface="Calibri"/>
              </a:rPr>
              <a:t>PUT,</a:t>
            </a:r>
            <a:r>
              <a:rPr dirty="0" sz="1200" spc="8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6FAC46"/>
                </a:solidFill>
                <a:latin typeface="Calibri"/>
                <a:cs typeface="Calibri"/>
              </a:rPr>
              <a:t>PATCH,</a:t>
            </a:r>
            <a:r>
              <a:rPr dirty="0" sz="1200" spc="10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FAC46"/>
                </a:solidFill>
                <a:latin typeface="Calibri"/>
                <a:cs typeface="Calibri"/>
              </a:rPr>
              <a:t>DELETE,</a:t>
            </a:r>
            <a:r>
              <a:rPr dirty="0" sz="1200" spc="85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6FAC46"/>
                </a:solidFill>
                <a:latin typeface="Calibri"/>
                <a:cs typeface="Calibri"/>
              </a:rPr>
              <a:t>HEAD, OPTIONS,</a:t>
            </a:r>
            <a:r>
              <a:rPr dirty="0" sz="1200" spc="-3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6FAC46"/>
                </a:solidFill>
                <a:latin typeface="Calibri"/>
                <a:cs typeface="Calibri"/>
              </a:rPr>
              <a:t>TRACE,</a:t>
            </a:r>
            <a:r>
              <a:rPr dirty="0" sz="1200" spc="-10">
                <a:solidFill>
                  <a:srgbClr val="6FAC46"/>
                </a:solidFill>
                <a:latin typeface="Calibri"/>
                <a:cs typeface="Calibri"/>
              </a:rPr>
              <a:t> CONNECT.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REST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methods: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30">
                <a:solidFill>
                  <a:srgbClr val="FF0000"/>
                </a:solidFill>
                <a:latin typeface="Calibri"/>
                <a:cs typeface="Calibri"/>
              </a:rPr>
              <a:t>POST,</a:t>
            </a:r>
            <a:r>
              <a:rPr dirty="0" sz="1200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40">
                <a:solidFill>
                  <a:srgbClr val="FF0000"/>
                </a:solidFill>
                <a:latin typeface="Calibri"/>
                <a:cs typeface="Calibri"/>
              </a:rPr>
              <a:t>GET,</a:t>
            </a: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30">
                <a:solidFill>
                  <a:srgbClr val="FF0000"/>
                </a:solidFill>
                <a:latin typeface="Calibri"/>
                <a:cs typeface="Calibri"/>
              </a:rPr>
              <a:t>PUT,</a:t>
            </a: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45">
                <a:solidFill>
                  <a:srgbClr val="FF0000"/>
                </a:solidFill>
                <a:latin typeface="Calibri"/>
                <a:cs typeface="Calibri"/>
              </a:rPr>
              <a:t>PATCH,</a:t>
            </a:r>
            <a:r>
              <a:rPr dirty="0" sz="1200" spc="-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DELETE.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7111" y="1458213"/>
          <a:ext cx="4498975" cy="18624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070"/>
                <a:gridCol w="3728720"/>
              </a:tblGrid>
              <a:tr h="21590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21B92"/>
                    </a:solidFill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9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Operation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3019">
                    <a:solidFill>
                      <a:srgbClr val="521B92"/>
                    </a:solidFill>
                  </a:tcPr>
                </a:tc>
              </a:tr>
              <a:tr h="30353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900" spc="-25" b="1">
                          <a:latin typeface="Courier New"/>
                          <a:cs typeface="Courier New"/>
                        </a:rPr>
                        <a:t>GET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17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Returns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a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representational</a:t>
                      </a:r>
                      <a:r>
                        <a:rPr dirty="0" sz="900" spc="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view of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resource's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contents</a:t>
                      </a:r>
                      <a:r>
                        <a:rPr dirty="0" sz="900" spc="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data.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7620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46379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900" spc="-20" b="1">
                          <a:latin typeface="Courier New"/>
                          <a:cs typeface="Courier New"/>
                        </a:rPr>
                        <a:t>POST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Primarily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operates</a:t>
                      </a:r>
                      <a:r>
                        <a:rPr dirty="0" sz="900" spc="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9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collections.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826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57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25" b="1">
                          <a:latin typeface="Courier New"/>
                          <a:cs typeface="Courier New"/>
                        </a:rPr>
                        <a:t>PUT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171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Updates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resource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u="sng" sz="900">
                          <a:uFill>
                            <a:solidFill>
                              <a:srgbClr val="000000"/>
                            </a:solidFill>
                          </a:uFill>
                          <a:latin typeface="Calibri"/>
                          <a:cs typeface="Calibri"/>
                        </a:rPr>
                        <a:t>replacing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its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content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entirely.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45720" marR="448945">
                        <a:lnSpc>
                          <a:spcPct val="100000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It's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possible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create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PUT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method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(</a:t>
                      </a:r>
                      <a:r>
                        <a:rPr dirty="0" sz="90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careful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: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creating</a:t>
                      </a:r>
                      <a:r>
                        <a:rPr dirty="0" sz="9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resource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without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intention.)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dirty="0" sz="900" spc="-10" b="1">
                          <a:latin typeface="Courier New"/>
                          <a:cs typeface="Courier New"/>
                        </a:rPr>
                        <a:t>PATCH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787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 marR="1797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modifies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contents. Attention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to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applying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PATCH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methods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whole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collection.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900" spc="-10" b="1">
                          <a:latin typeface="Courier New"/>
                          <a:cs typeface="Courier New"/>
                        </a:rPr>
                        <a:t>DELETE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800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 marR="191770">
                        <a:lnSpc>
                          <a:spcPct val="100000"/>
                        </a:lnSpc>
                        <a:spcBef>
                          <a:spcPts val="130"/>
                        </a:spcBef>
                        <a:tabLst>
                          <a:tab pos="3388995" algn="l"/>
                        </a:tabLst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DELETE</a:t>
                      </a:r>
                      <a:r>
                        <a:rPr dirty="0" sz="9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method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targets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single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resource,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removed</a:t>
                      </a:r>
                      <a:r>
                        <a:rPr dirty="0" sz="9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entirely.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(Avoid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DELETE</a:t>
                      </a:r>
                      <a:r>
                        <a:rPr dirty="0" sz="9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method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collection)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baseline="-18518" sz="900" spc="-37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45</a:t>
                      </a:r>
                      <a:endParaRPr baseline="-18518" sz="900">
                        <a:latin typeface="Calibri"/>
                        <a:cs typeface="Calibri"/>
                      </a:endParaRPr>
                    </a:p>
                  </a:txBody>
                  <a:tcPr marL="0" marR="0" marB="0" marT="165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 txBox="1"/>
          <p:nvPr/>
        </p:nvSpPr>
        <p:spPr>
          <a:xfrm>
            <a:off x="2319908" y="334136"/>
            <a:ext cx="21824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9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https://www.w3.org/Protocols/rfc2616/rfc261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u="sng" sz="9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6.txt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9484" y="3355466"/>
            <a:ext cx="4456430" cy="0"/>
          </a:xfrm>
          <a:custGeom>
            <a:avLst/>
            <a:gdLst/>
            <a:ahLst/>
            <a:cxnLst/>
            <a:rect l="l" t="t" r="r" b="b"/>
            <a:pathLst>
              <a:path w="4456430" h="0">
                <a:moveTo>
                  <a:pt x="0" y="0"/>
                </a:moveTo>
                <a:lnTo>
                  <a:pt x="4455845" y="0"/>
                </a:lnTo>
              </a:path>
            </a:pathLst>
          </a:custGeom>
          <a:ln w="3175">
            <a:solidFill>
              <a:srgbClr val="6F1594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-11887" y="0"/>
          <a:ext cx="4664075" cy="342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170"/>
                <a:gridCol w="497205"/>
                <a:gridCol w="803275"/>
                <a:gridCol w="1848485"/>
                <a:gridCol w="1322705"/>
              </a:tblGrid>
              <a:tr h="648335">
                <a:tc gridSpan="5">
                  <a:txBody>
                    <a:bodyPr/>
                    <a:lstStyle/>
                    <a:p>
                      <a:pPr marL="35941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2200" b="0">
                          <a:latin typeface="Calibri Light"/>
                          <a:cs typeface="Calibri Light"/>
                        </a:rPr>
                        <a:t>REST</a:t>
                      </a:r>
                      <a:r>
                        <a:rPr dirty="0" sz="2200" spc="-75" b="0"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2200" b="0">
                          <a:latin typeface="Calibri Light"/>
                          <a:cs typeface="Calibri Light"/>
                        </a:rPr>
                        <a:t>methods</a:t>
                      </a:r>
                      <a:r>
                        <a:rPr dirty="0" sz="2200" spc="-60" b="0">
                          <a:latin typeface="Calibri Light"/>
                          <a:cs typeface="Calibri Light"/>
                        </a:rPr>
                        <a:t> </a:t>
                      </a:r>
                      <a:r>
                        <a:rPr dirty="0" sz="2200" spc="-10" b="0">
                          <a:latin typeface="Calibri Light"/>
                          <a:cs typeface="Calibri Light"/>
                        </a:rPr>
                        <a:t>summary</a:t>
                      </a:r>
                      <a:endParaRPr sz="2200">
                        <a:latin typeface="Calibri Light"/>
                        <a:cs typeface="Calibri Light"/>
                      </a:endParaRPr>
                    </a:p>
                  </a:txBody>
                  <a:tcPr marL="0" marR="0" marB="0" marT="128905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81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 spc="-20" b="1">
                          <a:latin typeface="Calibri"/>
                          <a:cs typeface="Calibri"/>
                        </a:rPr>
                        <a:t>HTTP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8255">
                        <a:lnSpc>
                          <a:spcPts val="1055"/>
                        </a:lnSpc>
                      </a:pPr>
                      <a:r>
                        <a:rPr dirty="0" sz="900" spc="-10" b="1">
                          <a:latin typeface="Calibri"/>
                          <a:cs typeface="Calibri"/>
                        </a:rPr>
                        <a:t>Method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 spc="-20" b="1">
                          <a:latin typeface="Calibri"/>
                          <a:cs typeface="Calibri"/>
                        </a:rPr>
                        <a:t>CRUD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 spc="-10" b="1">
                          <a:latin typeface="Calibri"/>
                          <a:cs typeface="Calibri"/>
                        </a:rPr>
                        <a:t>Collection</a:t>
                      </a:r>
                      <a:r>
                        <a:rPr dirty="0" sz="900" spc="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 b="1"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9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b="1">
                          <a:latin typeface="Calibri"/>
                          <a:cs typeface="Calibri"/>
                        </a:rPr>
                        <a:t>(e.g.</a:t>
                      </a:r>
                      <a:r>
                        <a:rPr dirty="0" sz="900" spc="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 b="1">
                          <a:latin typeface="Calibri"/>
                          <a:cs typeface="Calibri"/>
                        </a:rPr>
                        <a:t>/users)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 b="1">
                          <a:latin typeface="Calibri"/>
                          <a:cs typeface="Calibri"/>
                        </a:rPr>
                        <a:t>Single</a:t>
                      </a:r>
                      <a:r>
                        <a:rPr dirty="0" sz="9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 b="1">
                          <a:latin typeface="Calibri"/>
                          <a:cs typeface="Calibri"/>
                        </a:rPr>
                        <a:t>Resouce</a:t>
                      </a:r>
                      <a:r>
                        <a:rPr dirty="0" sz="9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 b="1">
                          <a:latin typeface="Calibri"/>
                          <a:cs typeface="Calibri"/>
                        </a:rPr>
                        <a:t>(e.g.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8255">
                        <a:lnSpc>
                          <a:spcPts val="1055"/>
                        </a:lnSpc>
                      </a:pPr>
                      <a:r>
                        <a:rPr dirty="0" sz="900" spc="-10" b="1">
                          <a:latin typeface="Calibri"/>
                          <a:cs typeface="Calibri"/>
                        </a:rPr>
                        <a:t>/users/123)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 spc="-20" b="1">
                          <a:latin typeface="Calibri"/>
                          <a:cs typeface="Calibri"/>
                        </a:rPr>
                        <a:t>POST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Create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201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(Created),</a:t>
                      </a:r>
                      <a:r>
                        <a:rPr dirty="0" sz="9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‘Location’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header</a:t>
                      </a:r>
                      <a:r>
                        <a:rPr dirty="0" sz="9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with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Avoid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POST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on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0">
                          <a:latin typeface="Calibri"/>
                          <a:cs typeface="Calibri"/>
                        </a:rPr>
                        <a:t>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</a:tr>
              <a:tr h="2336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44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link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/users/{id}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containing</a:t>
                      </a:r>
                      <a:r>
                        <a:rPr dirty="0" sz="9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new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ID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44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single</a:t>
                      </a:r>
                      <a:r>
                        <a:rPr dirty="0" sz="9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resource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 spc="-25" b="1">
                          <a:latin typeface="Calibri"/>
                          <a:cs typeface="Calibri"/>
                        </a:rPr>
                        <a:t>GET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 spc="-20">
                          <a:latin typeface="Calibri"/>
                          <a:cs typeface="Calibri"/>
                        </a:rPr>
                        <a:t>Read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200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(OK),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list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users.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Use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pagination,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200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(OK),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single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user.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404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44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sorting,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filtering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navigate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big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44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(Not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Found), if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ID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found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295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19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lists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19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invalid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 spc="-25" b="1">
                          <a:latin typeface="Calibri"/>
                          <a:cs typeface="Calibri"/>
                        </a:rPr>
                        <a:t>PUT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Update/Replace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405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(Method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allowed),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unless</a:t>
                      </a:r>
                      <a:r>
                        <a:rPr dirty="0" sz="9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you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200 (OK)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or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204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(No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44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want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update every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resource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the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44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Content).</a:t>
                      </a:r>
                      <a:r>
                        <a:rPr dirty="0" sz="9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Use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404 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(Not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44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entire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collection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resource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44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Found),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if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ID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found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or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295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19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invalid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 spc="-10" b="1">
                          <a:latin typeface="Calibri"/>
                          <a:cs typeface="Calibri"/>
                        </a:rPr>
                        <a:t>PATCH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Partial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405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(Method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allowed),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unless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you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65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200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(OK) or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204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(No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44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Update/Modify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44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want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modify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collection itself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44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Content).</a:t>
                      </a:r>
                      <a:r>
                        <a:rPr dirty="0" sz="9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Use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404 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(Not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44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Found),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if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ID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found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or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1289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19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invalid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3175">
                      <a:solidFill>
                        <a:srgbClr val="6F1594"/>
                      </a:solidFill>
                      <a:prstDash val="solid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70"/>
                        </a:lnSpc>
                      </a:pPr>
                      <a:r>
                        <a:rPr dirty="0" sz="900" spc="-10" b="1">
                          <a:latin typeface="Calibri"/>
                          <a:cs typeface="Calibri"/>
                        </a:rPr>
                        <a:t>DELETE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70"/>
                        </a:lnSpc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Delete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70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405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(Method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allowed),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unless</a:t>
                      </a:r>
                      <a:r>
                        <a:rPr dirty="0" sz="9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you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070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200 (OK).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404 (Not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Found),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6F1594"/>
                      </a:solidFill>
                      <a:prstDash val="solid"/>
                    </a:lnT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44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want</a:t>
                      </a:r>
                      <a:r>
                        <a:rPr dirty="0" sz="9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delete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whole</a:t>
                      </a:r>
                      <a:r>
                        <a:rPr dirty="0" sz="9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collection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0">
                          <a:latin typeface="Calibri"/>
                          <a:cs typeface="Calibri"/>
                        </a:rPr>
                        <a:t>—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3175">
                      <a:solidFill>
                        <a:srgbClr val="6F159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944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if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ID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fou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3175">
                      <a:solidFill>
                        <a:srgbClr val="6F1594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</a:tr>
              <a:tr h="287655">
                <a:tc gridSpan="5">
                  <a:txBody>
                    <a:bodyPr/>
                    <a:lstStyle/>
                    <a:p>
                      <a:pPr marL="1399540">
                        <a:lnSpc>
                          <a:spcPts val="785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use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caution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algn="r" marR="342900">
                        <a:lnSpc>
                          <a:spcPts val="560"/>
                        </a:lnSpc>
                      </a:pPr>
                      <a:r>
                        <a:rPr dirty="0" sz="600" spc="-25">
                          <a:solidFill>
                            <a:srgbClr val="888888"/>
                          </a:solidFill>
                          <a:latin typeface="Calibri"/>
                          <a:cs typeface="Calibri"/>
                        </a:rPr>
                        <a:t>46</a:t>
                      </a:r>
                      <a:endParaRPr sz="6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Response</a:t>
            </a:r>
            <a:r>
              <a:rPr dirty="0" spc="-125"/>
              <a:t> </a:t>
            </a:r>
            <a:r>
              <a:rPr dirty="0" spc="-10"/>
              <a:t>status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25550"/>
            <a:ext cx="3879215" cy="88011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algn="just" marL="125730" marR="5080" indent="-113664">
              <a:lnSpc>
                <a:spcPct val="90100"/>
              </a:lnSpc>
              <a:spcBef>
                <a:spcPts val="270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400">
                <a:latin typeface="Calibri"/>
                <a:cs typeface="Calibri"/>
              </a:rPr>
              <a:t>HTTP</a:t>
            </a:r>
            <a:r>
              <a:rPr dirty="0" sz="1400" spc="3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response</a:t>
            </a:r>
            <a:r>
              <a:rPr dirty="0" sz="1400" spc="3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status</a:t>
            </a:r>
            <a:r>
              <a:rPr dirty="0" sz="1400" spc="3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codes</a:t>
            </a:r>
            <a:r>
              <a:rPr dirty="0" sz="1400" spc="3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indicate</a:t>
            </a:r>
            <a:r>
              <a:rPr dirty="0" sz="1400" spc="38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whether</a:t>
            </a:r>
            <a:r>
              <a:rPr dirty="0" sz="1400" spc="375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a </a:t>
            </a:r>
            <a:r>
              <a:rPr dirty="0" sz="1400" spc="-5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specific</a:t>
            </a:r>
            <a:r>
              <a:rPr dirty="0" sz="1400" spc="29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HTTP</a:t>
            </a:r>
            <a:r>
              <a:rPr dirty="0" sz="1400" spc="29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request</a:t>
            </a:r>
            <a:r>
              <a:rPr dirty="0" sz="1400" spc="29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has</a:t>
            </a:r>
            <a:r>
              <a:rPr dirty="0" sz="1400" spc="29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been</a:t>
            </a:r>
            <a:r>
              <a:rPr dirty="0" sz="1400" spc="295">
                <a:latin typeface="Calibri"/>
                <a:cs typeface="Calibri"/>
              </a:rPr>
              <a:t>  </a:t>
            </a:r>
            <a:r>
              <a:rPr dirty="0" sz="1400" spc="-10">
                <a:latin typeface="Calibri"/>
                <a:cs typeface="Calibri"/>
              </a:rPr>
              <a:t>successfully 	completed.</a:t>
            </a:r>
            <a:endParaRPr sz="1400">
              <a:latin typeface="Calibri"/>
              <a:cs typeface="Calibri"/>
            </a:endParaRPr>
          </a:p>
          <a:p>
            <a:pPr algn="just" marL="126364" indent="-113664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latin typeface="Calibri"/>
                <a:cs typeface="Calibri"/>
              </a:rPr>
              <a:t>Responses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grouped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five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classes: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47</a:t>
            </a:r>
            <a:endParaRPr sz="6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273811" y="1593468"/>
          <a:ext cx="4025900" cy="14535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2980"/>
                <a:gridCol w="2959735"/>
              </a:tblGrid>
              <a:tr h="198120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range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521B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Meaning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solidFill>
                      <a:srgbClr val="521B9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dirty="0" sz="1000" spc="-10" b="1">
                          <a:latin typeface="Courier New"/>
                          <a:cs typeface="Courier New"/>
                        </a:rPr>
                        <a:t>100-</a:t>
                      </a:r>
                      <a:r>
                        <a:rPr dirty="0" sz="1000" spc="-25" b="1">
                          <a:latin typeface="Courier New"/>
                          <a:cs typeface="Courier New"/>
                        </a:rPr>
                        <a:t>199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B="0" marT="266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000" b="1">
                          <a:latin typeface="Courier New"/>
                          <a:cs typeface="Courier New"/>
                        </a:rPr>
                        <a:t>Informational</a:t>
                      </a:r>
                      <a:r>
                        <a:rPr dirty="0" sz="1000" spc="-8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000" spc="-10" b="1">
                          <a:latin typeface="Courier New"/>
                          <a:cs typeface="Courier New"/>
                        </a:rPr>
                        <a:t>responses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B="0" marT="247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226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000" spc="-10" b="1">
                          <a:latin typeface="Courier New"/>
                          <a:cs typeface="Courier New"/>
                        </a:rPr>
                        <a:t>200-</a:t>
                      </a:r>
                      <a:r>
                        <a:rPr dirty="0" sz="1000" spc="-25" b="1">
                          <a:latin typeface="Courier New"/>
                          <a:cs typeface="Courier New"/>
                        </a:rPr>
                        <a:t>299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000" b="1">
                          <a:latin typeface="Courier New"/>
                          <a:cs typeface="Courier New"/>
                        </a:rPr>
                        <a:t>Successful</a:t>
                      </a:r>
                      <a:r>
                        <a:rPr dirty="0" sz="10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000" spc="-10" b="1">
                          <a:latin typeface="Courier New"/>
                          <a:cs typeface="Courier New"/>
                        </a:rPr>
                        <a:t>responses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000" spc="-10" b="1">
                          <a:latin typeface="Courier New"/>
                          <a:cs typeface="Courier New"/>
                        </a:rPr>
                        <a:t>300-</a:t>
                      </a:r>
                      <a:r>
                        <a:rPr dirty="0" sz="1000" spc="-25" b="1">
                          <a:latin typeface="Courier New"/>
                          <a:cs typeface="Courier New"/>
                        </a:rPr>
                        <a:t>399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000" b="1">
                          <a:latin typeface="Courier New"/>
                          <a:cs typeface="Courier New"/>
                        </a:rPr>
                        <a:t>Redirection</a:t>
                      </a:r>
                      <a:r>
                        <a:rPr dirty="0" sz="1000" spc="-70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000" spc="-10" b="1">
                          <a:latin typeface="Courier New"/>
                          <a:cs typeface="Courier New"/>
                        </a:rPr>
                        <a:t>message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96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000" spc="-10" b="1">
                          <a:latin typeface="Courier New"/>
                          <a:cs typeface="Courier New"/>
                        </a:rPr>
                        <a:t>400-</a:t>
                      </a:r>
                      <a:r>
                        <a:rPr dirty="0" sz="1000" spc="-25" b="1">
                          <a:latin typeface="Courier New"/>
                          <a:cs typeface="Courier New"/>
                        </a:rPr>
                        <a:t>499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000" b="1">
                          <a:latin typeface="Courier New"/>
                          <a:cs typeface="Courier New"/>
                        </a:rPr>
                        <a:t>Client</a:t>
                      </a:r>
                      <a:r>
                        <a:rPr dirty="0" sz="10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000" b="1">
                          <a:latin typeface="Courier New"/>
                          <a:cs typeface="Courier New"/>
                        </a:rPr>
                        <a:t>error</a:t>
                      </a:r>
                      <a:r>
                        <a:rPr dirty="0" sz="10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000" spc="-10" b="1">
                          <a:latin typeface="Courier New"/>
                          <a:cs typeface="Courier New"/>
                        </a:rPr>
                        <a:t>responses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B="0" marT="2603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7965"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000" spc="-10" b="1">
                          <a:latin typeface="Courier New"/>
                          <a:cs typeface="Courier New"/>
                        </a:rPr>
                        <a:t>500-</a:t>
                      </a:r>
                      <a:r>
                        <a:rPr dirty="0" sz="1000" spc="-25" b="1">
                          <a:latin typeface="Courier New"/>
                          <a:cs typeface="Courier New"/>
                        </a:rPr>
                        <a:t>599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B="0" marT="247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000" b="1">
                          <a:latin typeface="Courier New"/>
                          <a:cs typeface="Courier New"/>
                        </a:rPr>
                        <a:t>Server</a:t>
                      </a:r>
                      <a:r>
                        <a:rPr dirty="0" sz="10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000" b="1">
                          <a:latin typeface="Courier New"/>
                          <a:cs typeface="Courier New"/>
                        </a:rPr>
                        <a:t>error</a:t>
                      </a:r>
                      <a:r>
                        <a:rPr dirty="0" sz="1000" spc="-35" b="1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000" spc="-10" b="1">
                          <a:latin typeface="Courier New"/>
                          <a:cs typeface="Courier New"/>
                        </a:rPr>
                        <a:t>responses</a:t>
                      </a:r>
                      <a:endParaRPr sz="1000">
                        <a:latin typeface="Courier New"/>
                        <a:cs typeface="Courier New"/>
                      </a:endParaRPr>
                    </a:p>
                  </a:txBody>
                  <a:tcPr marL="0" marR="0" marB="0" marT="247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732281" y="3136188"/>
            <a:ext cx="28238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900" spc="-2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https://developer.mozilla.org/en-</a:t>
            </a:r>
            <a:r>
              <a:rPr dirty="0" u="sng" sz="9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US/docs/Web/HTTP/Status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Spring</a:t>
            </a:r>
            <a:r>
              <a:rPr dirty="0" spc="-60"/>
              <a:t> </a:t>
            </a:r>
            <a:r>
              <a:rPr dirty="0"/>
              <a:t>Data</a:t>
            </a:r>
            <a:r>
              <a:rPr dirty="0" spc="-50"/>
              <a:t> </a:t>
            </a:r>
            <a:r>
              <a:rPr dirty="0"/>
              <a:t>REST</a:t>
            </a:r>
            <a:r>
              <a:rPr dirty="0" spc="-90"/>
              <a:t> </a:t>
            </a:r>
            <a:r>
              <a:rPr dirty="0" spc="-20"/>
              <a:t>-</a:t>
            </a: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25220"/>
            <a:ext cx="38773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8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REST</a:t>
            </a:r>
            <a:r>
              <a:rPr dirty="0" sz="1400" spc="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8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itself</a:t>
            </a:r>
            <a:r>
              <a:rPr dirty="0" sz="1400" spc="8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8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MVC</a:t>
            </a:r>
            <a:r>
              <a:rPr dirty="0" sz="1400" spc="9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application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62152" y="1009649"/>
            <a:ext cx="25273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9475" algn="l"/>
                <a:tab pos="1419225" algn="l"/>
                <a:tab pos="1964689" algn="l"/>
              </a:tabLst>
            </a:pPr>
            <a:r>
              <a:rPr dirty="0" sz="1400" spc="-10">
                <a:latin typeface="Calibri"/>
                <a:cs typeface="Calibri"/>
              </a:rPr>
              <a:t>integrate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20">
                <a:latin typeface="Calibri"/>
                <a:cs typeface="Calibri"/>
              </a:rPr>
              <a:t>with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20">
                <a:latin typeface="Calibri"/>
                <a:cs typeface="Calibri"/>
              </a:rPr>
              <a:t>your</a:t>
            </a:r>
            <a:r>
              <a:rPr dirty="0" sz="1400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existing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2152" y="816939"/>
            <a:ext cx="3199765" cy="43243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35560">
              <a:lnSpc>
                <a:spcPts val="1600"/>
              </a:lnSpc>
              <a:spcBef>
                <a:spcPts val="105"/>
              </a:spcBef>
            </a:pP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4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9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designed</a:t>
            </a:r>
            <a:r>
              <a:rPr dirty="0" sz="1400" spc="9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9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such</a:t>
            </a:r>
            <a:r>
              <a:rPr dirty="0" sz="1400" spc="9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9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way</a:t>
            </a:r>
            <a:r>
              <a:rPr dirty="0" sz="1400" spc="9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95">
                <a:latin typeface="Calibri"/>
                <a:cs typeface="Calibri"/>
              </a:rPr>
              <a:t>  </a:t>
            </a:r>
            <a:r>
              <a:rPr dirty="0" sz="1400" spc="-25">
                <a:latin typeface="Calibri"/>
                <a:cs typeface="Calibri"/>
              </a:rPr>
              <a:t>it</a:t>
            </a:r>
            <a:endParaRPr sz="1400">
              <a:latin typeface="Calibri"/>
              <a:cs typeface="Calibri"/>
            </a:endParaRPr>
          </a:p>
          <a:p>
            <a:pPr algn="r" marR="5080">
              <a:lnSpc>
                <a:spcPts val="1600"/>
              </a:lnSpc>
            </a:pPr>
            <a:r>
              <a:rPr dirty="0" sz="1400" spc="-10">
                <a:latin typeface="Calibri"/>
                <a:cs typeface="Calibri"/>
              </a:rPr>
              <a:t>Spring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713479" y="816939"/>
            <a:ext cx="512445" cy="43243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600"/>
              </a:lnSpc>
              <a:spcBef>
                <a:spcPts val="105"/>
              </a:spcBef>
            </a:pPr>
            <a:r>
              <a:rPr dirty="0" sz="1400" spc="-10">
                <a:latin typeface="Calibri"/>
                <a:cs typeface="Calibri"/>
              </a:rPr>
              <a:t>should</a:t>
            </a:r>
            <a:endParaRPr sz="1400">
              <a:latin typeface="Calibri"/>
              <a:cs typeface="Calibri"/>
            </a:endParaRPr>
          </a:p>
          <a:p>
            <a:pPr marL="152400">
              <a:lnSpc>
                <a:spcPts val="1600"/>
              </a:lnSpc>
            </a:pPr>
            <a:r>
              <a:rPr dirty="0" sz="1400" spc="-25">
                <a:latin typeface="Calibri"/>
                <a:cs typeface="Calibri"/>
              </a:rPr>
              <a:t>MVC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47599" y="1156562"/>
            <a:ext cx="2229485" cy="77152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0">
              <a:lnSpc>
                <a:spcPct val="100000"/>
              </a:lnSpc>
              <a:spcBef>
                <a:spcPts val="470"/>
              </a:spcBef>
            </a:pPr>
            <a:r>
              <a:rPr dirty="0" sz="1400" spc="-10">
                <a:latin typeface="Calibri"/>
                <a:cs typeface="Calibri"/>
              </a:rPr>
              <a:t>applications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little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effort.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370"/>
              </a:spcBef>
              <a:buChar char="•"/>
              <a:tabLst>
                <a:tab pos="126364" algn="l"/>
              </a:tabLst>
            </a:pPr>
            <a:r>
              <a:rPr dirty="0" sz="1400" spc="-10">
                <a:latin typeface="Arial"/>
                <a:cs typeface="Arial"/>
              </a:rPr>
              <a:t>Dependencies</a:t>
            </a:r>
            <a:endParaRPr sz="1400">
              <a:latin typeface="Arial"/>
              <a:cs typeface="Arial"/>
            </a:endParaRPr>
          </a:p>
          <a:p>
            <a:pPr marL="306705">
              <a:lnSpc>
                <a:spcPct val="100000"/>
              </a:lnSpc>
              <a:spcBef>
                <a:spcPts val="570"/>
              </a:spcBef>
            </a:pPr>
            <a:r>
              <a:rPr dirty="0" sz="1000" spc="-10">
                <a:latin typeface="Arial"/>
                <a:cs typeface="Arial"/>
              </a:rPr>
              <a:t>Gradle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1693" y="2466593"/>
            <a:ext cx="4038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Arial"/>
                <a:cs typeface="Arial"/>
              </a:rPr>
              <a:t>Maven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48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28218" y="2032698"/>
            <a:ext cx="4216400" cy="1061720"/>
            <a:chOff x="228218" y="2032698"/>
            <a:chExt cx="4216400" cy="1061720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1288" y="2436875"/>
              <a:ext cx="2785872" cy="652272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158874" y="2434526"/>
              <a:ext cx="2790825" cy="657225"/>
            </a:xfrm>
            <a:custGeom>
              <a:avLst/>
              <a:gdLst/>
              <a:ahLst/>
              <a:cxnLst/>
              <a:rect l="l" t="t" r="r" b="b"/>
              <a:pathLst>
                <a:path w="2790825" h="657225">
                  <a:moveTo>
                    <a:pt x="0" y="657034"/>
                  </a:moveTo>
                  <a:lnTo>
                    <a:pt x="2790698" y="657034"/>
                  </a:lnTo>
                  <a:lnTo>
                    <a:pt x="2790698" y="0"/>
                  </a:lnTo>
                  <a:lnTo>
                    <a:pt x="0" y="0"/>
                  </a:lnTo>
                  <a:lnTo>
                    <a:pt x="0" y="657034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171" y="2065417"/>
              <a:ext cx="4174201" cy="26438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230758" y="2035238"/>
              <a:ext cx="4211320" cy="325120"/>
            </a:xfrm>
            <a:custGeom>
              <a:avLst/>
              <a:gdLst/>
              <a:ahLst/>
              <a:cxnLst/>
              <a:rect l="l" t="t" r="r" b="b"/>
              <a:pathLst>
                <a:path w="4211320" h="325119">
                  <a:moveTo>
                    <a:pt x="0" y="324802"/>
                  </a:moveTo>
                  <a:lnTo>
                    <a:pt x="4210939" y="324802"/>
                  </a:lnTo>
                  <a:lnTo>
                    <a:pt x="4210939" y="0"/>
                  </a:lnTo>
                  <a:lnTo>
                    <a:pt x="0" y="0"/>
                  </a:lnTo>
                  <a:lnTo>
                    <a:pt x="0" y="324802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33857" y="3179190"/>
            <a:ext cx="37426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9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https://docs.spring.io/spring-data/rest/docs/current/reference/html/#reference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/>
              <a:t>Basic</a:t>
            </a:r>
            <a:r>
              <a:rPr dirty="0" sz="2000" spc="-30"/>
              <a:t> </a:t>
            </a:r>
            <a:r>
              <a:rPr dirty="0" sz="2000"/>
              <a:t>Settings</a:t>
            </a:r>
            <a:r>
              <a:rPr dirty="0" sz="2000" spc="-60"/>
              <a:t> </a:t>
            </a:r>
            <a:r>
              <a:rPr dirty="0" sz="2000"/>
              <a:t>for</a:t>
            </a:r>
            <a:r>
              <a:rPr dirty="0" sz="2000" spc="-25"/>
              <a:t> </a:t>
            </a:r>
            <a:r>
              <a:rPr dirty="0" sz="2000"/>
              <a:t>Spring</a:t>
            </a:r>
            <a:r>
              <a:rPr dirty="0" sz="2000" spc="-55"/>
              <a:t> </a:t>
            </a:r>
            <a:r>
              <a:rPr dirty="0" sz="2000"/>
              <a:t>Data</a:t>
            </a:r>
            <a:r>
              <a:rPr dirty="0" sz="2000" spc="-30"/>
              <a:t> </a:t>
            </a:r>
            <a:r>
              <a:rPr dirty="0" sz="2000" spc="-20"/>
              <a:t>REST</a:t>
            </a:r>
            <a:endParaRPr sz="2000"/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31647"/>
            <a:ext cx="3091815" cy="14725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105"/>
              </a:spcBef>
              <a:buChar char="•"/>
              <a:tabLst>
                <a:tab pos="126364" algn="l"/>
              </a:tabLst>
            </a:pPr>
            <a:r>
              <a:rPr dirty="0" sz="1400">
                <a:latin typeface="Arial"/>
                <a:cs typeface="Arial"/>
              </a:rPr>
              <a:t>Basic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Settings: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5"/>
              </a:spcBef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lvl="1" marL="355600" indent="-1143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Setting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Repository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Detection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Strategy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90"/>
              </a:spcBef>
              <a:buFont typeface="Arial"/>
              <a:buChar char="•"/>
            </a:pP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Changing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URI</a:t>
            </a:r>
            <a:endParaRPr sz="1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80"/>
              </a:spcBef>
              <a:buFont typeface="Arial"/>
              <a:buChar char="•"/>
            </a:pP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Changing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Spring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Properties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49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49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0">
                <a:latin typeface="Times New Roman"/>
                <a:cs typeface="Times New Roman"/>
              </a:rPr>
              <a:t>#1.</a:t>
            </a:r>
            <a:r>
              <a:rPr dirty="0" sz="2000" spc="-95" b="0">
                <a:latin typeface="Times New Roman"/>
                <a:cs typeface="Times New Roman"/>
              </a:rPr>
              <a:t> </a:t>
            </a:r>
            <a:r>
              <a:rPr dirty="0" sz="1600"/>
              <a:t>Setting</a:t>
            </a:r>
            <a:r>
              <a:rPr dirty="0" sz="1600" spc="-45"/>
              <a:t> </a:t>
            </a:r>
            <a:r>
              <a:rPr dirty="0" sz="1600"/>
              <a:t>the</a:t>
            </a:r>
            <a:r>
              <a:rPr dirty="0" sz="1600" spc="-50"/>
              <a:t> </a:t>
            </a:r>
            <a:r>
              <a:rPr dirty="0" sz="1600"/>
              <a:t>Repository</a:t>
            </a:r>
            <a:r>
              <a:rPr dirty="0" sz="1600" spc="-40"/>
              <a:t> </a:t>
            </a:r>
            <a:r>
              <a:rPr dirty="0" sz="1600"/>
              <a:t>Detection</a:t>
            </a:r>
            <a:r>
              <a:rPr dirty="0" sz="1600" spc="-50"/>
              <a:t> </a:t>
            </a:r>
            <a:r>
              <a:rPr dirty="0" sz="1600" spc="-10"/>
              <a:t>Strategy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37412"/>
            <a:ext cx="3879215" cy="78930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just" marL="125095" marR="5080" indent="-113030">
              <a:lnSpc>
                <a:spcPts val="1080"/>
              </a:lnSpc>
              <a:spcBef>
                <a:spcPts val="229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000">
                <a:latin typeface="Calibri"/>
                <a:cs typeface="Calibri"/>
              </a:rPr>
              <a:t>Spring</a:t>
            </a:r>
            <a:r>
              <a:rPr dirty="0" sz="1000" spc="325">
                <a:latin typeface="Calibri"/>
                <a:cs typeface="Calibri"/>
              </a:rPr>
              <a:t>   </a:t>
            </a:r>
            <a:r>
              <a:rPr dirty="0" sz="1000">
                <a:latin typeface="Calibri"/>
                <a:cs typeface="Calibri"/>
              </a:rPr>
              <a:t>Data</a:t>
            </a:r>
            <a:r>
              <a:rPr dirty="0" sz="1000" spc="325">
                <a:latin typeface="Calibri"/>
                <a:cs typeface="Calibri"/>
              </a:rPr>
              <a:t>   </a:t>
            </a:r>
            <a:r>
              <a:rPr dirty="0" sz="1000">
                <a:latin typeface="Calibri"/>
                <a:cs typeface="Calibri"/>
              </a:rPr>
              <a:t>REST</a:t>
            </a:r>
            <a:r>
              <a:rPr dirty="0" sz="1000" spc="320">
                <a:latin typeface="Calibri"/>
                <a:cs typeface="Calibri"/>
              </a:rPr>
              <a:t>   </a:t>
            </a:r>
            <a:r>
              <a:rPr dirty="0" sz="1000">
                <a:latin typeface="Calibri"/>
                <a:cs typeface="Calibri"/>
              </a:rPr>
              <a:t>uses</a:t>
            </a:r>
            <a:r>
              <a:rPr dirty="0" sz="1000" spc="320">
                <a:latin typeface="Calibri"/>
                <a:cs typeface="Calibri"/>
              </a:rPr>
              <a:t>  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325">
                <a:latin typeface="Calibri"/>
                <a:cs typeface="Calibri"/>
              </a:rPr>
              <a:t>   </a:t>
            </a:r>
            <a:r>
              <a:rPr dirty="0" sz="1000">
                <a:latin typeface="Arial"/>
                <a:cs typeface="Arial"/>
              </a:rPr>
              <a:t>implementation</a:t>
            </a:r>
            <a:r>
              <a:rPr dirty="0" sz="1000" spc="275">
                <a:latin typeface="Arial"/>
                <a:cs typeface="Arial"/>
              </a:rPr>
              <a:t>   </a:t>
            </a:r>
            <a:r>
              <a:rPr dirty="0" sz="1000">
                <a:latin typeface="Arial"/>
                <a:cs typeface="Arial"/>
              </a:rPr>
              <a:t>of</a:t>
            </a:r>
            <a:r>
              <a:rPr dirty="0" sz="1000" spc="270">
                <a:latin typeface="Arial"/>
                <a:cs typeface="Arial"/>
              </a:rPr>
              <a:t>   </a:t>
            </a:r>
            <a:r>
              <a:rPr dirty="0" sz="1000" spc="-25">
                <a:latin typeface="Arial"/>
                <a:cs typeface="Arial"/>
              </a:rPr>
              <a:t>the </a:t>
            </a:r>
            <a:r>
              <a:rPr dirty="0" sz="1000" spc="-25">
                <a:latin typeface="Arial"/>
                <a:cs typeface="Arial"/>
              </a:rPr>
              <a:t>	</a:t>
            </a:r>
            <a:r>
              <a:rPr dirty="0" sz="1000">
                <a:latin typeface="Calibri"/>
                <a:cs typeface="Calibri"/>
              </a:rPr>
              <a:t>RepositoryDetectionStrategy</a:t>
            </a:r>
            <a:r>
              <a:rPr dirty="0" sz="1000" spc="240">
                <a:latin typeface="Calibri"/>
                <a:cs typeface="Calibri"/>
              </a:rPr>
              <a:t>  </a:t>
            </a:r>
            <a:r>
              <a:rPr dirty="0" sz="1000">
                <a:latin typeface="Arial"/>
                <a:cs typeface="Arial"/>
              </a:rPr>
              <a:t>interface</a:t>
            </a:r>
            <a:r>
              <a:rPr dirty="0" sz="1000" spc="175">
                <a:latin typeface="Arial"/>
                <a:cs typeface="Arial"/>
              </a:rPr>
              <a:t> 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229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determine</a:t>
            </a:r>
            <a:r>
              <a:rPr dirty="0" sz="1000" spc="229">
                <a:latin typeface="Calibri"/>
                <a:cs typeface="Calibri"/>
              </a:rPr>
              <a:t>  </a:t>
            </a:r>
            <a:r>
              <a:rPr dirty="0" sz="1000">
                <a:latin typeface="Calibri"/>
                <a:cs typeface="Calibri"/>
              </a:rPr>
              <a:t>whether</a:t>
            </a:r>
            <a:r>
              <a:rPr dirty="0" sz="1000" spc="229">
                <a:latin typeface="Calibri"/>
                <a:cs typeface="Calibri"/>
              </a:rPr>
              <a:t>  </a:t>
            </a:r>
            <a:r>
              <a:rPr dirty="0" sz="1000" spc="-50">
                <a:latin typeface="Calibri"/>
                <a:cs typeface="Calibri"/>
              </a:rPr>
              <a:t>a</a:t>
            </a:r>
            <a:r>
              <a:rPr dirty="0" sz="1000">
                <a:latin typeface="Calibri"/>
                <a:cs typeface="Calibri"/>
              </a:rPr>
              <a:t> 	repository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-10">
                <a:latin typeface="Calibri"/>
                <a:cs typeface="Calibri"/>
              </a:rPr>
              <a:t> exported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REST</a:t>
            </a:r>
            <a:r>
              <a:rPr dirty="0" sz="1000" spc="-10">
                <a:latin typeface="Calibri"/>
                <a:cs typeface="Calibri"/>
              </a:rPr>
              <a:t> resource.</a:t>
            </a:r>
            <a:endParaRPr sz="1000">
              <a:latin typeface="Calibri"/>
              <a:cs typeface="Calibri"/>
            </a:endParaRPr>
          </a:p>
          <a:p>
            <a:pPr algn="just" marL="125095" marR="7620" indent="-113030">
              <a:lnSpc>
                <a:spcPts val="1080"/>
              </a:lnSpc>
              <a:spcBef>
                <a:spcPts val="495"/>
              </a:spcBef>
              <a:buFont typeface="Arial"/>
              <a:buChar char="•"/>
              <a:tabLst>
                <a:tab pos="127000" algn="l"/>
              </a:tabLst>
            </a:pP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18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RepositoryDiscoveryStrategies</a:t>
            </a:r>
            <a:r>
              <a:rPr dirty="0" sz="1000" spc="210">
                <a:latin typeface="Calibri"/>
                <a:cs typeface="Calibri"/>
              </a:rPr>
              <a:t> </a:t>
            </a:r>
            <a:r>
              <a:rPr dirty="0" sz="1000">
                <a:latin typeface="Arial"/>
                <a:cs typeface="Arial"/>
              </a:rPr>
              <a:t>inside</a:t>
            </a:r>
            <a:r>
              <a:rPr dirty="0" sz="1000" spc="135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this</a:t>
            </a:r>
            <a:r>
              <a:rPr dirty="0" sz="1000" spc="150">
                <a:latin typeface="Arial"/>
                <a:cs typeface="Arial"/>
              </a:rPr>
              <a:t> </a:t>
            </a:r>
            <a:r>
              <a:rPr dirty="0" sz="1000">
                <a:latin typeface="Arial"/>
                <a:cs typeface="Arial"/>
              </a:rPr>
              <a:t>interface</a:t>
            </a:r>
            <a:r>
              <a:rPr dirty="0" sz="1000" spc="125">
                <a:latin typeface="Arial"/>
                <a:cs typeface="Arial"/>
              </a:rPr>
              <a:t> </a:t>
            </a:r>
            <a:r>
              <a:rPr dirty="0" sz="1000" spc="-10">
                <a:latin typeface="Calibri"/>
                <a:cs typeface="Calibri"/>
              </a:rPr>
              <a:t>enumeration </a:t>
            </a:r>
            <a:r>
              <a:rPr dirty="0" sz="1000" spc="-10">
                <a:latin typeface="Calibri"/>
                <a:cs typeface="Calibri"/>
              </a:rPr>
              <a:t>	</a:t>
            </a:r>
            <a:r>
              <a:rPr dirty="0" sz="1000">
                <a:latin typeface="Calibri"/>
                <a:cs typeface="Calibri"/>
              </a:rPr>
              <a:t>includes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following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values: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50</a:t>
            </a:r>
            <a:endParaRPr sz="60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258190" y="1490979"/>
          <a:ext cx="4171950" cy="1746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8830"/>
                <a:gridCol w="3290570"/>
              </a:tblGrid>
              <a:tr h="243204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200" spc="-20" b="1">
                          <a:latin typeface="Calibri"/>
                          <a:cs typeface="Calibri"/>
                        </a:rPr>
                        <a:t>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1200" spc="-10" b="1"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2286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DEFAULT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49466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Exposes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public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repository</a:t>
                      </a:r>
                      <a:r>
                        <a:rPr dirty="0" sz="1000" spc="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interfaces</a:t>
                      </a:r>
                      <a:r>
                        <a:rPr dirty="0" sz="100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but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considers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exported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flag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@(Repository)RestResource.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000" spc="-25">
                          <a:latin typeface="Calibri"/>
                          <a:cs typeface="Calibri"/>
                        </a:rPr>
                        <a:t>ALL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 marR="16573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Exposes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all repositories</a:t>
                      </a:r>
                      <a:r>
                        <a:rPr dirty="0" sz="10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independently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visibility</a:t>
                      </a:r>
                      <a:r>
                        <a:rPr dirty="0" sz="10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2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annotations.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ANNOTATED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10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repositories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annotated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60960" marR="485140">
                        <a:lnSpc>
                          <a:spcPct val="100000"/>
                        </a:lnSpc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@(Repository)RestResource</a:t>
                      </a:r>
                      <a:r>
                        <a:rPr dirty="0" sz="100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0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exposed,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unless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their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 exported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flag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set to</a:t>
                      </a:r>
                      <a:r>
                        <a:rPr dirty="0" sz="1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false.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</a:tr>
              <a:tr h="255904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000" spc="-10">
                          <a:latin typeface="Calibri"/>
                          <a:cs typeface="Calibri"/>
                        </a:rPr>
                        <a:t>VISIBILITY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1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public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repositories</a:t>
                      </a:r>
                      <a:r>
                        <a:rPr dirty="0" sz="1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annotated</a:t>
                      </a:r>
                      <a:r>
                        <a:rPr dirty="0" sz="1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latin typeface="Calibri"/>
                          <a:cs typeface="Calibri"/>
                        </a:rPr>
                        <a:t>exposed.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1025778" y="3252927"/>
            <a:ext cx="179451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i="1">
                <a:latin typeface="Arial"/>
                <a:cs typeface="Arial"/>
              </a:rPr>
              <a:t>Table:</a:t>
            </a:r>
            <a:r>
              <a:rPr dirty="0" sz="900" spc="-35" i="1">
                <a:latin typeface="Arial"/>
                <a:cs typeface="Arial"/>
              </a:rPr>
              <a:t> </a:t>
            </a:r>
            <a:r>
              <a:rPr dirty="0" sz="900" spc="-10" i="1">
                <a:latin typeface="Calibri"/>
                <a:cs typeface="Calibri"/>
              </a:rPr>
              <a:t>Repository</a:t>
            </a:r>
            <a:r>
              <a:rPr dirty="0" sz="900" spc="-5" i="1">
                <a:latin typeface="Calibri"/>
                <a:cs typeface="Calibri"/>
              </a:rPr>
              <a:t> </a:t>
            </a:r>
            <a:r>
              <a:rPr dirty="0" sz="900" i="1">
                <a:latin typeface="Calibri"/>
                <a:cs typeface="Calibri"/>
              </a:rPr>
              <a:t>detection</a:t>
            </a:r>
            <a:r>
              <a:rPr dirty="0" sz="900" spc="-10" i="1">
                <a:latin typeface="Calibri"/>
                <a:cs typeface="Calibri"/>
              </a:rPr>
              <a:t> strategies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316" y="1946147"/>
            <a:ext cx="3826763" cy="14401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Times New Roman"/>
                <a:cs typeface="Times New Roman"/>
              </a:rPr>
              <a:t>#2.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sz="1800"/>
              <a:t>Changing</a:t>
            </a:r>
            <a:r>
              <a:rPr dirty="0" sz="1800" spc="-35"/>
              <a:t> </a:t>
            </a:r>
            <a:r>
              <a:rPr dirty="0" sz="1800"/>
              <a:t>the</a:t>
            </a:r>
            <a:r>
              <a:rPr dirty="0" sz="1800" spc="-30"/>
              <a:t> </a:t>
            </a:r>
            <a:r>
              <a:rPr dirty="0" sz="1800"/>
              <a:t>Base</a:t>
            </a:r>
            <a:r>
              <a:rPr dirty="0" sz="1800" spc="-45"/>
              <a:t> </a:t>
            </a:r>
            <a:r>
              <a:rPr dirty="0" sz="1800" spc="-25"/>
              <a:t>URI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7599" y="627075"/>
            <a:ext cx="3879215" cy="687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6364" indent="-113664">
              <a:lnSpc>
                <a:spcPts val="1595"/>
              </a:lnSpc>
              <a:spcBef>
                <a:spcPts val="105"/>
              </a:spcBef>
              <a:buChar char="•"/>
              <a:tabLst>
                <a:tab pos="126364" algn="l"/>
              </a:tabLst>
            </a:pPr>
            <a:r>
              <a:rPr dirty="0" sz="1400">
                <a:latin typeface="Arial"/>
                <a:cs typeface="Arial"/>
              </a:rPr>
              <a:t>B</a:t>
            </a:r>
            <a:r>
              <a:rPr dirty="0" sz="1400">
                <a:latin typeface="Calibri"/>
                <a:cs typeface="Calibri"/>
              </a:rPr>
              <a:t>y</a:t>
            </a:r>
            <a:r>
              <a:rPr dirty="0" sz="1400" spc="13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default,</a:t>
            </a:r>
            <a:r>
              <a:rPr dirty="0" sz="1400" spc="13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Spring</a:t>
            </a:r>
            <a:r>
              <a:rPr dirty="0" sz="1400" spc="14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135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REST</a:t>
            </a:r>
            <a:r>
              <a:rPr dirty="0" sz="1400" spc="14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serves</a:t>
            </a:r>
            <a:r>
              <a:rPr dirty="0" sz="1400" spc="130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up</a:t>
            </a:r>
            <a:r>
              <a:rPr dirty="0" sz="1400" spc="140">
                <a:latin typeface="Calibri"/>
                <a:cs typeface="Calibri"/>
              </a:rPr>
              <a:t>  </a:t>
            </a:r>
            <a:r>
              <a:rPr dirty="0" sz="1400" spc="-20">
                <a:latin typeface="Calibri"/>
                <a:cs typeface="Calibri"/>
              </a:rPr>
              <a:t>REST</a:t>
            </a:r>
            <a:endParaRPr sz="1400">
              <a:latin typeface="Calibri"/>
              <a:cs typeface="Calibri"/>
            </a:endParaRPr>
          </a:p>
          <a:p>
            <a:pPr marL="127000">
              <a:lnSpc>
                <a:spcPts val="1595"/>
              </a:lnSpc>
            </a:pPr>
            <a:r>
              <a:rPr dirty="0" sz="1400" spc="-10">
                <a:latin typeface="Calibri"/>
                <a:cs typeface="Calibri"/>
              </a:rPr>
              <a:t>resources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root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URI,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'/’.</a:t>
            </a:r>
            <a:r>
              <a:rPr dirty="0" sz="1400" spc="325">
                <a:latin typeface="Calibri"/>
                <a:cs typeface="Calibri"/>
              </a:rPr>
              <a:t> </a:t>
            </a:r>
            <a:r>
              <a:rPr dirty="0" sz="1400">
                <a:latin typeface="Arial"/>
                <a:cs typeface="Arial"/>
              </a:rPr>
              <a:t>It’s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harmful.</a:t>
            </a:r>
            <a:endParaRPr sz="1400">
              <a:latin typeface="Arial"/>
              <a:cs typeface="Arial"/>
            </a:endParaRPr>
          </a:p>
          <a:p>
            <a:pPr marL="126364" indent="-113664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solidFill>
                  <a:srgbClr val="181E1E"/>
                </a:solidFill>
                <a:latin typeface="Calibri"/>
                <a:cs typeface="Calibri"/>
              </a:rPr>
              <a:t>Change</a:t>
            </a:r>
            <a:r>
              <a:rPr dirty="0" sz="1400" spc="-2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the</a:t>
            </a:r>
            <a:r>
              <a:rPr dirty="0" sz="1400" spc="-1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1E1E"/>
                </a:solidFill>
                <a:latin typeface="Calibri"/>
                <a:cs typeface="Calibri"/>
              </a:rPr>
              <a:t>base(root)</a:t>
            </a:r>
            <a:r>
              <a:rPr dirty="0" sz="1400" spc="-3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path</a:t>
            </a:r>
            <a:r>
              <a:rPr dirty="0" sz="1400" spc="-2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81E1E"/>
                </a:solidFill>
                <a:latin typeface="Calibri"/>
                <a:cs typeface="Calibri"/>
              </a:rPr>
              <a:t>by: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073400" y="1308861"/>
            <a:ext cx="11531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45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instructions: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76452" y="1299680"/>
            <a:ext cx="2419350" cy="57277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241300" algn="l"/>
              </a:tabLst>
            </a:pPr>
            <a:r>
              <a:rPr dirty="0" sz="1200">
                <a:latin typeface="Arial"/>
                <a:cs typeface="Arial"/>
              </a:rPr>
              <a:t>Application.properties</a:t>
            </a:r>
            <a:r>
              <a:rPr dirty="0" sz="1200" spc="434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file:</a:t>
            </a:r>
            <a:r>
              <a:rPr dirty="0" sz="1200" spc="455">
                <a:latin typeface="Arial"/>
                <a:cs typeface="Arial"/>
              </a:rPr>
              <a:t> </a:t>
            </a:r>
            <a:r>
              <a:rPr dirty="0" sz="1200" spc="-25">
                <a:latin typeface="Arial"/>
                <a:cs typeface="Arial"/>
              </a:rPr>
              <a:t>add</a:t>
            </a:r>
            <a:endParaRPr sz="120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spcBef>
                <a:spcPts val="55"/>
              </a:spcBef>
            </a:pPr>
            <a:r>
              <a:rPr dirty="0" sz="1000" spc="-10">
                <a:solidFill>
                  <a:srgbClr val="082F80"/>
                </a:solidFill>
                <a:latin typeface="Calibri"/>
                <a:cs typeface="Calibri"/>
              </a:rPr>
              <a:t>spring.data.rest.basePath</a:t>
            </a:r>
            <a:r>
              <a:rPr dirty="0" sz="1000" spc="-10">
                <a:solidFill>
                  <a:srgbClr val="080808"/>
                </a:solidFill>
                <a:latin typeface="Calibri"/>
                <a:cs typeface="Calibri"/>
              </a:rPr>
              <a:t>=</a:t>
            </a:r>
            <a:r>
              <a:rPr dirty="0" sz="1000" spc="-10">
                <a:solidFill>
                  <a:srgbClr val="057C17"/>
                </a:solidFill>
                <a:latin typeface="Calibri"/>
                <a:cs typeface="Calibri"/>
              </a:rPr>
              <a:t>/api</a:t>
            </a:r>
            <a:endParaRPr sz="1000">
              <a:latin typeface="Calibri"/>
              <a:cs typeface="Calibri"/>
            </a:endParaRPr>
          </a:p>
          <a:p>
            <a:pPr marL="241935" indent="-22923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241935" algn="l"/>
              </a:tabLst>
            </a:pPr>
            <a:r>
              <a:rPr dirty="0" sz="1200" spc="-10">
                <a:latin typeface="Calibri"/>
                <a:cs typeface="Calibri"/>
              </a:rPr>
              <a:t>Configuration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20902" y="1943696"/>
            <a:ext cx="3831590" cy="1445260"/>
          </a:xfrm>
          <a:prstGeom prst="rect">
            <a:avLst/>
          </a:prstGeom>
          <a:ln w="4762">
            <a:solidFill>
              <a:srgbClr val="4471C4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600">
              <a:latin typeface="Times New Roman"/>
              <a:cs typeface="Times New Roman"/>
            </a:endParaRPr>
          </a:p>
          <a:p>
            <a:pPr algn="r" marR="231140">
              <a:lnSpc>
                <a:spcPct val="100000"/>
              </a:lnSpc>
              <a:spcBef>
                <a:spcPts val="5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51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="0">
                <a:latin typeface="Times New Roman"/>
                <a:cs typeface="Times New Roman"/>
              </a:rPr>
              <a:t>#2.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sz="2000"/>
              <a:t>Changing</a:t>
            </a:r>
            <a:r>
              <a:rPr dirty="0" sz="2000" spc="-35"/>
              <a:t> </a:t>
            </a:r>
            <a:r>
              <a:rPr dirty="0" sz="2000"/>
              <a:t>the</a:t>
            </a:r>
            <a:r>
              <a:rPr dirty="0" sz="2000" spc="-25"/>
              <a:t> </a:t>
            </a:r>
            <a:r>
              <a:rPr dirty="0" sz="2000"/>
              <a:t>Base</a:t>
            </a:r>
            <a:r>
              <a:rPr dirty="0" sz="2000" spc="-25"/>
              <a:t> URI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00970"/>
            <a:ext cx="3876675" cy="467359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29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solidFill>
                  <a:srgbClr val="181E1E"/>
                </a:solidFill>
                <a:latin typeface="Calibri"/>
                <a:cs typeface="Calibri"/>
              </a:rPr>
              <a:t>Change</a:t>
            </a:r>
            <a:r>
              <a:rPr dirty="0" sz="1400" spc="-2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the</a:t>
            </a:r>
            <a:r>
              <a:rPr dirty="0" sz="1400" spc="-1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81E1E"/>
                </a:solidFill>
                <a:latin typeface="Calibri"/>
                <a:cs typeface="Calibri"/>
              </a:rPr>
              <a:t>base(root)</a:t>
            </a:r>
            <a:r>
              <a:rPr dirty="0" sz="1400" spc="-35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81E1E"/>
                </a:solidFill>
                <a:latin typeface="Calibri"/>
                <a:cs typeface="Calibri"/>
              </a:rPr>
              <a:t>path</a:t>
            </a:r>
            <a:r>
              <a:rPr dirty="0" sz="1400" spc="-20">
                <a:solidFill>
                  <a:srgbClr val="181E1E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181E1E"/>
                </a:solidFill>
                <a:latin typeface="Calibri"/>
                <a:cs typeface="Calibri"/>
              </a:rPr>
              <a:t>by:</a:t>
            </a:r>
            <a:endParaRPr sz="14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60"/>
              </a:spcBef>
            </a:pPr>
            <a:r>
              <a:rPr dirty="0" sz="1200">
                <a:latin typeface="Arial"/>
                <a:cs typeface="Arial"/>
              </a:rPr>
              <a:t>3.</a:t>
            </a:r>
            <a:r>
              <a:rPr dirty="0" sz="1200" spc="42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Implement</a:t>
            </a:r>
            <a:r>
              <a:rPr dirty="0" sz="1200" spc="-4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RepositoryRestConfigurer</a:t>
            </a:r>
            <a:r>
              <a:rPr dirty="0" sz="1200" spc="-5">
                <a:latin typeface="Arial"/>
                <a:cs typeface="Arial"/>
              </a:rPr>
              <a:t> </a:t>
            </a:r>
            <a:r>
              <a:rPr dirty="0" sz="1200" spc="-10">
                <a:latin typeface="Arial"/>
                <a:cs typeface="Arial"/>
              </a:rPr>
              <a:t>interafce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52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11887" y="-12192"/>
            <a:ext cx="4596130" cy="3452495"/>
            <a:chOff x="-11887" y="-12192"/>
            <a:chExt cx="4596130" cy="345249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944" y="1295488"/>
              <a:ext cx="4040124" cy="139437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11530" y="1265681"/>
              <a:ext cx="4044950" cy="1426845"/>
            </a:xfrm>
            <a:custGeom>
              <a:avLst/>
              <a:gdLst/>
              <a:ahLst/>
              <a:cxnLst/>
              <a:rect l="l" t="t" r="r" b="b"/>
              <a:pathLst>
                <a:path w="4044950" h="1426845">
                  <a:moveTo>
                    <a:pt x="0" y="1426591"/>
                  </a:moveTo>
                  <a:lnTo>
                    <a:pt x="4044823" y="1426591"/>
                  </a:lnTo>
                  <a:lnTo>
                    <a:pt x="4044823" y="0"/>
                  </a:lnTo>
                  <a:lnTo>
                    <a:pt x="0" y="0"/>
                  </a:lnTo>
                  <a:lnTo>
                    <a:pt x="0" y="1426591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" y="32384"/>
            <a:ext cx="3107690" cy="54610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90"/>
              </a:lnSpc>
              <a:spcBef>
                <a:spcPts val="105"/>
              </a:spcBef>
            </a:pPr>
            <a:r>
              <a:rPr dirty="0" sz="2000" b="0">
                <a:latin typeface="Times New Roman"/>
                <a:cs typeface="Times New Roman"/>
              </a:rPr>
              <a:t>#3.</a:t>
            </a:r>
            <a:r>
              <a:rPr dirty="0" sz="2000" spc="-70" b="0">
                <a:latin typeface="Times New Roman"/>
                <a:cs typeface="Times New Roman"/>
              </a:rPr>
              <a:t> </a:t>
            </a:r>
            <a:r>
              <a:rPr dirty="0" sz="1600"/>
              <a:t>Changing</a:t>
            </a:r>
            <a:r>
              <a:rPr dirty="0" sz="1600" spc="-15"/>
              <a:t> </a:t>
            </a:r>
            <a:r>
              <a:rPr dirty="0" sz="1600"/>
              <a:t>Other</a:t>
            </a:r>
            <a:r>
              <a:rPr dirty="0" sz="1600" spc="-35"/>
              <a:t> </a:t>
            </a:r>
            <a:r>
              <a:rPr dirty="0" sz="1600"/>
              <a:t>Spring</a:t>
            </a:r>
            <a:r>
              <a:rPr dirty="0" sz="1600" spc="-25"/>
              <a:t> </a:t>
            </a:r>
            <a:r>
              <a:rPr dirty="0" sz="1600"/>
              <a:t>Data</a:t>
            </a:r>
            <a:r>
              <a:rPr dirty="0" sz="1600" spc="-45"/>
              <a:t> </a:t>
            </a:r>
            <a:r>
              <a:rPr dirty="0" sz="1600" spc="-20"/>
              <a:t>REST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ts val="1810"/>
              </a:lnSpc>
            </a:pPr>
            <a:r>
              <a:rPr dirty="0" sz="1600" spc="-10"/>
              <a:t>Properties</a:t>
            </a:r>
            <a:endParaRPr sz="1600"/>
          </a:p>
        </p:txBody>
      </p:sp>
      <p:sp>
        <p:nvSpPr>
          <p:cNvPr id="3" name="object 3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53</a:t>
            </a:r>
            <a:endParaRPr sz="6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311150" y="645286"/>
          <a:ext cx="4044315" cy="2542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2180"/>
                <a:gridCol w="3029585"/>
              </a:tblGrid>
              <a:tr h="155575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00" spc="-10" b="1">
                          <a:latin typeface="Calibri"/>
                          <a:cs typeface="Calibri"/>
                        </a:rPr>
                        <a:t>Property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00" spc="-10" b="1">
                          <a:latin typeface="Calibri"/>
                          <a:cs typeface="Calibri"/>
                        </a:rPr>
                        <a:t>Description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basePath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root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URI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Spring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REST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defaultPageSize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marR="16002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change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default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number of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items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served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single</a:t>
                      </a:r>
                      <a:r>
                        <a:rPr dirty="0" sz="9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page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maxPageSize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change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maximum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items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single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page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pageParamName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change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9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query parameter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selecting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pages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</a:tr>
              <a:tr h="356235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limitParamName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change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9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query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parameter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number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of</a:t>
                      </a:r>
                      <a:endParaRPr sz="900">
                        <a:latin typeface="Calibri"/>
                        <a:cs typeface="Calibri"/>
                      </a:endParaRPr>
                    </a:p>
                    <a:p>
                      <a:pPr marL="19050">
                        <a:lnSpc>
                          <a:spcPct val="100000"/>
                        </a:lnSpc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items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show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page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3810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sortParamName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change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9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query parameter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sorting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defaultMediaType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change the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default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media</a:t>
                      </a:r>
                      <a:r>
                        <a:rPr dirty="0" sz="9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type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use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when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none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specified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</a:tr>
              <a:tr h="300355">
                <a:tc>
                  <a:txBody>
                    <a:bodyPr/>
                    <a:lstStyle/>
                    <a:p>
                      <a:pPr marL="19050" marR="3365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returnBodyOnCrea</a:t>
                      </a:r>
                      <a:r>
                        <a:rPr dirty="0" sz="9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te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marR="21018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change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whether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body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should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returned when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creating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new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entity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marL="19050" marR="5143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900" spc="-10">
                          <a:latin typeface="Calibri"/>
                          <a:cs typeface="Calibri"/>
                        </a:rPr>
                        <a:t>returnBodyOnUpd</a:t>
                      </a:r>
                      <a:r>
                        <a:rPr dirty="0" sz="9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ate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marR="11112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900">
                          <a:latin typeface="Calibri"/>
                          <a:cs typeface="Calibri"/>
                        </a:rPr>
                        <a:t>change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whether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body</a:t>
                      </a:r>
                      <a:r>
                        <a:rPr dirty="0" sz="9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should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9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returned when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updating</a:t>
                      </a:r>
                      <a:r>
                        <a:rPr dirty="0" sz="9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900" spc="5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latin typeface="Calibri"/>
                          <a:cs typeface="Calibri"/>
                        </a:rPr>
                        <a:t>entity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445">
                    <a:lnL w="6350">
                      <a:solidFill>
                        <a:srgbClr val="FFC000"/>
                      </a:solidFill>
                      <a:prstDash val="solid"/>
                    </a:lnL>
                    <a:lnR w="6350">
                      <a:solidFill>
                        <a:srgbClr val="FFC000"/>
                      </a:solidFill>
                      <a:prstDash val="solid"/>
                    </a:lnR>
                    <a:lnT w="6350">
                      <a:solidFill>
                        <a:srgbClr val="FFC000"/>
                      </a:solidFill>
                      <a:prstDash val="solid"/>
                    </a:lnT>
                    <a:lnB w="6350">
                      <a:solidFill>
                        <a:srgbClr val="FFC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53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Repository</a:t>
            </a:r>
            <a:r>
              <a:rPr dirty="0" spc="-114"/>
              <a:t> </a:t>
            </a:r>
            <a:r>
              <a:rPr dirty="0" spc="-10"/>
              <a:t>resources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08456"/>
            <a:ext cx="3879215" cy="857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6364" indent="-113664">
              <a:lnSpc>
                <a:spcPts val="1664"/>
              </a:lnSpc>
              <a:spcBef>
                <a:spcPts val="10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latin typeface="Calibri"/>
                <a:cs typeface="Calibri"/>
              </a:rPr>
              <a:t>Fundamentals</a:t>
            </a:r>
            <a:endParaRPr sz="1400">
              <a:latin typeface="Calibri"/>
              <a:cs typeface="Calibri"/>
            </a:endParaRPr>
          </a:p>
          <a:p>
            <a:pPr algn="just" lvl="1" marL="355600" marR="5080" indent="-114300">
              <a:lnSpc>
                <a:spcPct val="80100"/>
              </a:lnSpc>
              <a:spcBef>
                <a:spcPts val="27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core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functionality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Spring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export </a:t>
            </a:r>
            <a:r>
              <a:rPr dirty="0" sz="1200">
                <a:latin typeface="Calibri"/>
                <a:cs typeface="Calibri"/>
              </a:rPr>
              <a:t>resources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2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Spring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repositories.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Thus,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3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core </a:t>
            </a:r>
            <a:r>
              <a:rPr dirty="0" sz="1200">
                <a:latin typeface="Calibri"/>
                <a:cs typeface="Calibri"/>
              </a:rPr>
              <a:t>artifact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look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potentially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customize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exporting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works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repository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interface.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7599" y="1614677"/>
            <a:ext cx="3879215" cy="138366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algn="just" marL="355600" marR="5715" indent="-114300">
              <a:lnSpc>
                <a:spcPct val="8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repository,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Spring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exposes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collection resource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0000"/>
                </a:solidFill>
                <a:latin typeface="Calibri"/>
                <a:cs typeface="Calibri"/>
              </a:rPr>
              <a:t>/department</a:t>
            </a:r>
            <a:r>
              <a:rPr dirty="0" sz="1200" spc="-10" b="1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  <a:p>
            <a:pPr marL="126364" indent="-113664">
              <a:lnSpc>
                <a:spcPts val="1664"/>
              </a:lnSpc>
              <a:spcBef>
                <a:spcPts val="15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latin typeface="Calibri"/>
                <a:cs typeface="Calibri"/>
              </a:rPr>
              <a:t>Repository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methods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exposure</a:t>
            </a:r>
            <a:endParaRPr sz="1400">
              <a:latin typeface="Calibri"/>
              <a:cs typeface="Calibri"/>
            </a:endParaRPr>
          </a:p>
          <a:p>
            <a:pPr algn="just" lvl="1" marL="355600" marR="5080" indent="-114300">
              <a:lnSpc>
                <a:spcPts val="1150"/>
              </a:lnSpc>
              <a:spcBef>
                <a:spcPts val="265"/>
              </a:spcBef>
              <a:buFont typeface="Arial"/>
              <a:buChar char="•"/>
              <a:tabLst>
                <a:tab pos="355600" algn="l"/>
                <a:tab pos="391160" algn="l"/>
              </a:tabLst>
            </a:pP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resource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exposure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will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follow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methods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you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exposed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repository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Wingdings"/>
                <a:cs typeface="Wingdings"/>
              </a:rPr>
              <a:t></a:t>
            </a:r>
            <a:r>
              <a:rPr dirty="0" sz="1200" spc="480">
                <a:latin typeface="Times New Roman"/>
                <a:cs typeface="Times New Roman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HTTP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resources </a:t>
            </a:r>
            <a:r>
              <a:rPr dirty="0" sz="1200">
                <a:latin typeface="Calibri"/>
                <a:cs typeface="Calibri"/>
              </a:rPr>
              <a:t>we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default.</a:t>
            </a:r>
            <a:endParaRPr sz="1200">
              <a:latin typeface="Calibri"/>
              <a:cs typeface="Calibri"/>
            </a:endParaRPr>
          </a:p>
          <a:p>
            <a:pPr algn="just" lvl="1" marL="355600" indent="-114300">
              <a:lnSpc>
                <a:spcPts val="1275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9E870D"/>
                </a:solidFill>
                <a:latin typeface="Calibri"/>
                <a:cs typeface="Calibri"/>
              </a:rPr>
              <a:t>@RestResource</a:t>
            </a:r>
            <a:r>
              <a:rPr dirty="0" sz="1200" spc="-10">
                <a:solidFill>
                  <a:srgbClr val="080808"/>
                </a:solidFill>
                <a:latin typeface="Calibri"/>
                <a:cs typeface="Calibri"/>
              </a:rPr>
              <a:t>(exported</a:t>
            </a:r>
            <a:r>
              <a:rPr dirty="0" sz="1200" spc="-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80808"/>
                </a:solidFill>
                <a:latin typeface="Calibri"/>
                <a:cs typeface="Calibri"/>
              </a:rPr>
              <a:t>=</a:t>
            </a:r>
            <a:r>
              <a:rPr dirty="0" sz="1200" spc="-2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0033B3"/>
                </a:solidFill>
                <a:latin typeface="Calibri"/>
                <a:cs typeface="Calibri"/>
              </a:rPr>
              <a:t>false</a:t>
            </a:r>
            <a:r>
              <a:rPr dirty="0" sz="1200">
                <a:solidFill>
                  <a:srgbClr val="080808"/>
                </a:solidFill>
                <a:latin typeface="Calibri"/>
                <a:cs typeface="Calibri"/>
              </a:rPr>
              <a:t>)</a:t>
            </a:r>
            <a:r>
              <a:rPr dirty="0" sz="1200" spc="-3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annotation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limit</a:t>
            </a:r>
            <a:endParaRPr sz="1200">
              <a:latin typeface="Calibri"/>
              <a:cs typeface="Calibri"/>
            </a:endParaRPr>
          </a:p>
          <a:p>
            <a:pPr algn="just" marL="355600">
              <a:lnSpc>
                <a:spcPts val="1295"/>
              </a:lnSpc>
            </a:pP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exposure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54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38150" y="1463801"/>
            <a:ext cx="4006850" cy="186055"/>
          </a:xfrm>
          <a:prstGeom prst="rect">
            <a:avLst/>
          </a:prstGeom>
          <a:ln w="4762">
            <a:solidFill>
              <a:srgbClr val="4471C4"/>
            </a:solidFill>
          </a:ln>
        </p:spPr>
        <p:txBody>
          <a:bodyPr wrap="square" lIns="0" tIns="15240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120"/>
              </a:spcBef>
            </a:pPr>
            <a:r>
              <a:rPr dirty="0" sz="900">
                <a:solidFill>
                  <a:srgbClr val="0033B3"/>
                </a:solidFill>
                <a:latin typeface="Calibri"/>
                <a:cs typeface="Calibri"/>
              </a:rPr>
              <a:t>public</a:t>
            </a:r>
            <a:r>
              <a:rPr dirty="0" sz="900" spc="25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033B3"/>
                </a:solidFill>
                <a:latin typeface="Calibri"/>
                <a:cs typeface="Calibri"/>
              </a:rPr>
              <a:t>interface</a:t>
            </a:r>
            <a:r>
              <a:rPr dirty="0" sz="900" spc="2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DepartmentRepository</a:t>
            </a:r>
            <a:r>
              <a:rPr dirty="0" sz="900" spc="35"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0033B3"/>
                </a:solidFill>
                <a:latin typeface="Calibri"/>
                <a:cs typeface="Calibri"/>
              </a:rPr>
              <a:t>extends</a:t>
            </a:r>
            <a:r>
              <a:rPr dirty="0" sz="900" spc="30">
                <a:solidFill>
                  <a:srgbClr val="0033B3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latin typeface="Calibri"/>
                <a:cs typeface="Calibri"/>
              </a:rPr>
              <a:t>JpaRepository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dirty="0" sz="900" spc="-10">
                <a:latin typeface="Calibri"/>
                <a:cs typeface="Calibri"/>
              </a:rPr>
              <a:t>Department</a:t>
            </a: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,</a:t>
            </a:r>
            <a:r>
              <a:rPr dirty="0" sz="900" spc="5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>
                <a:latin typeface="Calibri"/>
                <a:cs typeface="Calibri"/>
              </a:rPr>
              <a:t>Long</a:t>
            </a:r>
            <a:r>
              <a:rPr dirty="0" sz="900">
                <a:solidFill>
                  <a:srgbClr val="080808"/>
                </a:solidFill>
                <a:latin typeface="Calibri"/>
                <a:cs typeface="Calibri"/>
              </a:rPr>
              <a:t>&gt;</a:t>
            </a:r>
            <a:r>
              <a:rPr dirty="0" sz="900" spc="5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solidFill>
                  <a:srgbClr val="080808"/>
                </a:solidFill>
                <a:latin typeface="Calibri"/>
                <a:cs typeface="Calibri"/>
              </a:rPr>
              <a:t>{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54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Repository</a:t>
            </a:r>
            <a:r>
              <a:rPr dirty="0" spc="-114"/>
              <a:t> </a:t>
            </a:r>
            <a:r>
              <a:rPr dirty="0"/>
              <a:t>resources</a:t>
            </a:r>
            <a:r>
              <a:rPr dirty="0" spc="-125"/>
              <a:t> </a:t>
            </a:r>
            <a:r>
              <a:rPr dirty="0" spc="-10"/>
              <a:t>(cont)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08177"/>
            <a:ext cx="1937385" cy="45529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r" marL="113664" marR="42545" indent="-113664">
              <a:lnSpc>
                <a:spcPct val="100000"/>
              </a:lnSpc>
              <a:spcBef>
                <a:spcPts val="240"/>
              </a:spcBef>
              <a:buFont typeface="Arial"/>
              <a:buChar char="•"/>
              <a:tabLst>
                <a:tab pos="113664" algn="l"/>
              </a:tabLst>
            </a:pPr>
            <a:r>
              <a:rPr dirty="0" sz="1400" spc="-10">
                <a:latin typeface="Calibri"/>
                <a:cs typeface="Calibri"/>
              </a:rPr>
              <a:t>Resource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Discoverability</a:t>
            </a:r>
            <a:endParaRPr sz="1400">
              <a:latin typeface="Calibri"/>
              <a:cs typeface="Calibri"/>
            </a:endParaRPr>
          </a:p>
          <a:p>
            <a:pPr algn="r" lvl="1" marL="114300" marR="5080" indent="-114300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114300" algn="l"/>
              </a:tabLst>
            </a:pPr>
            <a:r>
              <a:rPr dirty="0" u="sng" sz="12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</a:rPr>
              <a:t>http://localhost:8080/</a:t>
            </a:r>
            <a:r>
              <a:rPr dirty="0" u="sng" sz="1200" spc="-10">
                <a:solidFill>
                  <a:srgbClr val="FF0000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</a:rPr>
              <a:t>api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55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823" y="1110995"/>
              <a:ext cx="3579876" cy="224180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94411" y="1108544"/>
              <a:ext cx="3584575" cy="2246630"/>
            </a:xfrm>
            <a:custGeom>
              <a:avLst/>
              <a:gdLst/>
              <a:ahLst/>
              <a:cxnLst/>
              <a:rect l="l" t="t" r="r" b="b"/>
              <a:pathLst>
                <a:path w="3584575" h="2246629">
                  <a:moveTo>
                    <a:pt x="0" y="2246630"/>
                  </a:moveTo>
                  <a:lnTo>
                    <a:pt x="3584575" y="2246630"/>
                  </a:lnTo>
                  <a:lnTo>
                    <a:pt x="3584575" y="0"/>
                  </a:lnTo>
                  <a:lnTo>
                    <a:pt x="0" y="0"/>
                  </a:lnTo>
                  <a:lnTo>
                    <a:pt x="0" y="2246630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55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48486" y="1458086"/>
            <a:ext cx="3592829" cy="1907539"/>
            <a:chOff x="848486" y="1458086"/>
            <a:chExt cx="3592829" cy="1907539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3439" y="1463039"/>
              <a:ext cx="3582924" cy="189737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851026" y="1460626"/>
              <a:ext cx="3587750" cy="1902460"/>
            </a:xfrm>
            <a:custGeom>
              <a:avLst/>
              <a:gdLst/>
              <a:ahLst/>
              <a:cxnLst/>
              <a:rect l="l" t="t" r="r" b="b"/>
              <a:pathLst>
                <a:path w="3587750" h="1902460">
                  <a:moveTo>
                    <a:pt x="0" y="1902206"/>
                  </a:moveTo>
                  <a:lnTo>
                    <a:pt x="3587623" y="1902206"/>
                  </a:lnTo>
                  <a:lnTo>
                    <a:pt x="3587623" y="0"/>
                  </a:lnTo>
                  <a:lnTo>
                    <a:pt x="0" y="0"/>
                  </a:lnTo>
                  <a:lnTo>
                    <a:pt x="0" y="1902206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7599" y="117093"/>
            <a:ext cx="594995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40"/>
              <a:t>Tools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347599" y="583533"/>
            <a:ext cx="1383030" cy="79375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10" i="1">
                <a:latin typeface="Calibri"/>
                <a:cs typeface="Calibri"/>
              </a:rPr>
              <a:t>Postman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20" i="1">
                <a:latin typeface="Calibri"/>
                <a:cs typeface="Calibri"/>
              </a:rPr>
              <a:t>CURL</a:t>
            </a:r>
            <a:endParaRPr sz="14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34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Explorer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56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31242" y="2876549"/>
            <a:ext cx="2542540" cy="323215"/>
          </a:xfrm>
          <a:custGeom>
            <a:avLst/>
            <a:gdLst/>
            <a:ahLst/>
            <a:cxnLst/>
            <a:rect l="l" t="t" r="r" b="b"/>
            <a:pathLst>
              <a:path w="2542540" h="323214">
                <a:moveTo>
                  <a:pt x="0" y="323088"/>
                </a:moveTo>
                <a:lnTo>
                  <a:pt x="2542032" y="323088"/>
                </a:lnTo>
                <a:lnTo>
                  <a:pt x="2542032" y="0"/>
                </a:lnTo>
                <a:lnTo>
                  <a:pt x="0" y="0"/>
                </a:lnTo>
                <a:lnTo>
                  <a:pt x="0" y="323088"/>
                </a:lnTo>
                <a:close/>
              </a:path>
            </a:pathLst>
          </a:custGeom>
          <a:ln w="476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3500" y="2879216"/>
            <a:ext cx="2374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080808"/>
                </a:solidFill>
                <a:latin typeface="Calibri"/>
                <a:cs typeface="Calibri"/>
              </a:rPr>
              <a:t>implementation</a:t>
            </a:r>
            <a:r>
              <a:rPr dirty="0" sz="900" spc="4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'org.springframework.data:spring-</a:t>
            </a:r>
            <a:r>
              <a:rPr dirty="0" sz="900" spc="500">
                <a:solidFill>
                  <a:srgbClr val="057C17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057C17"/>
                </a:solidFill>
                <a:latin typeface="Calibri"/>
                <a:cs typeface="Calibri"/>
              </a:rPr>
              <a:t>data-rest-hal-explorer'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56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Accessing</a:t>
            </a:r>
            <a:r>
              <a:rPr dirty="0" spc="-70"/>
              <a:t> </a:t>
            </a:r>
            <a:r>
              <a:rPr dirty="0" spc="-20"/>
              <a:t>path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41478" y="566445"/>
            <a:ext cx="1917064" cy="62738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000" spc="-10">
                <a:latin typeface="Calibri"/>
                <a:cs typeface="Calibri"/>
              </a:rPr>
              <a:t>/api/collections_name/{id}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000" spc="-10">
                <a:latin typeface="Calibri"/>
                <a:cs typeface="Calibri"/>
              </a:rPr>
              <a:t>/api/collections_name/{id}/attribute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000" spc="-10">
                <a:latin typeface="Calibri"/>
                <a:cs typeface="Calibri"/>
              </a:rPr>
              <a:t>/api/collections_name/?name=value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57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97251" y="425195"/>
              <a:ext cx="2109216" cy="283006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2394838" y="422871"/>
              <a:ext cx="2113915" cy="2835275"/>
            </a:xfrm>
            <a:custGeom>
              <a:avLst/>
              <a:gdLst/>
              <a:ahLst/>
              <a:cxnLst/>
              <a:rect l="l" t="t" r="r" b="b"/>
              <a:pathLst>
                <a:path w="2113915" h="2835275">
                  <a:moveTo>
                    <a:pt x="0" y="2834767"/>
                  </a:moveTo>
                  <a:lnTo>
                    <a:pt x="2113915" y="2834767"/>
                  </a:lnTo>
                  <a:lnTo>
                    <a:pt x="2113915" y="0"/>
                  </a:lnTo>
                  <a:lnTo>
                    <a:pt x="0" y="0"/>
                  </a:lnTo>
                  <a:lnTo>
                    <a:pt x="0" y="2834767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833621" y="400049"/>
              <a:ext cx="701040" cy="218440"/>
            </a:xfrm>
            <a:custGeom>
              <a:avLst/>
              <a:gdLst/>
              <a:ahLst/>
              <a:cxnLst/>
              <a:rect l="l" t="t" r="r" b="b"/>
              <a:pathLst>
                <a:path w="701039" h="218440">
                  <a:moveTo>
                    <a:pt x="0" y="217932"/>
                  </a:moveTo>
                  <a:lnTo>
                    <a:pt x="701039" y="217932"/>
                  </a:lnTo>
                  <a:lnTo>
                    <a:pt x="701039" y="0"/>
                  </a:lnTo>
                  <a:lnTo>
                    <a:pt x="0" y="0"/>
                  </a:lnTo>
                  <a:lnTo>
                    <a:pt x="0" y="217932"/>
                  </a:lnTo>
                  <a:close/>
                </a:path>
              </a:pathLst>
            </a:custGeom>
            <a:ln w="476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57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dirty="0" spc="-40"/>
              <a:t> </a:t>
            </a:r>
            <a:r>
              <a:rPr dirty="0"/>
              <a:t>Collection</a:t>
            </a:r>
            <a:r>
              <a:rPr dirty="0" spc="10"/>
              <a:t> </a:t>
            </a:r>
            <a:r>
              <a:rPr dirty="0" spc="-10"/>
              <a:t>Resources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47599" y="608102"/>
            <a:ext cx="3878579" cy="960119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latin typeface="Calibri"/>
                <a:cs typeface="Calibri"/>
              </a:rPr>
              <a:t>Parameters</a:t>
            </a:r>
            <a:endParaRPr sz="1400">
              <a:latin typeface="Calibri"/>
              <a:cs typeface="Calibri"/>
            </a:endParaRPr>
          </a:p>
          <a:p>
            <a:pPr lvl="1" marL="355600" marR="5080" indent="-114300">
              <a:lnSpc>
                <a:spcPts val="1300"/>
              </a:lnSpc>
              <a:spcBef>
                <a:spcPts val="280"/>
              </a:spcBef>
              <a:buFont typeface="Arial"/>
              <a:buChar char="•"/>
              <a:tabLst>
                <a:tab pos="355600" algn="l"/>
                <a:tab pos="568960" algn="l"/>
                <a:tab pos="905510" algn="l"/>
                <a:tab pos="1669414" algn="l"/>
                <a:tab pos="2011045" algn="l"/>
                <a:tab pos="2797810" algn="l"/>
                <a:tab pos="3658870" algn="l"/>
              </a:tabLst>
            </a:pPr>
            <a:r>
              <a:rPr dirty="0" sz="1200" spc="-25">
                <a:latin typeface="Calibri"/>
                <a:cs typeface="Calibri"/>
              </a:rPr>
              <a:t>If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the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repository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has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pagination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10">
                <a:latin typeface="Calibri"/>
                <a:cs typeface="Calibri"/>
              </a:rPr>
              <a:t>capabilities,</a:t>
            </a:r>
            <a:r>
              <a:rPr dirty="0" sz="1200">
                <a:latin typeface="Calibri"/>
                <a:cs typeface="Calibri"/>
              </a:rPr>
              <a:t>	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10">
                <a:latin typeface="Calibri"/>
                <a:cs typeface="Calibri"/>
              </a:rPr>
              <a:t>resource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takes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following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parameters:</a:t>
            </a:r>
            <a:endParaRPr sz="1200">
              <a:latin typeface="Calibri"/>
              <a:cs typeface="Calibri"/>
            </a:endParaRPr>
          </a:p>
          <a:p>
            <a:pPr lvl="2" marL="582930" indent="-11303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582930" algn="l"/>
              </a:tabLst>
            </a:pP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page</a:t>
            </a:r>
            <a:r>
              <a:rPr dirty="0" sz="1000">
                <a:latin typeface="Calibri"/>
                <a:cs typeface="Calibri"/>
              </a:rPr>
              <a:t>: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page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number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access (0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indexed,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defaults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0).</a:t>
            </a:r>
            <a:endParaRPr sz="1000">
              <a:latin typeface="Calibri"/>
              <a:cs typeface="Calibri"/>
            </a:endParaRPr>
          </a:p>
          <a:p>
            <a:pPr lvl="2" marL="582930" indent="-11303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582930" algn="l"/>
              </a:tabLst>
            </a:pPr>
            <a:r>
              <a:rPr dirty="0" sz="1000">
                <a:solidFill>
                  <a:srgbClr val="FF0000"/>
                </a:solidFill>
                <a:latin typeface="Calibri"/>
                <a:cs typeface="Calibri"/>
              </a:rPr>
              <a:t>size</a:t>
            </a:r>
            <a:r>
              <a:rPr dirty="0" sz="1000">
                <a:latin typeface="Calibri"/>
                <a:cs typeface="Calibri"/>
              </a:rPr>
              <a:t>: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page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size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requested </a:t>
            </a:r>
            <a:r>
              <a:rPr dirty="0" sz="1000">
                <a:latin typeface="Calibri"/>
                <a:cs typeface="Calibri"/>
              </a:rPr>
              <a:t>(defaults to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 spc="-20">
                <a:latin typeface="Calibri"/>
                <a:cs typeface="Calibri"/>
              </a:rPr>
              <a:t>20).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90622" y="1558289"/>
            <a:ext cx="15322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0715" algn="l"/>
                <a:tab pos="866140" algn="l"/>
                <a:tab pos="1169035" algn="l"/>
              </a:tabLst>
            </a:pPr>
            <a:r>
              <a:rPr dirty="0" sz="1000" spc="-10">
                <a:latin typeface="Calibri"/>
                <a:cs typeface="Calibri"/>
              </a:rPr>
              <a:t>directives</a:t>
            </a:r>
            <a:r>
              <a:rPr dirty="0" sz="1000">
                <a:latin typeface="Calibri"/>
                <a:cs typeface="Calibri"/>
              </a:rPr>
              <a:t>	</a:t>
            </a:r>
            <a:r>
              <a:rPr dirty="0" sz="1000" spc="-25">
                <a:latin typeface="Calibri"/>
                <a:cs typeface="Calibri"/>
              </a:rPr>
              <a:t>in</a:t>
            </a:r>
            <a:r>
              <a:rPr dirty="0" sz="1000">
                <a:latin typeface="Calibri"/>
                <a:cs typeface="Calibri"/>
              </a:rPr>
              <a:t>	</a:t>
            </a:r>
            <a:r>
              <a:rPr dirty="0" sz="1000" spc="-25">
                <a:latin typeface="Calibri"/>
                <a:cs typeface="Calibri"/>
              </a:rPr>
              <a:t>the</a:t>
            </a:r>
            <a:r>
              <a:rPr dirty="0" sz="1000">
                <a:latin typeface="Calibri"/>
                <a:cs typeface="Calibri"/>
              </a:rPr>
              <a:t>	</a:t>
            </a:r>
            <a:r>
              <a:rPr dirty="0" sz="1000" spc="-10">
                <a:latin typeface="Calibri"/>
                <a:cs typeface="Calibri"/>
              </a:rPr>
              <a:t>format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7599" y="1558289"/>
            <a:ext cx="2239010" cy="961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570230" indent="-113030">
              <a:lnSpc>
                <a:spcPts val="1140"/>
              </a:lnSpc>
              <a:spcBef>
                <a:spcPts val="95"/>
              </a:spcBef>
              <a:buFont typeface="Arial"/>
              <a:buChar char="•"/>
              <a:tabLst>
                <a:tab pos="570230" algn="l"/>
                <a:tab pos="938530" algn="l"/>
                <a:tab pos="1143000" algn="l"/>
                <a:tab pos="1772920" algn="l"/>
                <a:tab pos="2009139" algn="l"/>
              </a:tabLst>
            </a:pPr>
            <a:r>
              <a:rPr dirty="0" sz="1000" spc="-10">
                <a:solidFill>
                  <a:srgbClr val="FF0000"/>
                </a:solidFill>
                <a:latin typeface="Calibri"/>
                <a:cs typeface="Calibri"/>
              </a:rPr>
              <a:t>sort</a:t>
            </a:r>
            <a:r>
              <a:rPr dirty="0" sz="1000" spc="-10">
                <a:latin typeface="Calibri"/>
                <a:cs typeface="Calibri"/>
              </a:rPr>
              <a:t>:</a:t>
            </a:r>
            <a:r>
              <a:rPr dirty="0" sz="1000">
                <a:latin typeface="Calibri"/>
                <a:cs typeface="Calibri"/>
              </a:rPr>
              <a:t>	</a:t>
            </a:r>
            <a:r>
              <a:rPr dirty="0" sz="1000" spc="-50">
                <a:latin typeface="Calibri"/>
                <a:cs typeface="Calibri"/>
              </a:rPr>
              <a:t>A</a:t>
            </a:r>
            <a:r>
              <a:rPr dirty="0" sz="1000">
                <a:latin typeface="Calibri"/>
                <a:cs typeface="Calibri"/>
              </a:rPr>
              <a:t>	</a:t>
            </a:r>
            <a:r>
              <a:rPr dirty="0" sz="1000" spc="-10">
                <a:latin typeface="Calibri"/>
                <a:cs typeface="Calibri"/>
              </a:rPr>
              <a:t>collection</a:t>
            </a:r>
            <a:r>
              <a:rPr dirty="0" sz="1000">
                <a:latin typeface="Calibri"/>
                <a:cs typeface="Calibri"/>
              </a:rPr>
              <a:t>	</a:t>
            </a:r>
            <a:r>
              <a:rPr dirty="0" sz="1000" spc="-25">
                <a:latin typeface="Calibri"/>
                <a:cs typeface="Calibri"/>
              </a:rPr>
              <a:t>of</a:t>
            </a:r>
            <a:r>
              <a:rPr dirty="0" sz="1000">
                <a:latin typeface="Calibri"/>
                <a:cs typeface="Calibri"/>
              </a:rPr>
              <a:t>	</a:t>
            </a:r>
            <a:r>
              <a:rPr dirty="0" sz="1000" spc="-20">
                <a:latin typeface="Calibri"/>
                <a:cs typeface="Calibri"/>
              </a:rPr>
              <a:t>sort</a:t>
            </a:r>
            <a:endParaRPr sz="1000">
              <a:latin typeface="Calibri"/>
              <a:cs typeface="Calibri"/>
            </a:endParaRPr>
          </a:p>
          <a:p>
            <a:pPr algn="ctr" marL="520065">
              <a:lnSpc>
                <a:spcPts val="1140"/>
              </a:lnSpc>
            </a:pPr>
            <a:r>
              <a:rPr dirty="0" sz="1000" spc="-10" i="1">
                <a:latin typeface="Calibri"/>
                <a:cs typeface="Calibri"/>
              </a:rPr>
              <a:t>($propertyname,)+[asc|desc]</a:t>
            </a:r>
            <a:r>
              <a:rPr dirty="0" sz="1000" spc="-10">
                <a:latin typeface="Calibri"/>
                <a:cs typeface="Calibri"/>
              </a:rPr>
              <a:t>?.</a:t>
            </a:r>
            <a:endParaRPr sz="1000">
              <a:latin typeface="Calibri"/>
              <a:cs typeface="Calibri"/>
            </a:endParaRPr>
          </a:p>
          <a:p>
            <a:pPr marL="126364" indent="-113664">
              <a:lnSpc>
                <a:spcPct val="100000"/>
              </a:lnSpc>
              <a:spcBef>
                <a:spcPts val="309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Supported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Media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Types</a:t>
            </a:r>
            <a:endParaRPr sz="14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14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10" i="1">
                <a:latin typeface="Calibri"/>
                <a:cs typeface="Calibri"/>
              </a:rPr>
              <a:t>application/hal+json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10" i="1">
                <a:latin typeface="Calibri"/>
                <a:cs typeface="Calibri"/>
              </a:rPr>
              <a:t>application/json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58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58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Whitelabel</a:t>
            </a:r>
            <a:r>
              <a:rPr dirty="0" spc="-90"/>
              <a:t> </a:t>
            </a:r>
            <a:r>
              <a:rPr dirty="0"/>
              <a:t>Error</a:t>
            </a:r>
            <a:r>
              <a:rPr dirty="0" spc="-95"/>
              <a:t> </a:t>
            </a:r>
            <a:r>
              <a:rPr dirty="0" spc="-20"/>
              <a:t>Page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08196" y="2109342"/>
            <a:ext cx="11683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Courier New"/>
                <a:cs typeface="Courier New"/>
              </a:rPr>
              <a:t>=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7599" y="1468650"/>
            <a:ext cx="3746500" cy="1014094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250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 spc="-10">
                <a:latin typeface="Calibri"/>
                <a:cs typeface="Calibri"/>
              </a:rPr>
              <a:t>Disable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using</a:t>
            </a:r>
            <a:r>
              <a:rPr dirty="0" sz="1400" spc="-10">
                <a:latin typeface="Calibri"/>
                <a:cs typeface="Calibri"/>
              </a:rPr>
              <a:t> properties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file</a:t>
            </a:r>
            <a:endParaRPr sz="1400">
              <a:latin typeface="Calibri"/>
              <a:cs typeface="Calibri"/>
            </a:endParaRPr>
          </a:p>
          <a:p>
            <a:pPr lvl="1" marL="355600" indent="-1143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10">
                <a:latin typeface="Courier New"/>
                <a:cs typeface="Courier New"/>
              </a:rPr>
              <a:t>server.error.whitelabel.enabled=false</a:t>
            </a:r>
            <a:endParaRPr sz="1200">
              <a:latin typeface="Courier New"/>
              <a:cs typeface="Courier New"/>
            </a:endParaRPr>
          </a:p>
          <a:p>
            <a:pPr lvl="1" marL="355600" indent="-1143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annotation</a:t>
            </a:r>
            <a:endParaRPr sz="1200">
              <a:latin typeface="Calibri"/>
              <a:cs typeface="Calibri"/>
            </a:endParaRPr>
          </a:p>
          <a:p>
            <a:pPr lvl="1" marL="355600" indent="-114300">
              <a:lnSpc>
                <a:spcPts val="1370"/>
              </a:lnSpc>
              <a:spcBef>
                <a:spcPts val="11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 spc="-10">
                <a:latin typeface="Courier New"/>
                <a:cs typeface="Courier New"/>
              </a:rPr>
              <a:t>@EnableAutoConfiguration(exclude</a:t>
            </a:r>
            <a:endParaRPr sz="1200">
              <a:latin typeface="Courier New"/>
              <a:cs typeface="Courier New"/>
            </a:endParaRPr>
          </a:p>
          <a:p>
            <a:pPr marL="355600">
              <a:lnSpc>
                <a:spcPts val="1370"/>
              </a:lnSpc>
            </a:pPr>
            <a:r>
              <a:rPr dirty="0" sz="1200" spc="-10">
                <a:latin typeface="Courier New"/>
                <a:cs typeface="Courier New"/>
              </a:rPr>
              <a:t>{ErrorMvcAutoConfiguration.class})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7599" y="2752166"/>
            <a:ext cx="202628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6364" indent="-113664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126364" algn="l"/>
              </a:tabLst>
            </a:pPr>
            <a:r>
              <a:rPr dirty="0" sz="1400">
                <a:latin typeface="Calibri"/>
                <a:cs typeface="Calibri"/>
              </a:rPr>
              <a:t>Other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fixings: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(study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later)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59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-11887" y="-11226"/>
            <a:ext cx="4596130" cy="3452495"/>
            <a:chOff x="-11887" y="-11226"/>
            <a:chExt cx="4596130" cy="3452495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9223" y="487679"/>
              <a:ext cx="3005328" cy="92339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646811" y="485330"/>
              <a:ext cx="3010535" cy="960755"/>
            </a:xfrm>
            <a:custGeom>
              <a:avLst/>
              <a:gdLst/>
              <a:ahLst/>
              <a:cxnLst/>
              <a:rect l="l" t="t" r="r" b="b"/>
              <a:pathLst>
                <a:path w="3010535" h="960755">
                  <a:moveTo>
                    <a:pt x="0" y="960310"/>
                  </a:moveTo>
                  <a:lnTo>
                    <a:pt x="3010027" y="960310"/>
                  </a:lnTo>
                  <a:lnTo>
                    <a:pt x="3010027" y="0"/>
                  </a:lnTo>
                  <a:lnTo>
                    <a:pt x="0" y="0"/>
                  </a:lnTo>
                  <a:lnTo>
                    <a:pt x="0" y="960310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57272" y="2586227"/>
              <a:ext cx="1844039" cy="345793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2554859" y="2583878"/>
              <a:ext cx="1849120" cy="369570"/>
            </a:xfrm>
            <a:custGeom>
              <a:avLst/>
              <a:gdLst/>
              <a:ahLst/>
              <a:cxnLst/>
              <a:rect l="l" t="t" r="r" b="b"/>
              <a:pathLst>
                <a:path w="1849120" h="369569">
                  <a:moveTo>
                    <a:pt x="0" y="368998"/>
                  </a:moveTo>
                  <a:lnTo>
                    <a:pt x="1848739" y="368998"/>
                  </a:lnTo>
                  <a:lnTo>
                    <a:pt x="1848739" y="0"/>
                  </a:lnTo>
                  <a:lnTo>
                    <a:pt x="0" y="0"/>
                  </a:lnTo>
                  <a:lnTo>
                    <a:pt x="0" y="368998"/>
                  </a:lnTo>
                  <a:close/>
                </a:path>
              </a:pathLst>
            </a:custGeom>
            <a:ln w="47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04" y="965"/>
              <a:ext cx="4572000" cy="3427729"/>
            </a:xfrm>
            <a:custGeom>
              <a:avLst/>
              <a:gdLst/>
              <a:ahLst/>
              <a:cxnLst/>
              <a:rect l="l" t="t" r="r" b="b"/>
              <a:pathLst>
                <a:path w="4572000" h="3427729">
                  <a:moveTo>
                    <a:pt x="0" y="3427729"/>
                  </a:moveTo>
                  <a:lnTo>
                    <a:pt x="4571746" y="3427729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7729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59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599" y="117093"/>
            <a:ext cx="1309370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Transaction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6364" indent="-113664">
              <a:lnSpc>
                <a:spcPts val="1664"/>
              </a:lnSpc>
              <a:spcBef>
                <a:spcPts val="100"/>
              </a:spcBef>
              <a:buFont typeface="Arial"/>
              <a:buChar char="•"/>
              <a:tabLst>
                <a:tab pos="126364" algn="l"/>
              </a:tabLst>
            </a:pPr>
            <a:r>
              <a:rPr dirty="0"/>
              <a:t>Global</a:t>
            </a:r>
            <a:r>
              <a:rPr dirty="0" spc="-60"/>
              <a:t> </a:t>
            </a:r>
            <a:r>
              <a:rPr dirty="0" spc="-10"/>
              <a:t>Transactions</a:t>
            </a:r>
          </a:p>
          <a:p>
            <a:pPr algn="just" lvl="1" marL="355600" marR="5080" indent="-114300">
              <a:lnSpc>
                <a:spcPct val="80100"/>
              </a:lnSpc>
              <a:spcBef>
                <a:spcPts val="27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Global</a:t>
            </a:r>
            <a:r>
              <a:rPr dirty="0" sz="1200" spc="27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transactions</a:t>
            </a:r>
            <a:r>
              <a:rPr dirty="0" sz="1200" spc="28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let</a:t>
            </a:r>
            <a:r>
              <a:rPr dirty="0" sz="1200" spc="28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you</a:t>
            </a:r>
            <a:r>
              <a:rPr dirty="0" sz="1200" spc="28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28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280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multiple </a:t>
            </a:r>
            <a:r>
              <a:rPr dirty="0" sz="1200">
                <a:latin typeface="Calibri"/>
                <a:cs typeface="Calibri"/>
              </a:rPr>
              <a:t>transactional</a:t>
            </a:r>
            <a:r>
              <a:rPr dirty="0" sz="1200" spc="3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resources,</a:t>
            </a:r>
            <a:r>
              <a:rPr dirty="0" sz="1200" spc="3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typically</a:t>
            </a:r>
            <a:r>
              <a:rPr dirty="0" sz="1200" spc="3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relational</a:t>
            </a:r>
            <a:r>
              <a:rPr dirty="0" sz="1200" spc="3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databases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2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message</a:t>
            </a:r>
            <a:r>
              <a:rPr dirty="0" sz="1200" spc="20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queues.</a:t>
            </a:r>
            <a:r>
              <a:rPr dirty="0" sz="1200" spc="2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229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manages </a:t>
            </a:r>
            <a:r>
              <a:rPr dirty="0" sz="1200">
                <a:latin typeface="Calibri"/>
                <a:cs typeface="Calibri"/>
              </a:rPr>
              <a:t>global</a:t>
            </a:r>
            <a:r>
              <a:rPr dirty="0" sz="1200" spc="2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transactions</a:t>
            </a:r>
            <a:r>
              <a:rPr dirty="0" sz="1200" spc="2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2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JTA</a:t>
            </a:r>
            <a:r>
              <a:rPr dirty="0" sz="1200" spc="2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(Java</a:t>
            </a:r>
            <a:r>
              <a:rPr dirty="0" sz="1200" spc="28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 API).</a:t>
            </a:r>
            <a:endParaRPr sz="1200">
              <a:latin typeface="Calibri"/>
              <a:cs typeface="Calibri"/>
            </a:endParaRPr>
          </a:p>
          <a:p>
            <a:pPr algn="just" lvl="1" marL="355600" indent="-114300">
              <a:lnSpc>
                <a:spcPts val="1405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200" spc="-10">
                <a:latin typeface="Calibri"/>
                <a:cs typeface="Calibri"/>
              </a:rPr>
              <a:t>@EnableTransactionManagement</a:t>
            </a:r>
            <a:endParaRPr sz="1200">
              <a:latin typeface="Calibri"/>
              <a:cs typeface="Calibri"/>
            </a:endParaRPr>
          </a:p>
          <a:p>
            <a:pPr marL="126364" indent="-113664">
              <a:lnSpc>
                <a:spcPts val="1664"/>
              </a:lnSpc>
              <a:spcBef>
                <a:spcPts val="150"/>
              </a:spcBef>
              <a:buFont typeface="Arial"/>
              <a:buChar char="•"/>
              <a:tabLst>
                <a:tab pos="126364" algn="l"/>
              </a:tabLst>
            </a:pPr>
            <a:r>
              <a:rPr dirty="0"/>
              <a:t>Local</a:t>
            </a:r>
            <a:r>
              <a:rPr dirty="0" spc="-40"/>
              <a:t> </a:t>
            </a:r>
            <a:r>
              <a:rPr dirty="0" spc="-10"/>
              <a:t>Transactions</a:t>
            </a:r>
          </a:p>
          <a:p>
            <a:pPr algn="just" lvl="1" marL="355600" marR="5080" indent="-114300">
              <a:lnSpc>
                <a:spcPct val="80000"/>
              </a:lnSpc>
              <a:spcBef>
                <a:spcPts val="27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Local</a:t>
            </a:r>
            <a:r>
              <a:rPr dirty="0" sz="1200" spc="15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transactions</a:t>
            </a:r>
            <a:r>
              <a:rPr dirty="0" sz="1200" spc="14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are</a:t>
            </a:r>
            <a:r>
              <a:rPr dirty="0" sz="1200" spc="145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resource-</a:t>
            </a:r>
            <a:r>
              <a:rPr dirty="0" sz="1200">
                <a:latin typeface="Calibri"/>
                <a:cs typeface="Calibri"/>
              </a:rPr>
              <a:t>specific,</a:t>
            </a:r>
            <a:r>
              <a:rPr dirty="0" sz="1200" spc="14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such</a:t>
            </a:r>
            <a:r>
              <a:rPr dirty="0" sz="1200" spc="15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145">
                <a:latin typeface="Calibri"/>
                <a:cs typeface="Calibri"/>
              </a:rPr>
              <a:t> 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 spc="-10">
                <a:latin typeface="Calibri"/>
                <a:cs typeface="Calibri"/>
              </a:rPr>
              <a:t>transaction associated</a:t>
            </a:r>
            <a:r>
              <a:rPr dirty="0" sz="1200">
                <a:latin typeface="Calibri"/>
                <a:cs typeface="Calibri"/>
              </a:rPr>
              <a:t> with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JDBC </a:t>
            </a:r>
            <a:r>
              <a:rPr dirty="0" sz="1200" spc="-10">
                <a:latin typeface="Calibri"/>
                <a:cs typeface="Calibri"/>
              </a:rPr>
              <a:t>connection.</a:t>
            </a:r>
            <a:endParaRPr sz="1200">
              <a:latin typeface="Calibri"/>
              <a:cs typeface="Calibri"/>
            </a:endParaRPr>
          </a:p>
          <a:p>
            <a:pPr algn="just" lvl="1" marL="355600" marR="5080" indent="-114300">
              <a:lnSpc>
                <a:spcPct val="80000"/>
              </a:lnSpc>
              <a:spcBef>
                <a:spcPts val="254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200">
                <a:latin typeface="Calibri"/>
                <a:cs typeface="Calibri"/>
              </a:rPr>
              <a:t>Local</a:t>
            </a:r>
            <a:r>
              <a:rPr dirty="0" sz="1200" spc="3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transactions</a:t>
            </a:r>
            <a:r>
              <a:rPr dirty="0" sz="1200" spc="3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may</a:t>
            </a:r>
            <a:r>
              <a:rPr dirty="0" sz="1200" spc="3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3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easier</a:t>
            </a:r>
            <a:r>
              <a:rPr dirty="0" sz="1200" spc="3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3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3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3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have</a:t>
            </a:r>
            <a:r>
              <a:rPr dirty="0" sz="1200" spc="335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significant</a:t>
            </a:r>
            <a:r>
              <a:rPr dirty="0" sz="1200" spc="18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disadvantage:</a:t>
            </a:r>
            <a:r>
              <a:rPr dirty="0" sz="1200" spc="18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They</a:t>
            </a:r>
            <a:r>
              <a:rPr dirty="0" sz="1200" spc="180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cannot</a:t>
            </a:r>
            <a:r>
              <a:rPr dirty="0" sz="1200" spc="185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work</a:t>
            </a:r>
            <a:r>
              <a:rPr dirty="0" sz="1200" spc="170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across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transactional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resources.</a:t>
            </a:r>
            <a:endParaRPr sz="1200">
              <a:latin typeface="Calibri"/>
              <a:cs typeface="Calibri"/>
            </a:endParaRPr>
          </a:p>
          <a:p>
            <a:pPr algn="just" lvl="1" marL="355600" indent="-114300">
              <a:lnSpc>
                <a:spcPts val="1405"/>
              </a:lnSpc>
              <a:buFont typeface="Arial"/>
              <a:buChar char="•"/>
              <a:tabLst>
                <a:tab pos="355600" algn="l"/>
              </a:tabLst>
            </a:pPr>
            <a:r>
              <a:rPr dirty="0" sz="1200" spc="-10">
                <a:latin typeface="Calibri"/>
                <a:cs typeface="Calibri"/>
              </a:rPr>
              <a:t>@Autowired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TransactionManager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24325" y="3207257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60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304" y="0"/>
            <a:ext cx="4572000" cy="3428365"/>
          </a:xfrm>
          <a:custGeom>
            <a:avLst/>
            <a:gdLst/>
            <a:ahLst/>
            <a:cxnLst/>
            <a:rect l="l" t="t" r="r" b="b"/>
            <a:pathLst>
              <a:path w="4572000" h="3428365">
                <a:moveTo>
                  <a:pt x="0" y="3428111"/>
                </a:moveTo>
                <a:lnTo>
                  <a:pt x="4571746" y="3428111"/>
                </a:lnTo>
                <a:lnTo>
                  <a:pt x="4571746" y="0"/>
                </a:lnTo>
                <a:lnTo>
                  <a:pt x="0" y="0"/>
                </a:lnTo>
                <a:lnTo>
                  <a:pt x="0" y="3428111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60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2809" y="610704"/>
            <a:ext cx="2448560" cy="2449830"/>
            <a:chOff x="72809" y="610704"/>
            <a:chExt cx="2448560" cy="244983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723" y="634006"/>
              <a:ext cx="2429250" cy="2421613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75349" y="613244"/>
              <a:ext cx="2443480" cy="2444750"/>
            </a:xfrm>
            <a:custGeom>
              <a:avLst/>
              <a:gdLst/>
              <a:ahLst/>
              <a:cxnLst/>
              <a:rect l="l" t="t" r="r" b="b"/>
              <a:pathLst>
                <a:path w="2443480" h="2444750">
                  <a:moveTo>
                    <a:pt x="0" y="2444750"/>
                  </a:moveTo>
                  <a:lnTo>
                    <a:pt x="2443226" y="2444750"/>
                  </a:lnTo>
                  <a:lnTo>
                    <a:pt x="2443226" y="0"/>
                  </a:lnTo>
                  <a:lnTo>
                    <a:pt x="0" y="0"/>
                  </a:lnTo>
                  <a:lnTo>
                    <a:pt x="0" y="2444750"/>
                  </a:lnTo>
                  <a:close/>
                </a:path>
              </a:pathLst>
            </a:custGeom>
            <a:ln w="47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4124325" y="3207816"/>
            <a:ext cx="10160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solidFill>
                  <a:srgbClr val="888888"/>
                </a:solidFill>
                <a:latin typeface="Calibri"/>
                <a:cs typeface="Calibri"/>
              </a:rPr>
              <a:t>61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04" y="965"/>
            <a:ext cx="4572000" cy="3427729"/>
          </a:xfrm>
          <a:custGeom>
            <a:avLst/>
            <a:gdLst/>
            <a:ahLst/>
            <a:cxnLst/>
            <a:rect l="l" t="t" r="r" b="b"/>
            <a:pathLst>
              <a:path w="4572000" h="3427729">
                <a:moveTo>
                  <a:pt x="0" y="3427729"/>
                </a:moveTo>
                <a:lnTo>
                  <a:pt x="4571746" y="3427729"/>
                </a:lnTo>
                <a:lnTo>
                  <a:pt x="4571746" y="0"/>
                </a:lnTo>
                <a:lnTo>
                  <a:pt x="0" y="0"/>
                </a:lnTo>
                <a:lnTo>
                  <a:pt x="0" y="3427729"/>
                </a:lnTo>
                <a:close/>
              </a:path>
            </a:pathLst>
          </a:custGeom>
          <a:ln w="243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-12395" y="345592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61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1887" y="-12192"/>
            <a:ext cx="4596130" cy="3452495"/>
            <a:chOff x="-11887" y="-12192"/>
            <a:chExt cx="4596130" cy="345249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7973" y="623340"/>
              <a:ext cx="1327672" cy="2186893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04" y="0"/>
              <a:ext cx="4572000" cy="3428365"/>
            </a:xfrm>
            <a:custGeom>
              <a:avLst/>
              <a:gdLst/>
              <a:ahLst/>
              <a:cxnLst/>
              <a:rect l="l" t="t" r="r" b="b"/>
              <a:pathLst>
                <a:path w="4572000" h="3428365">
                  <a:moveTo>
                    <a:pt x="0" y="3428111"/>
                  </a:moveTo>
                  <a:lnTo>
                    <a:pt x="4571746" y="3428111"/>
                  </a:lnTo>
                  <a:lnTo>
                    <a:pt x="4571746" y="0"/>
                  </a:lnTo>
                  <a:lnTo>
                    <a:pt x="0" y="0"/>
                  </a:lnTo>
                  <a:lnTo>
                    <a:pt x="0" y="3428111"/>
                  </a:lnTo>
                  <a:close/>
                </a:path>
              </a:pathLst>
            </a:custGeom>
            <a:ln w="243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-12395" y="3454653"/>
            <a:ext cx="1536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252525"/>
                </a:solidFill>
                <a:latin typeface="Calibri"/>
                <a:cs typeface="Calibri"/>
              </a:rPr>
              <a:t>62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Võ Văn Hải</dc:creator>
  <dc:title>PowerPoint Presentation</dc:title>
  <dcterms:created xsi:type="dcterms:W3CDTF">2023-10-14T01:07:13Z</dcterms:created>
  <dcterms:modified xsi:type="dcterms:W3CDTF">2023-10-14T01:07:13Z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2023-10-14T00:00:00Z</vt:filetime>
  </property>
  <property fmtid="{D5CDD505-2E9C-101B-9397-08002B2CF9AE}" pid="5" name="Producer">
    <vt:lpwstr>Microsoft® PowerPoint® for Microsoft 365</vt:lpwstr>
  </property>
</Properties>
</file>