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4572000" cy="3632200"/>
  <p:notesSz cx="4572000" cy="36322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3376" y="1124013"/>
            <a:ext cx="3891597" cy="7614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86752" y="2030476"/>
            <a:ext cx="3204845" cy="906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28917" y="833945"/>
            <a:ext cx="1991582" cy="23930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57850" y="833945"/>
            <a:ext cx="1991582" cy="23930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599" y="117093"/>
            <a:ext cx="3883151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2932" y="558810"/>
            <a:ext cx="3872484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556639" y="3372040"/>
            <a:ext cx="1465072" cy="1812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28917" y="3372040"/>
            <a:ext cx="1053020" cy="1812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296412" y="3372040"/>
            <a:ext cx="1053020" cy="1812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mailto:vovanhai@iuh.edu.vn" TargetMode="External"/><Relationship Id="rId3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0580" y="1740292"/>
            <a:ext cx="1372235" cy="47942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445"/>
              </a:spcBef>
            </a:pPr>
            <a:r>
              <a:rPr dirty="0" sz="1200" spc="-10">
                <a:latin typeface="Calibri"/>
                <a:cs typeface="Calibri"/>
              </a:rPr>
              <a:t>By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Vo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Van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5">
                <a:latin typeface="Calibri"/>
                <a:cs typeface="Calibri"/>
              </a:rPr>
              <a:t>Hai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45"/>
              </a:spcBef>
            </a:pPr>
            <a:r>
              <a:rPr dirty="0" u="sng" sz="1200" spc="-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vovanhai@iuh.edu.vn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11887" y="0"/>
            <a:ext cx="4596130" cy="3452495"/>
            <a:chOff x="-11887" y="0"/>
            <a:chExt cx="4596130" cy="345249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0139" y="701039"/>
              <a:ext cx="3008299" cy="71011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04" y="0"/>
              <a:ext cx="4572000" cy="3428365"/>
            </a:xfrm>
            <a:custGeom>
              <a:avLst/>
              <a:gdLst/>
              <a:ahLst/>
              <a:cxnLst/>
              <a:rect l="l" t="t" r="r" b="b"/>
              <a:pathLst>
                <a:path w="4572000" h="3428365">
                  <a:moveTo>
                    <a:pt x="0" y="3428111"/>
                  </a:moveTo>
                  <a:lnTo>
                    <a:pt x="4571746" y="3428111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8111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-12395" y="3454653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solidFill>
                  <a:srgbClr val="252525"/>
                </a:solidFill>
                <a:latin typeface="Calibri"/>
                <a:cs typeface="Calibri"/>
              </a:rPr>
              <a:t>1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599" y="117767"/>
            <a:ext cx="1414780" cy="3606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5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599" y="613702"/>
            <a:ext cx="3879850" cy="243014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algn="just" marL="127000" marR="7620" indent="-114935">
              <a:lnSpc>
                <a:spcPct val="80100"/>
              </a:lnSpc>
              <a:spcBef>
                <a:spcPts val="405"/>
              </a:spcBef>
              <a:buFont typeface="Arial MT"/>
              <a:buChar char="•"/>
              <a:tabLst>
                <a:tab pos="127635" algn="l"/>
              </a:tabLst>
            </a:pPr>
            <a:r>
              <a:rPr dirty="0" sz="1300" spc="-5">
                <a:latin typeface="Calibri"/>
                <a:cs typeface="Calibri"/>
              </a:rPr>
              <a:t>Spring</a:t>
            </a:r>
            <a:r>
              <a:rPr dirty="0" sz="1300">
                <a:latin typeface="Calibri"/>
                <a:cs typeface="Calibri"/>
              </a:rPr>
              <a:t> </a:t>
            </a:r>
            <a:r>
              <a:rPr dirty="0" sz="1300" spc="-5">
                <a:latin typeface="Calibri"/>
                <a:cs typeface="Calibri"/>
              </a:rPr>
              <a:t>Boot</a:t>
            </a:r>
            <a:r>
              <a:rPr dirty="0" sz="1300">
                <a:latin typeface="Calibri"/>
                <a:cs typeface="Calibri"/>
              </a:rPr>
              <a:t> </a:t>
            </a:r>
            <a:r>
              <a:rPr dirty="0" sz="1300" spc="-15">
                <a:latin typeface="Calibri"/>
                <a:cs typeface="Calibri"/>
              </a:rPr>
              <a:t>makes</a:t>
            </a:r>
            <a:r>
              <a:rPr dirty="0" sz="1300" spc="-1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it</a:t>
            </a:r>
            <a:r>
              <a:rPr dirty="0" sz="1300" spc="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easy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to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create</a:t>
            </a:r>
            <a:r>
              <a:rPr dirty="0" sz="1300" spc="-5">
                <a:latin typeface="Calibri"/>
                <a:cs typeface="Calibri"/>
              </a:rPr>
              <a:t> stand-alone, </a:t>
            </a:r>
            <a:r>
              <a:rPr dirty="0" sz="1300" spc="-280">
                <a:latin typeface="Calibri"/>
                <a:cs typeface="Calibri"/>
              </a:rPr>
              <a:t> </a:t>
            </a:r>
            <a:r>
              <a:rPr dirty="0" sz="1300" spc="-5">
                <a:latin typeface="Calibri"/>
                <a:cs typeface="Calibri"/>
              </a:rPr>
              <a:t>production-grade</a:t>
            </a:r>
            <a:r>
              <a:rPr dirty="0" sz="1300">
                <a:latin typeface="Calibri"/>
                <a:cs typeface="Calibri"/>
              </a:rPr>
              <a:t> </a:t>
            </a:r>
            <a:r>
              <a:rPr dirty="0" sz="1300" spc="-5">
                <a:latin typeface="Calibri"/>
                <a:cs typeface="Calibri"/>
              </a:rPr>
              <a:t>Spring</a:t>
            </a:r>
            <a:r>
              <a:rPr dirty="0" sz="1300">
                <a:latin typeface="Calibri"/>
                <a:cs typeface="Calibri"/>
              </a:rPr>
              <a:t> </a:t>
            </a:r>
            <a:r>
              <a:rPr dirty="0" sz="1300" spc="-5">
                <a:latin typeface="Calibri"/>
                <a:cs typeface="Calibri"/>
              </a:rPr>
              <a:t>based</a:t>
            </a:r>
            <a:r>
              <a:rPr dirty="0" sz="1300">
                <a:latin typeface="Calibri"/>
                <a:cs typeface="Calibri"/>
              </a:rPr>
              <a:t> </a:t>
            </a:r>
            <a:r>
              <a:rPr dirty="0" sz="1300" spc="-5">
                <a:latin typeface="Calibri"/>
                <a:cs typeface="Calibri"/>
              </a:rPr>
              <a:t>Applications</a:t>
            </a:r>
            <a:r>
              <a:rPr dirty="0" sz="1300">
                <a:latin typeface="Calibri"/>
                <a:cs typeface="Calibri"/>
              </a:rPr>
              <a:t> </a:t>
            </a:r>
            <a:r>
              <a:rPr dirty="0" sz="1300" spc="-5">
                <a:latin typeface="Calibri"/>
                <a:cs typeface="Calibri"/>
              </a:rPr>
              <a:t>that</a:t>
            </a:r>
            <a:r>
              <a:rPr dirty="0" sz="1300" spc="280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you 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can</a:t>
            </a:r>
            <a:r>
              <a:rPr dirty="0" sz="1300" spc="-5">
                <a:latin typeface="Calibri"/>
                <a:cs typeface="Calibri"/>
              </a:rPr>
              <a:t> "just</a:t>
            </a:r>
            <a:r>
              <a:rPr dirty="0" sz="1300">
                <a:latin typeface="Calibri"/>
                <a:cs typeface="Calibri"/>
              </a:rPr>
              <a:t> </a:t>
            </a:r>
            <a:r>
              <a:rPr dirty="0" sz="1300" spc="-5">
                <a:latin typeface="Calibri"/>
                <a:cs typeface="Calibri"/>
              </a:rPr>
              <a:t>run".</a:t>
            </a:r>
            <a:endParaRPr sz="1300">
              <a:latin typeface="Calibri"/>
              <a:cs typeface="Calibri"/>
            </a:endParaRPr>
          </a:p>
          <a:p>
            <a:pPr algn="just" marL="127000" indent="-114935">
              <a:lnSpc>
                <a:spcPts val="1560"/>
              </a:lnSpc>
              <a:spcBef>
                <a:spcPts val="190"/>
              </a:spcBef>
              <a:buFont typeface="Arial MT"/>
              <a:buChar char="•"/>
              <a:tabLst>
                <a:tab pos="127635" algn="l"/>
              </a:tabLst>
            </a:pPr>
            <a:r>
              <a:rPr dirty="0" sz="1300" spc="-10">
                <a:latin typeface="Calibri"/>
                <a:cs typeface="Calibri"/>
              </a:rPr>
              <a:t>Features</a:t>
            </a:r>
            <a:endParaRPr sz="1300">
              <a:latin typeface="Calibri"/>
              <a:cs typeface="Calibri"/>
            </a:endParaRPr>
          </a:p>
          <a:p>
            <a:pPr algn="just" lvl="1" marL="355600" indent="-114935">
              <a:lnSpc>
                <a:spcPts val="1305"/>
              </a:lnSpc>
              <a:buFont typeface="Arial MT"/>
              <a:buChar char="•"/>
              <a:tabLst>
                <a:tab pos="356235" algn="l"/>
              </a:tabLst>
            </a:pPr>
            <a:r>
              <a:rPr dirty="0" sz="1100" spc="-10">
                <a:latin typeface="Calibri"/>
                <a:cs typeface="Calibri"/>
              </a:rPr>
              <a:t>Create </a:t>
            </a:r>
            <a:r>
              <a:rPr dirty="0" sz="1100" spc="-5">
                <a:latin typeface="Calibri"/>
                <a:cs typeface="Calibri"/>
              </a:rPr>
              <a:t>stand-alone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Spring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applications</a:t>
            </a:r>
            <a:endParaRPr sz="1100">
              <a:latin typeface="Calibri"/>
              <a:cs typeface="Calibri"/>
            </a:endParaRPr>
          </a:p>
          <a:p>
            <a:pPr algn="just" lvl="1" marL="355600" marR="5715" indent="-114300">
              <a:lnSpc>
                <a:spcPct val="80000"/>
              </a:lnSpc>
              <a:spcBef>
                <a:spcPts val="254"/>
              </a:spcBef>
              <a:buFont typeface="Arial MT"/>
              <a:buChar char="•"/>
              <a:tabLst>
                <a:tab pos="356235" algn="l"/>
              </a:tabLst>
            </a:pPr>
            <a:r>
              <a:rPr dirty="0" sz="1100">
                <a:latin typeface="Calibri"/>
                <a:cs typeface="Calibri"/>
              </a:rPr>
              <a:t>Embed </a:t>
            </a:r>
            <a:r>
              <a:rPr dirty="0" sz="1100" spc="-20">
                <a:latin typeface="Calibri"/>
                <a:cs typeface="Calibri"/>
              </a:rPr>
              <a:t>Tomcat, </a:t>
            </a:r>
            <a:r>
              <a:rPr dirty="0" sz="1100" spc="-5">
                <a:latin typeface="Calibri"/>
                <a:cs typeface="Calibri"/>
              </a:rPr>
              <a:t>Jetty or Undertow directly (no </a:t>
            </a:r>
            <a:r>
              <a:rPr dirty="0" sz="1100">
                <a:latin typeface="Calibri"/>
                <a:cs typeface="Calibri"/>
              </a:rPr>
              <a:t>need </a:t>
            </a:r>
            <a:r>
              <a:rPr dirty="0" sz="1100" spc="-15">
                <a:latin typeface="Calibri"/>
                <a:cs typeface="Calibri"/>
              </a:rPr>
              <a:t>to </a:t>
            </a:r>
            <a:r>
              <a:rPr dirty="0" sz="1100" spc="-5">
                <a:latin typeface="Calibri"/>
                <a:cs typeface="Calibri"/>
              </a:rPr>
              <a:t>deploy 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15">
                <a:latin typeface="Calibri"/>
                <a:cs typeface="Calibri"/>
              </a:rPr>
              <a:t>WAR</a:t>
            </a:r>
            <a:r>
              <a:rPr dirty="0" sz="1100" spc="-5">
                <a:latin typeface="Calibri"/>
                <a:cs typeface="Calibri"/>
              </a:rPr>
              <a:t> files)</a:t>
            </a:r>
            <a:endParaRPr sz="1100">
              <a:latin typeface="Calibri"/>
              <a:cs typeface="Calibri"/>
            </a:endParaRPr>
          </a:p>
          <a:p>
            <a:pPr lvl="1" marL="355600" marR="5080" indent="-114300">
              <a:lnSpc>
                <a:spcPct val="80000"/>
              </a:lnSpc>
              <a:spcBef>
                <a:spcPts val="250"/>
              </a:spcBef>
              <a:buFont typeface="Arial MT"/>
              <a:buChar char="•"/>
              <a:tabLst>
                <a:tab pos="356235" algn="l"/>
              </a:tabLst>
            </a:pPr>
            <a:r>
              <a:rPr dirty="0" sz="1100" spc="-10">
                <a:latin typeface="Calibri"/>
                <a:cs typeface="Calibri"/>
              </a:rPr>
              <a:t>Provide</a:t>
            </a:r>
            <a:r>
              <a:rPr dirty="0" sz="1100" spc="2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opinionated</a:t>
            </a:r>
            <a:r>
              <a:rPr dirty="0" sz="1100" spc="2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'starter'</a:t>
            </a:r>
            <a:r>
              <a:rPr dirty="0" sz="1100" spc="21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dependencies</a:t>
            </a:r>
            <a:r>
              <a:rPr dirty="0" sz="1100" spc="2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to</a:t>
            </a:r>
            <a:r>
              <a:rPr dirty="0" sz="1100" spc="2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simplify</a:t>
            </a:r>
            <a:r>
              <a:rPr dirty="0" sz="1100" spc="2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your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build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configuration</a:t>
            </a:r>
            <a:endParaRPr sz="1100">
              <a:latin typeface="Calibri"/>
              <a:cs typeface="Calibri"/>
            </a:endParaRPr>
          </a:p>
          <a:p>
            <a:pPr lvl="1" marL="355600" marR="5715" indent="-114300">
              <a:lnSpc>
                <a:spcPct val="80000"/>
              </a:lnSpc>
              <a:spcBef>
                <a:spcPts val="254"/>
              </a:spcBef>
              <a:buFont typeface="Arial MT"/>
              <a:buChar char="•"/>
              <a:tabLst>
                <a:tab pos="356235" algn="l"/>
              </a:tabLst>
            </a:pPr>
            <a:r>
              <a:rPr dirty="0" sz="1100" spc="-5">
                <a:latin typeface="Calibri"/>
                <a:cs typeface="Calibri"/>
              </a:rPr>
              <a:t>Automatically</a:t>
            </a:r>
            <a:r>
              <a:rPr dirty="0" sz="1100" spc="17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configure</a:t>
            </a:r>
            <a:r>
              <a:rPr dirty="0" sz="1100" spc="16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Spring</a:t>
            </a:r>
            <a:r>
              <a:rPr dirty="0" sz="1100" spc="16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4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3rd</a:t>
            </a:r>
            <a:r>
              <a:rPr dirty="0" sz="1100" spc="15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party</a:t>
            </a:r>
            <a:r>
              <a:rPr dirty="0" sz="1100" spc="17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libraries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whenever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possible</a:t>
            </a:r>
            <a:endParaRPr sz="1100">
              <a:latin typeface="Calibri"/>
              <a:cs typeface="Calibri"/>
            </a:endParaRPr>
          </a:p>
          <a:p>
            <a:pPr lvl="1" marL="355600" marR="5080" indent="-114300">
              <a:lnSpc>
                <a:spcPts val="1060"/>
              </a:lnSpc>
              <a:spcBef>
                <a:spcPts val="240"/>
              </a:spcBef>
              <a:buFont typeface="Arial MT"/>
              <a:buChar char="•"/>
              <a:tabLst>
                <a:tab pos="356235" algn="l"/>
              </a:tabLst>
            </a:pPr>
            <a:r>
              <a:rPr dirty="0" sz="1100" spc="-10">
                <a:latin typeface="Calibri"/>
                <a:cs typeface="Calibri"/>
              </a:rPr>
              <a:t>Provide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production-ready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features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such</a:t>
            </a:r>
            <a:r>
              <a:rPr dirty="0" sz="1100" spc="7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as</a:t>
            </a:r>
            <a:r>
              <a:rPr dirty="0" sz="1100" spc="8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metrics,</a:t>
            </a:r>
            <a:r>
              <a:rPr dirty="0" sz="1100" spc="7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health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checks,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5">
                <a:latin typeface="Calibri"/>
                <a:cs typeface="Calibri"/>
              </a:rPr>
              <a:t> externalized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configuration</a:t>
            </a:r>
            <a:endParaRPr sz="1100">
              <a:latin typeface="Calibri"/>
              <a:cs typeface="Calibri"/>
            </a:endParaRPr>
          </a:p>
          <a:p>
            <a:pPr lvl="1" marL="355600" marR="5715" indent="-114300">
              <a:lnSpc>
                <a:spcPct val="80000"/>
              </a:lnSpc>
              <a:spcBef>
                <a:spcPts val="254"/>
              </a:spcBef>
              <a:buFont typeface="Arial MT"/>
              <a:buChar char="•"/>
              <a:tabLst>
                <a:tab pos="356235" algn="l"/>
              </a:tabLst>
            </a:pPr>
            <a:r>
              <a:rPr dirty="0" sz="1100" spc="-5">
                <a:latin typeface="Calibri"/>
                <a:cs typeface="Calibri"/>
              </a:rPr>
              <a:t>Absolutely</a:t>
            </a:r>
            <a:r>
              <a:rPr dirty="0" sz="1100" spc="1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no</a:t>
            </a:r>
            <a:r>
              <a:rPr dirty="0" sz="1100" spc="1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code</a:t>
            </a:r>
            <a:r>
              <a:rPr dirty="0" sz="1100" spc="1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generation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no</a:t>
            </a:r>
            <a:r>
              <a:rPr dirty="0" sz="1100" spc="1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requirement</a:t>
            </a:r>
            <a:r>
              <a:rPr dirty="0" sz="1100" spc="1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for</a:t>
            </a:r>
            <a:r>
              <a:rPr dirty="0" sz="1100" spc="13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XML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configuration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" y="1003"/>
            <a:ext cx="4572000" cy="3427729"/>
          </a:xfrm>
          <a:custGeom>
            <a:avLst/>
            <a:gdLst/>
            <a:ahLst/>
            <a:cxnLst/>
            <a:rect l="l" t="t" r="r" b="b"/>
            <a:pathLst>
              <a:path w="4572000" h="3427729">
                <a:moveTo>
                  <a:pt x="0" y="3427729"/>
                </a:moveTo>
                <a:lnTo>
                  <a:pt x="4571746" y="3427729"/>
                </a:lnTo>
                <a:lnTo>
                  <a:pt x="4571746" y="0"/>
                </a:lnTo>
                <a:lnTo>
                  <a:pt x="0" y="0"/>
                </a:lnTo>
                <a:lnTo>
                  <a:pt x="0" y="3427729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-12395" y="3455962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solidFill>
                  <a:srgbClr val="252525"/>
                </a:solidFill>
                <a:latin typeface="Calibri"/>
                <a:cs typeface="Calibri"/>
              </a:rPr>
              <a:t>2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599" y="117093"/>
            <a:ext cx="1809114" cy="3606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Spring</a:t>
            </a:r>
            <a:r>
              <a:rPr dirty="0" spc="-30"/>
              <a:t> </a:t>
            </a:r>
            <a:r>
              <a:rPr dirty="0" spc="-10"/>
              <a:t>initializer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9695" rIns="0" bIns="0" rtlCol="0" vert="horz">
            <a:spAutoFit/>
          </a:bodyPr>
          <a:lstStyle/>
          <a:p>
            <a:pPr marL="359410" indent="-228600">
              <a:lnSpc>
                <a:spcPct val="100000"/>
              </a:lnSpc>
              <a:spcBef>
                <a:spcPts val="785"/>
              </a:spcBef>
              <a:buFont typeface="Arial MT"/>
              <a:buChar char="•"/>
              <a:tabLst>
                <a:tab pos="358775" algn="l"/>
                <a:tab pos="359410" algn="l"/>
              </a:tabLst>
            </a:pPr>
            <a:r>
              <a:rPr dirty="0" sz="1600" spc="-10"/>
              <a:t>Quickly</a:t>
            </a:r>
            <a:r>
              <a:rPr dirty="0" sz="1600" spc="20"/>
              <a:t> </a:t>
            </a:r>
            <a:r>
              <a:rPr dirty="0" spc="-10"/>
              <a:t>create </a:t>
            </a:r>
            <a:r>
              <a:rPr dirty="0"/>
              <a:t>a</a:t>
            </a:r>
            <a:r>
              <a:rPr dirty="0" spc="-5"/>
              <a:t> starter</a:t>
            </a:r>
            <a:r>
              <a:rPr dirty="0" spc="-30"/>
              <a:t> </a:t>
            </a:r>
            <a:r>
              <a:rPr dirty="0" spc="-5"/>
              <a:t>Spring</a:t>
            </a:r>
            <a:r>
              <a:rPr dirty="0" spc="-10"/>
              <a:t> project</a:t>
            </a:r>
            <a:endParaRPr sz="1600"/>
          </a:p>
          <a:p>
            <a:pPr marL="359410" indent="-228600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358775" algn="l"/>
                <a:tab pos="359410" algn="l"/>
              </a:tabLst>
            </a:pPr>
            <a:r>
              <a:rPr dirty="0" spc="-5"/>
              <a:t>Select</a:t>
            </a:r>
            <a:r>
              <a:rPr dirty="0" spc="-25"/>
              <a:t> </a:t>
            </a:r>
            <a:r>
              <a:rPr dirty="0" spc="-5"/>
              <a:t>your</a:t>
            </a:r>
            <a:r>
              <a:rPr dirty="0" spc="-35"/>
              <a:t> </a:t>
            </a:r>
            <a:r>
              <a:rPr dirty="0" spc="-5"/>
              <a:t>dependencies</a:t>
            </a:r>
          </a:p>
          <a:p>
            <a:pPr marL="359410" indent="-2286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8775" algn="l"/>
                <a:tab pos="359410" algn="l"/>
              </a:tabLst>
            </a:pPr>
            <a:r>
              <a:rPr dirty="0" spc="-10"/>
              <a:t>Creates</a:t>
            </a:r>
            <a:r>
              <a:rPr dirty="0" spc="-15"/>
              <a:t> </a:t>
            </a:r>
            <a:r>
              <a:rPr dirty="0"/>
              <a:t>a</a:t>
            </a:r>
            <a:r>
              <a:rPr dirty="0" spc="-5"/>
              <a:t> </a:t>
            </a:r>
            <a:r>
              <a:rPr dirty="0" spc="-10"/>
              <a:t>Maven/Gradle</a:t>
            </a:r>
            <a:r>
              <a:rPr dirty="0" spc="-30"/>
              <a:t> </a:t>
            </a:r>
            <a:r>
              <a:rPr dirty="0" spc="-10"/>
              <a:t>project</a:t>
            </a:r>
          </a:p>
          <a:p>
            <a:pPr marL="359410" marR="5080" indent="-2286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8775" algn="l"/>
                <a:tab pos="359410" algn="l"/>
              </a:tabLst>
            </a:pPr>
            <a:r>
              <a:rPr dirty="0" spc="-5"/>
              <a:t>Import</a:t>
            </a:r>
            <a:r>
              <a:rPr dirty="0" spc="35"/>
              <a:t> </a:t>
            </a:r>
            <a:r>
              <a:rPr dirty="0" spc="-5"/>
              <a:t>the</a:t>
            </a:r>
            <a:r>
              <a:rPr dirty="0" spc="30"/>
              <a:t> </a:t>
            </a:r>
            <a:r>
              <a:rPr dirty="0" spc="-10"/>
              <a:t>project</a:t>
            </a:r>
            <a:r>
              <a:rPr dirty="0" spc="35"/>
              <a:t> </a:t>
            </a:r>
            <a:r>
              <a:rPr dirty="0" spc="-5"/>
              <a:t>into</a:t>
            </a:r>
            <a:r>
              <a:rPr dirty="0" spc="35"/>
              <a:t> </a:t>
            </a:r>
            <a:r>
              <a:rPr dirty="0" spc="-10"/>
              <a:t>your</a:t>
            </a:r>
            <a:r>
              <a:rPr dirty="0" spc="35"/>
              <a:t> </a:t>
            </a:r>
            <a:r>
              <a:rPr dirty="0" spc="-5"/>
              <a:t>IDE:</a:t>
            </a:r>
            <a:r>
              <a:rPr dirty="0" spc="30"/>
              <a:t> </a:t>
            </a:r>
            <a:r>
              <a:rPr dirty="0" spc="-10"/>
              <a:t>Eclipse,</a:t>
            </a:r>
            <a:r>
              <a:rPr dirty="0" spc="35"/>
              <a:t> </a:t>
            </a:r>
            <a:r>
              <a:rPr dirty="0" spc="-10"/>
              <a:t>IntelliJ, </a:t>
            </a:r>
            <a:r>
              <a:rPr dirty="0" spc="-305"/>
              <a:t> </a:t>
            </a:r>
            <a:r>
              <a:rPr dirty="0" spc="-5"/>
              <a:t>NetBeans</a:t>
            </a:r>
            <a:r>
              <a:rPr dirty="0" spc="-10"/>
              <a:t> etc</a:t>
            </a:r>
            <a:r>
              <a:rPr dirty="0" spc="5"/>
              <a:t> </a:t>
            </a:r>
            <a:r>
              <a:rPr dirty="0"/>
              <a:t>…</a:t>
            </a:r>
          </a:p>
        </p:txBody>
      </p:sp>
      <p:sp>
        <p:nvSpPr>
          <p:cNvPr id="4" name="object 4"/>
          <p:cNvSpPr/>
          <p:nvPr/>
        </p:nvSpPr>
        <p:spPr>
          <a:xfrm>
            <a:off x="304" y="0"/>
            <a:ext cx="4572000" cy="3428365"/>
          </a:xfrm>
          <a:custGeom>
            <a:avLst/>
            <a:gdLst/>
            <a:ahLst/>
            <a:cxnLst/>
            <a:rect l="l" t="t" r="r" b="b"/>
            <a:pathLst>
              <a:path w="4572000" h="3428365">
                <a:moveTo>
                  <a:pt x="0" y="3428111"/>
                </a:moveTo>
                <a:lnTo>
                  <a:pt x="4571746" y="3428111"/>
                </a:lnTo>
                <a:lnTo>
                  <a:pt x="4571746" y="0"/>
                </a:lnTo>
                <a:lnTo>
                  <a:pt x="0" y="0"/>
                </a:lnTo>
                <a:lnTo>
                  <a:pt x="0" y="3428111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-12395" y="3454653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solidFill>
                  <a:srgbClr val="252525"/>
                </a:solidFill>
                <a:latin typeface="Calibri"/>
                <a:cs typeface="Calibri"/>
              </a:rPr>
              <a:t>3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599" y="117767"/>
            <a:ext cx="1809114" cy="3606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Spring</a:t>
            </a:r>
            <a:r>
              <a:rPr dirty="0" spc="-30"/>
              <a:t> </a:t>
            </a:r>
            <a:r>
              <a:rPr dirty="0" spc="-10"/>
              <a:t>initializer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11887" y="0"/>
            <a:ext cx="4596130" cy="3452495"/>
            <a:chOff x="-11887" y="0"/>
            <a:chExt cx="4596130" cy="34524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4235" y="656898"/>
              <a:ext cx="3736848" cy="260907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61823" y="640842"/>
              <a:ext cx="3742054" cy="2627630"/>
            </a:xfrm>
            <a:custGeom>
              <a:avLst/>
              <a:gdLst/>
              <a:ahLst/>
              <a:cxnLst/>
              <a:rect l="l" t="t" r="r" b="b"/>
              <a:pathLst>
                <a:path w="3742054" h="2627629">
                  <a:moveTo>
                    <a:pt x="0" y="2627503"/>
                  </a:moveTo>
                  <a:lnTo>
                    <a:pt x="3741547" y="2627503"/>
                  </a:lnTo>
                  <a:lnTo>
                    <a:pt x="3741547" y="0"/>
                  </a:lnTo>
                  <a:lnTo>
                    <a:pt x="0" y="0"/>
                  </a:lnTo>
                  <a:lnTo>
                    <a:pt x="0" y="2627503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4891" y="524294"/>
              <a:ext cx="1868424" cy="41452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4" y="1003"/>
              <a:ext cx="4572000" cy="3427729"/>
            </a:xfrm>
            <a:custGeom>
              <a:avLst/>
              <a:gdLst/>
              <a:ahLst/>
              <a:cxnLst/>
              <a:rect l="l" t="t" r="r" b="b"/>
              <a:pathLst>
                <a:path w="4572000" h="3427729">
                  <a:moveTo>
                    <a:pt x="0" y="3427729"/>
                  </a:moveTo>
                  <a:lnTo>
                    <a:pt x="4571746" y="3427729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7729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-12395" y="3455962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solidFill>
                  <a:srgbClr val="252525"/>
                </a:solidFill>
                <a:latin typeface="Calibri"/>
                <a:cs typeface="Calibri"/>
              </a:rPr>
              <a:t>4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599" y="117093"/>
            <a:ext cx="1809114" cy="3606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Spring</a:t>
            </a:r>
            <a:r>
              <a:rPr dirty="0" spc="-30"/>
              <a:t> </a:t>
            </a:r>
            <a:r>
              <a:rPr dirty="0" spc="-10"/>
              <a:t>initializer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11887" y="0"/>
            <a:ext cx="4596130" cy="3452495"/>
            <a:chOff x="-11887" y="0"/>
            <a:chExt cx="4596130" cy="34524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499" y="670559"/>
              <a:ext cx="4331208" cy="221132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04" y="0"/>
              <a:ext cx="4572000" cy="3428365"/>
            </a:xfrm>
            <a:custGeom>
              <a:avLst/>
              <a:gdLst/>
              <a:ahLst/>
              <a:cxnLst/>
              <a:rect l="l" t="t" r="r" b="b"/>
              <a:pathLst>
                <a:path w="4572000" h="3428365">
                  <a:moveTo>
                    <a:pt x="0" y="3428111"/>
                  </a:moveTo>
                  <a:lnTo>
                    <a:pt x="4571746" y="3428111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8111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-12395" y="3454653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solidFill>
                  <a:srgbClr val="252525"/>
                </a:solidFill>
                <a:latin typeface="Calibri"/>
                <a:cs typeface="Calibri"/>
              </a:rPr>
              <a:t>5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Võ Văn Hải</dc:creator>
  <dc:title>PowerPoint Presentation</dc:title>
  <dcterms:created xsi:type="dcterms:W3CDTF">2023-09-18T09:17:17Z</dcterms:created>
  <dcterms:modified xsi:type="dcterms:W3CDTF">2023-09-18T09:17:17Z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2023-09-18T00:00:00Z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2023-09-18T00:00:00Z</vt:filetime>
  </property>
</Properties>
</file>