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4597400" cy="3632200"/>
  <p:notesSz cx="4597400" cy="3632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4805" y="1124013"/>
            <a:ext cx="3907790" cy="7614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rgbClr val="0066A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89610" y="2030476"/>
            <a:ext cx="3218180" cy="906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0066A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0066A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29870" y="833945"/>
            <a:ext cx="1999869" cy="23930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67661" y="833945"/>
            <a:ext cx="1999869" cy="23930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0066A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91" y="0"/>
            <a:ext cx="4572000" cy="33981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191" y="3080003"/>
            <a:ext cx="4572000" cy="3489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733" y="156463"/>
            <a:ext cx="1411605" cy="460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rgbClr val="0066A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4454" y="654811"/>
            <a:ext cx="3958717" cy="1941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563116" y="3372040"/>
            <a:ext cx="1471168" cy="181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29870" y="3372040"/>
            <a:ext cx="1057402" cy="181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310128" y="3372040"/>
            <a:ext cx="1057402" cy="181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hyperlink" Target="mailto:vovanhai@iuh.edu.vn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hyperlink" Target="http://bcrypt-generator.com/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bank.com/transfer?accountNo=1234&amp;amount=100" TargetMode="External"/><Relationship Id="rId3" Type="http://schemas.openxmlformats.org/officeDocument/2006/relationships/hyperlink" Target="http://bank.com/transfer?accountNo=5678&amp;amount=1000" TargetMode="Externa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bank.com/transfer" TargetMode="Externa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0090" y="3326383"/>
            <a:ext cx="422275" cy="88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60"/>
              </a:lnSpc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2191" y="0"/>
            <a:ext cx="4572000" cy="3429000"/>
            <a:chOff x="12191" y="0"/>
            <a:chExt cx="4572000" cy="34290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1" y="0"/>
              <a:ext cx="4572000" cy="342899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91" y="0"/>
              <a:ext cx="4572000" cy="34899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83" y="3080003"/>
              <a:ext cx="4559808" cy="34899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91" y="408431"/>
              <a:ext cx="1027557" cy="114185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2291" y="408431"/>
              <a:ext cx="1141857" cy="114185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41091" y="408431"/>
              <a:ext cx="1141856" cy="114185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55491" y="408431"/>
              <a:ext cx="1027556" cy="114185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26691" y="408431"/>
              <a:ext cx="1141856" cy="1141856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388365" y="1589684"/>
            <a:ext cx="1527810" cy="42799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000" b="1" i="1">
                <a:solidFill>
                  <a:srgbClr val="006FC0"/>
                </a:solidFill>
                <a:latin typeface="Calibri"/>
                <a:cs typeface="Calibri"/>
              </a:rPr>
              <a:t>By:</a:t>
            </a:r>
            <a:r>
              <a:rPr dirty="0" sz="1000" spc="-3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000" b="1" i="1">
                <a:solidFill>
                  <a:srgbClr val="006FC0"/>
                </a:solidFill>
                <a:latin typeface="Calibri"/>
                <a:cs typeface="Calibri"/>
              </a:rPr>
              <a:t>Võ</a:t>
            </a:r>
            <a:r>
              <a:rPr dirty="0" sz="1000" spc="-3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000" spc="-10" b="1" i="1">
                <a:solidFill>
                  <a:srgbClr val="006FC0"/>
                </a:solidFill>
                <a:latin typeface="Calibri"/>
                <a:cs typeface="Calibri"/>
              </a:rPr>
              <a:t>Văn</a:t>
            </a:r>
            <a:r>
              <a:rPr dirty="0" sz="1000" spc="-4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000" spc="-25" b="1" i="1">
                <a:solidFill>
                  <a:srgbClr val="006FC0"/>
                </a:solidFill>
                <a:latin typeface="Calibri"/>
                <a:cs typeface="Calibri"/>
              </a:rPr>
              <a:t>Hải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000" b="1" i="1">
                <a:solidFill>
                  <a:srgbClr val="006FC0"/>
                </a:solidFill>
                <a:latin typeface="Calibri"/>
                <a:cs typeface="Calibri"/>
              </a:rPr>
              <a:t>Email:</a:t>
            </a:r>
            <a:r>
              <a:rPr dirty="0" sz="1000" spc="-4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000" spc="-10" b="1" i="1">
                <a:solidFill>
                  <a:srgbClr val="006FC0"/>
                </a:solidFill>
                <a:latin typeface="Calibri"/>
                <a:cs typeface="Calibri"/>
                <a:hlinkClick r:id="rId10"/>
              </a:rPr>
              <a:t>vovanhai@iuh.edu.vn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38125" y="3131565"/>
            <a:ext cx="6413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0066A0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529333" y="2704591"/>
            <a:ext cx="14458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66A0"/>
                </a:solidFill>
                <a:latin typeface="Calibri"/>
                <a:cs typeface="Calibri"/>
              </a:rPr>
              <a:t>Spring</a:t>
            </a:r>
            <a:r>
              <a:rPr dirty="0" sz="1800" spc="-20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66A0"/>
                </a:solidFill>
                <a:latin typeface="Calibri"/>
                <a:cs typeface="Calibri"/>
              </a:rPr>
              <a:t>Security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-203" y="345465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2246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733" y="157099"/>
            <a:ext cx="1363980" cy="2851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Spring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3733" y="349097"/>
            <a:ext cx="4376420" cy="196088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690"/>
              </a:spcBef>
            </a:pPr>
            <a:r>
              <a:rPr dirty="0" sz="1100" spc="-10" b="1" i="1">
                <a:solidFill>
                  <a:srgbClr val="7E7E7E"/>
                </a:solidFill>
                <a:latin typeface="Calibri"/>
                <a:cs typeface="Calibri"/>
              </a:rPr>
              <a:t>Introduction</a:t>
            </a:r>
            <a:endParaRPr sz="1100">
              <a:latin typeface="Calibri"/>
              <a:cs typeface="Calibri"/>
            </a:endParaRPr>
          </a:p>
          <a:p>
            <a:pPr algn="just" marL="127000" marR="5080" indent="-114935">
              <a:lnSpc>
                <a:spcPct val="90100"/>
              </a:lnSpc>
              <a:spcBef>
                <a:spcPts val="725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Spring</a:t>
            </a:r>
            <a:r>
              <a:rPr dirty="0" sz="1100" spc="195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Security</a:t>
            </a:r>
            <a:r>
              <a:rPr dirty="0" sz="1100" spc="195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95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200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framework</a:t>
            </a:r>
            <a:r>
              <a:rPr dirty="0" sz="1100" spc="195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195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focuses</a:t>
            </a:r>
            <a:r>
              <a:rPr dirty="0" sz="1100" spc="190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200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providing</a:t>
            </a:r>
            <a:r>
              <a:rPr dirty="0" sz="1100" spc="195">
                <a:latin typeface="Calibri"/>
                <a:cs typeface="Calibri"/>
              </a:rPr>
              <a:t>  </a:t>
            </a:r>
            <a:r>
              <a:rPr dirty="0" sz="1100" spc="-20">
                <a:latin typeface="Calibri"/>
                <a:cs typeface="Calibri"/>
              </a:rPr>
              <a:t>both </a:t>
            </a:r>
            <a:r>
              <a:rPr dirty="0" sz="1100">
                <a:latin typeface="Calibri"/>
                <a:cs typeface="Calibri"/>
              </a:rPr>
              <a:t>authentication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authorization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(access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control)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java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web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application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SOAP/REST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web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services.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Spring </a:t>
            </a:r>
            <a:r>
              <a:rPr dirty="0" sz="1100" spc="-10">
                <a:latin typeface="Calibri"/>
                <a:cs typeface="Calibri"/>
              </a:rPr>
              <a:t>framework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supports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integration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many </a:t>
            </a:r>
            <a:r>
              <a:rPr dirty="0" sz="1100" spc="-10">
                <a:latin typeface="Calibri"/>
                <a:cs typeface="Calibri"/>
              </a:rPr>
              <a:t>technologies</a:t>
            </a:r>
            <a:endParaRPr sz="1100">
              <a:latin typeface="Calibri"/>
              <a:cs typeface="Calibri"/>
            </a:endParaRPr>
          </a:p>
          <a:p>
            <a:pPr marL="353695" indent="-112395">
              <a:lnSpc>
                <a:spcPct val="100000"/>
              </a:lnSpc>
              <a:spcBef>
                <a:spcPts val="165"/>
              </a:spcBef>
              <a:buClr>
                <a:srgbClr val="0066A0"/>
              </a:buClr>
              <a:buChar char="-"/>
              <a:tabLst>
                <a:tab pos="353695" algn="l"/>
              </a:tabLst>
            </a:pPr>
            <a:r>
              <a:rPr dirty="0" sz="900">
                <a:latin typeface="Calibri"/>
                <a:cs typeface="Calibri"/>
              </a:rPr>
              <a:t>HTTP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basic</a:t>
            </a:r>
            <a:r>
              <a:rPr dirty="0" sz="900" spc="-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authentication</a:t>
            </a:r>
            <a:endParaRPr sz="900">
              <a:latin typeface="Calibri"/>
              <a:cs typeface="Calibri"/>
            </a:endParaRPr>
          </a:p>
          <a:p>
            <a:pPr marL="353695" indent="-112395">
              <a:lnSpc>
                <a:spcPct val="100000"/>
              </a:lnSpc>
              <a:spcBef>
                <a:spcPts val="140"/>
              </a:spcBef>
              <a:buClr>
                <a:srgbClr val="0066A0"/>
              </a:buClr>
              <a:buChar char="-"/>
              <a:tabLst>
                <a:tab pos="353695" algn="l"/>
              </a:tabLst>
            </a:pPr>
            <a:r>
              <a:rPr dirty="0" sz="900" spc="-20">
                <a:latin typeface="Calibri"/>
                <a:cs typeface="Calibri"/>
              </a:rPr>
              <a:t>LDAP</a:t>
            </a:r>
            <a:endParaRPr sz="900">
              <a:latin typeface="Calibri"/>
              <a:cs typeface="Calibri"/>
            </a:endParaRPr>
          </a:p>
          <a:p>
            <a:pPr marL="353695" indent="-112395">
              <a:lnSpc>
                <a:spcPct val="100000"/>
              </a:lnSpc>
              <a:spcBef>
                <a:spcPts val="135"/>
              </a:spcBef>
              <a:buClr>
                <a:srgbClr val="0066A0"/>
              </a:buClr>
              <a:buChar char="-"/>
              <a:tabLst>
                <a:tab pos="353695" algn="l"/>
              </a:tabLst>
            </a:pPr>
            <a:r>
              <a:rPr dirty="0" sz="900">
                <a:latin typeface="Calibri"/>
                <a:cs typeface="Calibri"/>
              </a:rPr>
              <a:t>OpenID</a:t>
            </a:r>
            <a:r>
              <a:rPr dirty="0" sz="900" spc="-4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providers</a:t>
            </a:r>
            <a:endParaRPr sz="900">
              <a:latin typeface="Calibri"/>
              <a:cs typeface="Calibri"/>
            </a:endParaRPr>
          </a:p>
          <a:p>
            <a:pPr marL="353695" indent="-112395">
              <a:lnSpc>
                <a:spcPct val="100000"/>
              </a:lnSpc>
              <a:spcBef>
                <a:spcPts val="145"/>
              </a:spcBef>
              <a:buClr>
                <a:srgbClr val="0066A0"/>
              </a:buClr>
              <a:buChar char="-"/>
              <a:tabLst>
                <a:tab pos="353695" algn="l"/>
              </a:tabLst>
            </a:pPr>
            <a:r>
              <a:rPr dirty="0" sz="900">
                <a:latin typeface="Calibri"/>
                <a:cs typeface="Calibri"/>
              </a:rPr>
              <a:t>JAAS</a:t>
            </a:r>
            <a:r>
              <a:rPr dirty="0" sz="900" spc="-45">
                <a:latin typeface="Calibri"/>
                <a:cs typeface="Calibri"/>
              </a:rPr>
              <a:t> </a:t>
            </a:r>
            <a:r>
              <a:rPr dirty="0" sz="900" spc="-25">
                <a:latin typeface="Calibri"/>
                <a:cs typeface="Calibri"/>
              </a:rPr>
              <a:t>API</a:t>
            </a:r>
            <a:endParaRPr sz="9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40"/>
              </a:spcBef>
            </a:pPr>
            <a:r>
              <a:rPr dirty="0" sz="900">
                <a:solidFill>
                  <a:srgbClr val="0066A0"/>
                </a:solidFill>
                <a:latin typeface="Calibri"/>
                <a:cs typeface="Calibri"/>
              </a:rPr>
              <a:t>-</a:t>
            </a:r>
            <a:r>
              <a:rPr dirty="0" sz="900" spc="409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…</a:t>
            </a:r>
            <a:endParaRPr sz="900">
              <a:latin typeface="Calibri"/>
              <a:cs typeface="Calibri"/>
            </a:endParaRPr>
          </a:p>
          <a:p>
            <a:pPr marL="353695" indent="-112395">
              <a:lnSpc>
                <a:spcPct val="100000"/>
              </a:lnSpc>
              <a:spcBef>
                <a:spcPts val="145"/>
              </a:spcBef>
              <a:buClr>
                <a:srgbClr val="0066A0"/>
              </a:buClr>
              <a:buChar char="-"/>
              <a:tabLst>
                <a:tab pos="353695" algn="l"/>
              </a:tabLst>
            </a:pPr>
            <a:r>
              <a:rPr dirty="0" sz="900">
                <a:latin typeface="Calibri"/>
                <a:cs typeface="Calibri"/>
              </a:rPr>
              <a:t>And</a:t>
            </a:r>
            <a:r>
              <a:rPr dirty="0" sz="900" spc="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customized</a:t>
            </a:r>
            <a:r>
              <a:rPr dirty="0" sz="90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authentication</a:t>
            </a:r>
            <a:r>
              <a:rPr dirty="0" sz="900" spc="3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system</a:t>
            </a:r>
            <a:r>
              <a:rPr dirty="0" sz="900">
                <a:latin typeface="Calibri"/>
                <a:cs typeface="Calibri"/>
              </a:rPr>
              <a:t> (by</a:t>
            </a:r>
            <a:r>
              <a:rPr dirty="0" sz="900" spc="-10">
                <a:latin typeface="Calibri"/>
                <a:cs typeface="Calibri"/>
              </a:rPr>
              <a:t> yourself)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25544" y="3292246"/>
            <a:ext cx="6413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FFC000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-203" y="345592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1585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733" y="156463"/>
            <a:ext cx="1363980" cy="2851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Spring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656969" y="2287904"/>
            <a:ext cx="5588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and</a:t>
            </a:r>
            <a:r>
              <a:rPr dirty="0" sz="900" spc="195">
                <a:solidFill>
                  <a:srgbClr val="F57000"/>
                </a:solidFill>
                <a:latin typeface="Calibri"/>
                <a:cs typeface="Calibri"/>
              </a:rPr>
              <a:t>  </a:t>
            </a:r>
            <a:r>
              <a:rPr dirty="0" sz="900" spc="-10">
                <a:solidFill>
                  <a:srgbClr val="F57000"/>
                </a:solidFill>
                <a:latin typeface="Calibri"/>
                <a:cs typeface="Calibri"/>
              </a:rPr>
              <a:t>other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8305" y="2274188"/>
            <a:ext cx="1471295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2405" marR="5080" indent="-90170">
              <a:lnSpc>
                <a:spcPct val="110000"/>
              </a:lnSpc>
              <a:spcBef>
                <a:spcPts val="100"/>
              </a:spcBef>
            </a:pPr>
            <a:r>
              <a:rPr dirty="0" sz="9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Hold</a:t>
            </a:r>
            <a:r>
              <a:rPr dirty="0" sz="900" spc="180">
                <a:solidFill>
                  <a:srgbClr val="F57000"/>
                </a:solidFill>
                <a:latin typeface="Calibri"/>
                <a:cs typeface="Calibri"/>
              </a:rPr>
              <a:t> 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the</a:t>
            </a:r>
            <a:r>
              <a:rPr dirty="0" sz="900" spc="190">
                <a:solidFill>
                  <a:srgbClr val="F57000"/>
                </a:solidFill>
                <a:latin typeface="Calibri"/>
                <a:cs typeface="Calibri"/>
              </a:rPr>
              <a:t>  </a:t>
            </a:r>
            <a:r>
              <a:rPr dirty="0" sz="900" spc="-10">
                <a:solidFill>
                  <a:srgbClr val="F57000"/>
                </a:solidFill>
                <a:latin typeface="Calibri"/>
                <a:cs typeface="Calibri"/>
              </a:rPr>
              <a:t>authentication</a:t>
            </a:r>
            <a:r>
              <a:rPr dirty="0" sz="900" spc="50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security</a:t>
            </a:r>
            <a:r>
              <a:rPr dirty="0" sz="900" spc="-3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57000"/>
                </a:solidFill>
                <a:latin typeface="Calibri"/>
                <a:cs typeface="Calibri"/>
              </a:rPr>
              <a:t>information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900" spc="-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900" spc="-10">
                <a:solidFill>
                  <a:srgbClr val="2F3E47"/>
                </a:solidFill>
                <a:latin typeface="Calibri"/>
                <a:cs typeface="Calibri"/>
              </a:rPr>
              <a:t>SecurityContextHolder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98246" y="2767964"/>
            <a:ext cx="1722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900" spc="-10">
                <a:solidFill>
                  <a:srgbClr val="F57000"/>
                </a:solidFill>
                <a:latin typeface="Calibri"/>
                <a:cs typeface="Calibri"/>
              </a:rPr>
              <a:t>Provides</a:t>
            </a:r>
            <a:r>
              <a:rPr dirty="0" sz="900" spc="-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access</a:t>
            </a:r>
            <a:r>
              <a:rPr dirty="0" sz="900" spc="1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to</a:t>
            </a:r>
            <a:r>
              <a:rPr dirty="0" sz="900" spc="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57000"/>
                </a:solidFill>
                <a:latin typeface="Calibri"/>
                <a:cs typeface="Calibri"/>
              </a:rPr>
              <a:t>SecurityContext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8305" y="423163"/>
            <a:ext cx="2108200" cy="1876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dirty="0" sz="1100" spc="-10" b="1" i="1">
                <a:solidFill>
                  <a:srgbClr val="7E7E7E"/>
                </a:solidFill>
                <a:latin typeface="Calibri"/>
                <a:cs typeface="Calibri"/>
              </a:rPr>
              <a:t>Terminologies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900" spc="-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900" spc="-10">
                <a:solidFill>
                  <a:srgbClr val="2F3E47"/>
                </a:solidFill>
                <a:latin typeface="Calibri"/>
                <a:cs typeface="Calibri"/>
              </a:rPr>
              <a:t>Principal</a:t>
            </a:r>
            <a:endParaRPr sz="900">
              <a:latin typeface="Calibri"/>
              <a:cs typeface="Calibri"/>
            </a:endParaRPr>
          </a:p>
          <a:p>
            <a:pPr marL="102235">
              <a:lnSpc>
                <a:spcPct val="100000"/>
              </a:lnSpc>
              <a:spcBef>
                <a:spcPts val="105"/>
              </a:spcBef>
            </a:pPr>
            <a:r>
              <a:rPr dirty="0" sz="9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User</a:t>
            </a:r>
            <a:r>
              <a:rPr dirty="0" sz="900" spc="-1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that</a:t>
            </a:r>
            <a:r>
              <a:rPr dirty="0" sz="900" spc="-10">
                <a:solidFill>
                  <a:srgbClr val="F57000"/>
                </a:solidFill>
                <a:latin typeface="Calibri"/>
                <a:cs typeface="Calibri"/>
              </a:rPr>
              <a:t> performs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57000"/>
                </a:solidFill>
                <a:latin typeface="Calibri"/>
                <a:cs typeface="Calibri"/>
              </a:rPr>
              <a:t>action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900" spc="-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900" spc="-10">
                <a:solidFill>
                  <a:srgbClr val="2F3E47"/>
                </a:solidFill>
                <a:latin typeface="Calibri"/>
                <a:cs typeface="Calibri"/>
              </a:rPr>
              <a:t>Authentication</a:t>
            </a:r>
            <a:endParaRPr sz="900">
              <a:latin typeface="Calibri"/>
              <a:cs typeface="Calibri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dirty="0" sz="900" spc="-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900" spc="-10">
                <a:solidFill>
                  <a:srgbClr val="F57000"/>
                </a:solidFill>
                <a:latin typeface="Calibri"/>
                <a:cs typeface="Calibri"/>
              </a:rPr>
              <a:t>Confirming</a:t>
            </a:r>
            <a:r>
              <a:rPr dirty="0" sz="900" spc="1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truth</a:t>
            </a:r>
            <a:r>
              <a:rPr dirty="0" sz="900" spc="1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of</a:t>
            </a:r>
            <a:r>
              <a:rPr dirty="0" sz="900" spc="-1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57000"/>
                </a:solidFill>
                <a:latin typeface="Calibri"/>
                <a:cs typeface="Calibri"/>
              </a:rPr>
              <a:t>credentials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900" spc="-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900" spc="-10">
                <a:solidFill>
                  <a:srgbClr val="2F3E47"/>
                </a:solidFill>
                <a:latin typeface="Calibri"/>
                <a:cs typeface="Calibri"/>
              </a:rPr>
              <a:t>Authorization</a:t>
            </a:r>
            <a:endParaRPr sz="900">
              <a:latin typeface="Calibri"/>
              <a:cs typeface="Calibri"/>
            </a:endParaRPr>
          </a:p>
          <a:p>
            <a:pPr marL="102235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Define</a:t>
            </a:r>
            <a:r>
              <a:rPr dirty="0" sz="900" spc="-1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access</a:t>
            </a:r>
            <a:r>
              <a:rPr dirty="0" sz="900" spc="-3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policy</a:t>
            </a:r>
            <a:r>
              <a:rPr dirty="0" sz="900" spc="-3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for</a:t>
            </a:r>
            <a:r>
              <a:rPr dirty="0" sz="900" spc="-2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57000"/>
                </a:solidFill>
                <a:latin typeface="Calibri"/>
                <a:cs typeface="Calibri"/>
              </a:rPr>
              <a:t>principal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900" spc="-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900" spc="-10">
                <a:solidFill>
                  <a:srgbClr val="2F3E47"/>
                </a:solidFill>
                <a:latin typeface="Calibri"/>
                <a:cs typeface="Calibri"/>
              </a:rPr>
              <a:t>GrantedAuthority</a:t>
            </a:r>
            <a:endParaRPr sz="900">
              <a:latin typeface="Calibri"/>
              <a:cs typeface="Calibri"/>
            </a:endParaRPr>
          </a:p>
          <a:p>
            <a:pPr marL="192405" marR="5080" indent="-90170">
              <a:lnSpc>
                <a:spcPts val="1190"/>
              </a:lnSpc>
              <a:spcBef>
                <a:spcPts val="40"/>
              </a:spcBef>
            </a:pPr>
            <a:r>
              <a:rPr dirty="0" sz="9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Application</a:t>
            </a:r>
            <a:r>
              <a:rPr dirty="0" sz="900" spc="43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permission</a:t>
            </a:r>
            <a:r>
              <a:rPr dirty="0" sz="900" spc="43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granted</a:t>
            </a:r>
            <a:r>
              <a:rPr dirty="0" sz="900" spc="41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to</a:t>
            </a:r>
            <a:r>
              <a:rPr dirty="0" sz="900" spc="43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 spc="-50">
                <a:solidFill>
                  <a:srgbClr val="F57000"/>
                </a:solidFill>
                <a:latin typeface="Calibri"/>
                <a:cs typeface="Calibri"/>
              </a:rPr>
              <a:t>a</a:t>
            </a:r>
            <a:r>
              <a:rPr dirty="0" sz="900" spc="50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57000"/>
                </a:solidFill>
                <a:latin typeface="Calibri"/>
                <a:cs typeface="Calibri"/>
              </a:rPr>
              <a:t>principal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900" spc="-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900" spc="-10">
                <a:solidFill>
                  <a:srgbClr val="2F3E47"/>
                </a:solidFill>
                <a:latin typeface="Calibri"/>
                <a:cs typeface="Calibri"/>
              </a:rPr>
              <a:t>SecurityContext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225544" y="3291585"/>
            <a:ext cx="6413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FFC000"/>
                </a:solidFill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386076" y="654811"/>
            <a:ext cx="2157095" cy="194183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900" spc="-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900" spc="-10">
                <a:solidFill>
                  <a:srgbClr val="2F3E47"/>
                </a:solidFill>
                <a:latin typeface="Calibri"/>
                <a:cs typeface="Calibri"/>
              </a:rPr>
              <a:t>AuthenticationManager</a:t>
            </a:r>
            <a:endParaRPr sz="900">
              <a:latin typeface="Calibri"/>
              <a:cs typeface="Calibri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dirty="0" sz="900" spc="-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900" spc="-10">
                <a:solidFill>
                  <a:srgbClr val="F57000"/>
                </a:solidFill>
                <a:latin typeface="Calibri"/>
                <a:cs typeface="Calibri"/>
              </a:rPr>
              <a:t>Controller</a:t>
            </a:r>
            <a:r>
              <a:rPr dirty="0" sz="900" spc="1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in</a:t>
            </a:r>
            <a:r>
              <a:rPr dirty="0" sz="900" spc="1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the</a:t>
            </a:r>
            <a:r>
              <a:rPr dirty="0" sz="900" spc="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57000"/>
                </a:solidFill>
                <a:latin typeface="Calibri"/>
                <a:cs typeface="Calibri"/>
              </a:rPr>
              <a:t>authentication</a:t>
            </a:r>
            <a:r>
              <a:rPr dirty="0" sz="900" spc="5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57000"/>
                </a:solidFill>
                <a:latin typeface="Calibri"/>
                <a:cs typeface="Calibri"/>
              </a:rPr>
              <a:t>process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900" spc="-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900" spc="-10">
                <a:solidFill>
                  <a:srgbClr val="2F3E47"/>
                </a:solidFill>
                <a:latin typeface="Calibri"/>
                <a:cs typeface="Calibri"/>
              </a:rPr>
              <a:t>AuthenticationProvider</a:t>
            </a:r>
            <a:endParaRPr sz="900">
              <a:latin typeface="Calibri"/>
              <a:cs typeface="Calibri"/>
            </a:endParaRPr>
          </a:p>
          <a:p>
            <a:pPr marL="192405" marR="5080" indent="-90170">
              <a:lnSpc>
                <a:spcPct val="110000"/>
              </a:lnSpc>
            </a:pPr>
            <a:r>
              <a:rPr dirty="0" sz="9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Interface</a:t>
            </a:r>
            <a:r>
              <a:rPr dirty="0" sz="900" spc="1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that</a:t>
            </a:r>
            <a:r>
              <a:rPr dirty="0" sz="900" spc="1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maps</a:t>
            </a:r>
            <a:r>
              <a:rPr dirty="0" sz="900" spc="1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to</a:t>
            </a:r>
            <a:r>
              <a:rPr dirty="0" sz="900" spc="2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a</a:t>
            </a:r>
            <a:r>
              <a:rPr dirty="0" sz="900" spc="1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data</a:t>
            </a:r>
            <a:r>
              <a:rPr dirty="0" sz="900" spc="1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store</a:t>
            </a:r>
            <a:r>
              <a:rPr dirty="0" sz="900" spc="1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F57000"/>
                </a:solidFill>
                <a:latin typeface="Calibri"/>
                <a:cs typeface="Calibri"/>
              </a:rPr>
              <a:t>which</a:t>
            </a:r>
            <a:r>
              <a:rPr dirty="0" sz="900" spc="50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57000"/>
                </a:solidFill>
                <a:latin typeface="Calibri"/>
                <a:cs typeface="Calibri"/>
              </a:rPr>
              <a:t>stores</a:t>
            </a:r>
            <a:r>
              <a:rPr dirty="0" sz="900" spc="-1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your</a:t>
            </a:r>
            <a:r>
              <a:rPr dirty="0" sz="900" spc="-2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user</a:t>
            </a:r>
            <a:r>
              <a:rPr dirty="0" sz="900" spc="-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F57000"/>
                </a:solidFill>
                <a:latin typeface="Calibri"/>
                <a:cs typeface="Calibri"/>
              </a:rPr>
              <a:t>data.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900" spc="-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900" spc="-10">
                <a:solidFill>
                  <a:srgbClr val="2F3E47"/>
                </a:solidFill>
                <a:latin typeface="Calibri"/>
                <a:cs typeface="Calibri"/>
              </a:rPr>
              <a:t>Authentication</a:t>
            </a:r>
            <a:r>
              <a:rPr dirty="0" sz="900" spc="65">
                <a:solidFill>
                  <a:srgbClr val="2F3E4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F3E47"/>
                </a:solidFill>
                <a:latin typeface="Calibri"/>
                <a:cs typeface="Calibri"/>
              </a:rPr>
              <a:t>Object</a:t>
            </a:r>
            <a:endParaRPr sz="900">
              <a:latin typeface="Calibri"/>
              <a:cs typeface="Calibri"/>
            </a:endParaRPr>
          </a:p>
          <a:p>
            <a:pPr marL="192405" marR="5080" indent="-90170">
              <a:lnSpc>
                <a:spcPct val="110000"/>
              </a:lnSpc>
            </a:pPr>
            <a:r>
              <a:rPr dirty="0" sz="9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Object</a:t>
            </a:r>
            <a:r>
              <a:rPr dirty="0" sz="900" spc="28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is</a:t>
            </a:r>
            <a:r>
              <a:rPr dirty="0" sz="900" spc="28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created</a:t>
            </a:r>
            <a:r>
              <a:rPr dirty="0" sz="900" spc="30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upon</a:t>
            </a:r>
            <a:r>
              <a:rPr dirty="0" sz="900" spc="28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57000"/>
                </a:solidFill>
                <a:latin typeface="Calibri"/>
                <a:cs typeface="Calibri"/>
              </a:rPr>
              <a:t>authentication,</a:t>
            </a:r>
            <a:r>
              <a:rPr dirty="0" sz="900" spc="50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which</a:t>
            </a:r>
            <a:r>
              <a:rPr dirty="0" sz="900" spc="-3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holds</a:t>
            </a:r>
            <a:r>
              <a:rPr dirty="0" sz="900" spc="-2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login</a:t>
            </a:r>
            <a:r>
              <a:rPr dirty="0" sz="900" spc="-2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57000"/>
                </a:solidFill>
                <a:latin typeface="Calibri"/>
                <a:cs typeface="Calibri"/>
              </a:rPr>
              <a:t>credentials.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900" spc="-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900" spc="-10">
                <a:solidFill>
                  <a:srgbClr val="2F3E47"/>
                </a:solidFill>
                <a:latin typeface="Calibri"/>
                <a:cs typeface="Calibri"/>
              </a:rPr>
              <a:t>UserDetails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9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Data</a:t>
            </a:r>
            <a:r>
              <a:rPr dirty="0" sz="900" spc="41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object</a:t>
            </a:r>
            <a:r>
              <a:rPr dirty="0" sz="900" spc="42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which</a:t>
            </a:r>
            <a:r>
              <a:rPr dirty="0" sz="900" spc="41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contains</a:t>
            </a:r>
            <a:r>
              <a:rPr dirty="0" sz="900" spc="41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the</a:t>
            </a:r>
            <a:r>
              <a:rPr dirty="0" sz="900" spc="42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F57000"/>
                </a:solidFill>
                <a:latin typeface="Calibri"/>
                <a:cs typeface="Calibri"/>
              </a:rPr>
              <a:t>user</a:t>
            </a:r>
            <a:endParaRPr sz="900">
              <a:latin typeface="Calibri"/>
              <a:cs typeface="Calibri"/>
            </a:endParaRPr>
          </a:p>
          <a:p>
            <a:pPr algn="r" marR="19050">
              <a:lnSpc>
                <a:spcPct val="100000"/>
              </a:lnSpc>
              <a:spcBef>
                <a:spcPts val="110"/>
              </a:spcBef>
            </a:pPr>
            <a:r>
              <a:rPr dirty="0" sz="900" spc="-10">
                <a:solidFill>
                  <a:srgbClr val="F57000"/>
                </a:solidFill>
                <a:latin typeface="Calibri"/>
                <a:cs typeface="Calibri"/>
              </a:rPr>
              <a:t>credentials,</a:t>
            </a:r>
            <a:r>
              <a:rPr dirty="0" sz="900" spc="2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but</a:t>
            </a:r>
            <a:r>
              <a:rPr dirty="0" sz="900" spc="-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also</a:t>
            </a:r>
            <a:r>
              <a:rPr dirty="0" sz="900" spc="-1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the</a:t>
            </a:r>
            <a:r>
              <a:rPr dirty="0" sz="900" spc="-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Roles</a:t>
            </a:r>
            <a:r>
              <a:rPr dirty="0" sz="900" spc="-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of</a:t>
            </a:r>
            <a:r>
              <a:rPr dirty="0" sz="900" spc="-1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57000"/>
                </a:solidFill>
                <a:latin typeface="Calibri"/>
                <a:cs typeface="Calibri"/>
              </a:rPr>
              <a:t>the</a:t>
            </a:r>
            <a:r>
              <a:rPr dirty="0" sz="900" spc="-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57000"/>
                </a:solidFill>
                <a:latin typeface="Calibri"/>
                <a:cs typeface="Calibri"/>
              </a:rPr>
              <a:t>user.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900" spc="-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900" spc="-10">
                <a:solidFill>
                  <a:srgbClr val="2F3E47"/>
                </a:solidFill>
                <a:latin typeface="Calibri"/>
                <a:cs typeface="Calibri"/>
              </a:rPr>
              <a:t>UserDetailsService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610104" y="2621025"/>
            <a:ext cx="7753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1985" algn="l"/>
              </a:tabLst>
            </a:pPr>
            <a:r>
              <a:rPr dirty="0" sz="700">
                <a:solidFill>
                  <a:srgbClr val="0066A0"/>
                </a:solidFill>
                <a:latin typeface="Calibri"/>
                <a:cs typeface="Calibri"/>
              </a:rPr>
              <a:t>-</a:t>
            </a:r>
            <a:r>
              <a:rPr dirty="0" sz="700" spc="185">
                <a:solidFill>
                  <a:srgbClr val="0066A0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F57000"/>
                </a:solidFill>
                <a:latin typeface="Calibri"/>
                <a:cs typeface="Calibri"/>
              </a:rPr>
              <a:t>Collects</a:t>
            </a:r>
            <a:r>
              <a:rPr dirty="0" sz="700">
                <a:solidFill>
                  <a:srgbClr val="F57000"/>
                </a:solidFill>
                <a:latin typeface="Calibri"/>
                <a:cs typeface="Calibri"/>
              </a:rPr>
              <a:t>	</a:t>
            </a:r>
            <a:r>
              <a:rPr dirty="0" sz="700" spc="-25">
                <a:solidFill>
                  <a:srgbClr val="F57000"/>
                </a:solidFill>
                <a:latin typeface="Calibri"/>
                <a:cs typeface="Calibri"/>
              </a:rPr>
              <a:t>the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594861" y="2595117"/>
            <a:ext cx="9486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0685" algn="l"/>
              </a:tabLst>
            </a:pPr>
            <a:r>
              <a:rPr dirty="0" sz="700" spc="-20">
                <a:solidFill>
                  <a:srgbClr val="F57000"/>
                </a:solidFill>
                <a:latin typeface="Calibri"/>
                <a:cs typeface="Calibri"/>
              </a:rPr>
              <a:t>user</a:t>
            </a:r>
            <a:r>
              <a:rPr dirty="0" sz="700">
                <a:solidFill>
                  <a:srgbClr val="F57000"/>
                </a:solidFill>
                <a:latin typeface="Calibri"/>
                <a:cs typeface="Calibri"/>
              </a:rPr>
              <a:t>	</a:t>
            </a:r>
            <a:r>
              <a:rPr dirty="0" sz="900" spc="-10">
                <a:solidFill>
                  <a:srgbClr val="F57000"/>
                </a:solidFill>
                <a:latin typeface="Calibri"/>
                <a:cs typeface="Calibri"/>
              </a:rPr>
              <a:t>credentials</a:t>
            </a:r>
            <a:r>
              <a:rPr dirty="0" sz="700" spc="-10">
                <a:solidFill>
                  <a:srgbClr val="F57000"/>
                </a:solidFill>
                <a:latin typeface="Calibri"/>
                <a:cs typeface="Calibri"/>
              </a:rPr>
              <a:t>,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724404" y="2723133"/>
            <a:ext cx="1817370" cy="22796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760"/>
              </a:lnSpc>
              <a:spcBef>
                <a:spcPts val="185"/>
              </a:spcBef>
            </a:pPr>
            <a:r>
              <a:rPr dirty="0" sz="700">
                <a:solidFill>
                  <a:srgbClr val="F57000"/>
                </a:solidFill>
                <a:latin typeface="Calibri"/>
                <a:cs typeface="Calibri"/>
              </a:rPr>
              <a:t>authorities(roles)</a:t>
            </a:r>
            <a:r>
              <a:rPr dirty="0" sz="700" spc="175">
                <a:solidFill>
                  <a:srgbClr val="F57000"/>
                </a:solidFill>
                <a:latin typeface="Calibri"/>
                <a:cs typeface="Calibri"/>
              </a:rPr>
              <a:t>  </a:t>
            </a:r>
            <a:r>
              <a:rPr dirty="0" sz="700">
                <a:solidFill>
                  <a:srgbClr val="F57000"/>
                </a:solidFill>
                <a:latin typeface="Calibri"/>
                <a:cs typeface="Calibri"/>
              </a:rPr>
              <a:t>and</a:t>
            </a:r>
            <a:r>
              <a:rPr dirty="0" sz="700" spc="495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57000"/>
                </a:solidFill>
                <a:latin typeface="Calibri"/>
                <a:cs typeface="Calibri"/>
              </a:rPr>
              <a:t>build</a:t>
            </a:r>
            <a:r>
              <a:rPr dirty="0" sz="700" spc="165">
                <a:solidFill>
                  <a:srgbClr val="F57000"/>
                </a:solidFill>
                <a:latin typeface="Calibri"/>
                <a:cs typeface="Calibri"/>
              </a:rPr>
              <a:t>  </a:t>
            </a:r>
            <a:r>
              <a:rPr dirty="0" sz="700">
                <a:solidFill>
                  <a:srgbClr val="F57000"/>
                </a:solidFill>
                <a:latin typeface="Calibri"/>
                <a:cs typeface="Calibri"/>
              </a:rPr>
              <a:t>an</a:t>
            </a:r>
            <a:r>
              <a:rPr dirty="0" sz="700" spc="170">
                <a:solidFill>
                  <a:srgbClr val="F57000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F57000"/>
                </a:solidFill>
                <a:latin typeface="Calibri"/>
                <a:cs typeface="Calibri"/>
              </a:rPr>
              <a:t>UserDetails</a:t>
            </a:r>
            <a:r>
              <a:rPr dirty="0" sz="700" spc="500">
                <a:solidFill>
                  <a:srgbClr val="F57000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F57000"/>
                </a:solidFill>
                <a:latin typeface="Calibri"/>
                <a:cs typeface="Calibri"/>
              </a:rPr>
              <a:t>object.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-203" y="345465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2246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3733" y="157099"/>
            <a:ext cx="1363980" cy="4603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b="1">
                <a:solidFill>
                  <a:srgbClr val="0066A0"/>
                </a:solidFill>
                <a:latin typeface="Calibri"/>
                <a:cs typeface="Calibri"/>
              </a:rPr>
              <a:t>Spring</a:t>
            </a:r>
            <a:r>
              <a:rPr dirty="0" sz="1700" spc="-3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700" spc="-10" b="1">
                <a:solidFill>
                  <a:srgbClr val="0066A0"/>
                </a:solidFill>
                <a:latin typeface="Calibri"/>
                <a:cs typeface="Calibri"/>
              </a:rPr>
              <a:t>Security</a:t>
            </a:r>
            <a:endParaRPr sz="1700">
              <a:latin typeface="Calibri"/>
              <a:cs typeface="Calibri"/>
            </a:endParaRPr>
          </a:p>
          <a:p>
            <a:pPr marL="146685">
              <a:lnSpc>
                <a:spcPct val="100000"/>
              </a:lnSpc>
              <a:spcBef>
                <a:spcPts val="60"/>
              </a:spcBef>
            </a:pPr>
            <a:r>
              <a:rPr dirty="0" sz="1100" spc="-10" b="1" i="1">
                <a:solidFill>
                  <a:srgbClr val="7E7E7E"/>
                </a:solidFill>
                <a:latin typeface="Calibri"/>
                <a:cs typeface="Calibri"/>
              </a:rPr>
              <a:t>Architecture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225544" y="3292246"/>
            <a:ext cx="6413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FFC000"/>
                </a:solidFill>
                <a:latin typeface="Calibri"/>
                <a:cs typeface="Calibri"/>
              </a:rPr>
              <a:t>5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59" y="740663"/>
            <a:ext cx="4439411" cy="240182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-203" y="345592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1585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3733" y="156463"/>
            <a:ext cx="1363980" cy="460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solidFill>
                  <a:srgbClr val="0066A0"/>
                </a:solidFill>
                <a:latin typeface="Calibri"/>
                <a:cs typeface="Calibri"/>
              </a:rPr>
              <a:t>Spring</a:t>
            </a:r>
            <a:r>
              <a:rPr dirty="0" sz="1700" spc="-3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700" spc="-10" b="1">
                <a:solidFill>
                  <a:srgbClr val="0066A0"/>
                </a:solidFill>
                <a:latin typeface="Calibri"/>
                <a:cs typeface="Calibri"/>
              </a:rPr>
              <a:t>Security</a:t>
            </a:r>
            <a:endParaRPr sz="1700">
              <a:latin typeface="Calibri"/>
              <a:cs typeface="Calibri"/>
            </a:endParaRPr>
          </a:p>
          <a:p>
            <a:pPr marL="146685">
              <a:lnSpc>
                <a:spcPct val="100000"/>
              </a:lnSpc>
              <a:spcBef>
                <a:spcPts val="60"/>
              </a:spcBef>
            </a:pPr>
            <a:r>
              <a:rPr dirty="0" sz="1100" spc="-20" b="1" i="1">
                <a:solidFill>
                  <a:srgbClr val="7E7E7E"/>
                </a:solidFill>
                <a:latin typeface="Calibri"/>
                <a:cs typeface="Calibri"/>
              </a:rPr>
              <a:t>flow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225544" y="3291585"/>
            <a:ext cx="6413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FFC000"/>
                </a:solidFill>
                <a:latin typeface="Calibri"/>
                <a:cs typeface="Calibri"/>
              </a:rPr>
              <a:t>6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39" y="637031"/>
            <a:ext cx="4133088" cy="256946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-203" y="345465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2246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733" y="157099"/>
            <a:ext cx="1363980" cy="2851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Spring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3733" y="349097"/>
            <a:ext cx="4375785" cy="124206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690"/>
              </a:spcBef>
            </a:pPr>
            <a:r>
              <a:rPr dirty="0" sz="1100" spc="-10" b="1" i="1">
                <a:solidFill>
                  <a:srgbClr val="7E7E7E"/>
                </a:solidFill>
                <a:latin typeface="Calibri"/>
                <a:cs typeface="Calibri"/>
              </a:rPr>
              <a:t>Practice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255"/>
              </a:lnSpc>
              <a:spcBef>
                <a:spcPts val="595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Spring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6.x,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adding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dependency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project,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when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access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any</a:t>
            </a:r>
            <a:endParaRPr sz="1100">
              <a:latin typeface="Calibri"/>
              <a:cs typeface="Calibri"/>
            </a:endParaRPr>
          </a:p>
          <a:p>
            <a:pPr marL="127000">
              <a:lnSpc>
                <a:spcPts val="1255"/>
              </a:lnSpc>
            </a:pPr>
            <a:r>
              <a:rPr dirty="0" sz="1100" spc="-10">
                <a:latin typeface="Calibri"/>
                <a:cs typeface="Calibri"/>
              </a:rPr>
              <a:t>resources,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should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provide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credential.</a:t>
            </a:r>
            <a:endParaRPr sz="1100">
              <a:latin typeface="Calibri"/>
              <a:cs typeface="Calibri"/>
            </a:endParaRPr>
          </a:p>
          <a:p>
            <a:pPr marL="127000" marR="5080" indent="-114935">
              <a:lnSpc>
                <a:spcPts val="1190"/>
              </a:lnSpc>
              <a:spcBef>
                <a:spcPts val="509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manage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resources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grant/deny</a:t>
            </a:r>
            <a:r>
              <a:rPr dirty="0" sz="1100" spc="2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permission,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should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configure </a:t>
            </a:r>
            <a:r>
              <a:rPr dirty="0" sz="1100">
                <a:latin typeface="Calibri"/>
                <a:cs typeface="Calibri"/>
              </a:rPr>
              <a:t>them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XML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code.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There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implements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security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Spring.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25544" y="3292246"/>
            <a:ext cx="6413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FFC000"/>
                </a:solidFill>
                <a:latin typeface="Calibri"/>
                <a:cs typeface="Calibri"/>
              </a:rPr>
              <a:t>7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918749" y="1709794"/>
            <a:ext cx="3277235" cy="1407160"/>
            <a:chOff x="918749" y="1709794"/>
            <a:chExt cx="3277235" cy="140716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3543" y="1714499"/>
              <a:ext cx="3267455" cy="1397508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921130" y="1712175"/>
              <a:ext cx="3272154" cy="1402715"/>
            </a:xfrm>
            <a:custGeom>
              <a:avLst/>
              <a:gdLst/>
              <a:ahLst/>
              <a:cxnLst/>
              <a:rect l="l" t="t" r="r" b="b"/>
              <a:pathLst>
                <a:path w="3272154" h="1402714">
                  <a:moveTo>
                    <a:pt x="0" y="1402207"/>
                  </a:moveTo>
                  <a:lnTo>
                    <a:pt x="3272154" y="1402207"/>
                  </a:lnTo>
                  <a:lnTo>
                    <a:pt x="3272154" y="0"/>
                  </a:lnTo>
                  <a:lnTo>
                    <a:pt x="0" y="0"/>
                  </a:lnTo>
                  <a:lnTo>
                    <a:pt x="0" y="1402207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-203" y="345592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1585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733" y="156463"/>
            <a:ext cx="1363980" cy="2851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Spring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3733" y="348462"/>
            <a:ext cx="4150995" cy="72517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690"/>
              </a:spcBef>
            </a:pP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Practice</a:t>
            </a:r>
            <a:r>
              <a:rPr dirty="0" sz="1100" spc="-5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spc="-10" b="1" i="1">
                <a:solidFill>
                  <a:srgbClr val="7E7E7E"/>
                </a:solidFill>
                <a:latin typeface="Calibri"/>
                <a:cs typeface="Calibri"/>
              </a:rPr>
              <a:t>(cont.)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1100" spc="-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 spc="-10">
                <a:latin typeface="Calibri"/>
                <a:cs typeface="Calibri"/>
              </a:rPr>
              <a:t>Default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username: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FF0000"/>
                </a:solidFill>
                <a:latin typeface="Calibri"/>
                <a:cs typeface="Calibri"/>
              </a:rPr>
              <a:t>user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100" spc="-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 spc="-10">
                <a:latin typeface="Calibri"/>
                <a:cs typeface="Calibri"/>
              </a:rPr>
              <a:t>Default password: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password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generate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run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application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3733" y="1737740"/>
            <a:ext cx="423989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We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default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password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specify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9BD4"/>
                </a:solidFill>
                <a:latin typeface="Calibri"/>
                <a:cs typeface="Calibri"/>
              </a:rPr>
              <a:t>application.properties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225544" y="3291585"/>
            <a:ext cx="6413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FFC000"/>
                </a:solidFill>
                <a:latin typeface="Calibri"/>
                <a:cs typeface="Calibri"/>
              </a:rPr>
              <a:t>8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35285" y="1103216"/>
            <a:ext cx="3120390" cy="553720"/>
            <a:chOff x="635285" y="1103216"/>
            <a:chExt cx="3120390" cy="55372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79" y="1107947"/>
              <a:ext cx="3110484" cy="544068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637666" y="1105598"/>
              <a:ext cx="3115310" cy="549275"/>
            </a:xfrm>
            <a:custGeom>
              <a:avLst/>
              <a:gdLst/>
              <a:ahLst/>
              <a:cxnLst/>
              <a:rect l="l" t="t" r="r" b="b"/>
              <a:pathLst>
                <a:path w="3115310" h="549275">
                  <a:moveTo>
                    <a:pt x="0" y="548830"/>
                  </a:moveTo>
                  <a:lnTo>
                    <a:pt x="3115310" y="548830"/>
                  </a:lnTo>
                  <a:lnTo>
                    <a:pt x="3115310" y="0"/>
                  </a:lnTo>
                  <a:lnTo>
                    <a:pt x="0" y="0"/>
                  </a:lnTo>
                  <a:lnTo>
                    <a:pt x="0" y="548830"/>
                  </a:lnTo>
                  <a:close/>
                </a:path>
              </a:pathLst>
            </a:custGeom>
            <a:ln w="476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199421" y="2461100"/>
            <a:ext cx="2164715" cy="418465"/>
            <a:chOff x="199421" y="2461100"/>
            <a:chExt cx="2164715" cy="418465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4215" y="2465831"/>
              <a:ext cx="2154936" cy="408431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201802" y="2463482"/>
              <a:ext cx="2159635" cy="413384"/>
            </a:xfrm>
            <a:custGeom>
              <a:avLst/>
              <a:gdLst/>
              <a:ahLst/>
              <a:cxnLst/>
              <a:rect l="l" t="t" r="r" b="b"/>
              <a:pathLst>
                <a:path w="2159635" h="413385">
                  <a:moveTo>
                    <a:pt x="0" y="413194"/>
                  </a:moveTo>
                  <a:lnTo>
                    <a:pt x="2159635" y="413194"/>
                  </a:lnTo>
                  <a:lnTo>
                    <a:pt x="2159635" y="0"/>
                  </a:lnTo>
                  <a:lnTo>
                    <a:pt x="0" y="0"/>
                  </a:lnTo>
                  <a:lnTo>
                    <a:pt x="0" y="413194"/>
                  </a:lnTo>
                  <a:close/>
                </a:path>
              </a:pathLst>
            </a:custGeom>
            <a:ln w="476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199421" y="1974944"/>
            <a:ext cx="4331970" cy="395605"/>
            <a:chOff x="199421" y="1974944"/>
            <a:chExt cx="4331970" cy="395605"/>
          </a:xfrm>
        </p:grpSpPr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4215" y="1979675"/>
              <a:ext cx="4322064" cy="385572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201802" y="1977326"/>
              <a:ext cx="4326890" cy="390525"/>
            </a:xfrm>
            <a:custGeom>
              <a:avLst/>
              <a:gdLst/>
              <a:ahLst/>
              <a:cxnLst/>
              <a:rect l="l" t="t" r="r" b="b"/>
              <a:pathLst>
                <a:path w="4326890" h="390525">
                  <a:moveTo>
                    <a:pt x="0" y="390334"/>
                  </a:moveTo>
                  <a:lnTo>
                    <a:pt x="4326763" y="390334"/>
                  </a:lnTo>
                  <a:lnTo>
                    <a:pt x="4326763" y="0"/>
                  </a:lnTo>
                  <a:lnTo>
                    <a:pt x="0" y="0"/>
                  </a:lnTo>
                  <a:lnTo>
                    <a:pt x="0" y="390334"/>
                  </a:lnTo>
                  <a:close/>
                </a:path>
              </a:pathLst>
            </a:custGeom>
            <a:ln w="476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3053873" y="2444336"/>
            <a:ext cx="1264285" cy="826769"/>
            <a:chOff x="3053873" y="2444336"/>
            <a:chExt cx="1264285" cy="826769"/>
          </a:xfrm>
        </p:grpSpPr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58667" y="2449067"/>
              <a:ext cx="1254252" cy="816863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3056254" y="2446718"/>
              <a:ext cx="1259205" cy="821690"/>
            </a:xfrm>
            <a:custGeom>
              <a:avLst/>
              <a:gdLst/>
              <a:ahLst/>
              <a:cxnLst/>
              <a:rect l="l" t="t" r="r" b="b"/>
              <a:pathLst>
                <a:path w="1259204" h="821689">
                  <a:moveTo>
                    <a:pt x="0" y="821626"/>
                  </a:moveTo>
                  <a:lnTo>
                    <a:pt x="1259014" y="821626"/>
                  </a:lnTo>
                  <a:lnTo>
                    <a:pt x="1259014" y="0"/>
                  </a:lnTo>
                  <a:lnTo>
                    <a:pt x="0" y="0"/>
                  </a:lnTo>
                  <a:lnTo>
                    <a:pt x="0" y="821626"/>
                  </a:lnTo>
                  <a:close/>
                </a:path>
              </a:pathLst>
            </a:custGeom>
            <a:ln w="476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2115057" y="3002660"/>
            <a:ext cx="8909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default </a:t>
            </a:r>
            <a:r>
              <a:rPr dirty="0" sz="900">
                <a:latin typeface="Calibri"/>
                <a:cs typeface="Calibri"/>
              </a:rPr>
              <a:t>logon</a:t>
            </a:r>
            <a:r>
              <a:rPr dirty="0" sz="900" spc="-20">
                <a:latin typeface="Calibri"/>
                <a:cs typeface="Calibri"/>
              </a:rPr>
              <a:t> form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37235" y="3002660"/>
            <a:ext cx="13373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  <a:hlinkClick r:id="rId6"/>
              </a:rPr>
              <a:t>http://bcrypt-generator.com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-203" y="345465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8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2246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733" y="157099"/>
            <a:ext cx="1363980" cy="2851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Spring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3733" y="349097"/>
            <a:ext cx="4373245" cy="125793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algn="r" marR="3414395">
              <a:lnSpc>
                <a:spcPct val="100000"/>
              </a:lnSpc>
              <a:spcBef>
                <a:spcPts val="690"/>
              </a:spcBef>
            </a:pPr>
            <a:r>
              <a:rPr dirty="0" sz="1100" spc="-10" b="1" i="1">
                <a:solidFill>
                  <a:srgbClr val="7E7E7E"/>
                </a:solidFill>
                <a:latin typeface="Calibri"/>
                <a:cs typeface="Calibri"/>
              </a:rPr>
              <a:t>Configuration</a:t>
            </a:r>
            <a:endParaRPr sz="1100">
              <a:latin typeface="Calibri"/>
              <a:cs typeface="Calibri"/>
            </a:endParaRPr>
          </a:p>
          <a:p>
            <a:pPr algn="r" marR="3450590">
              <a:lnSpc>
                <a:spcPct val="100000"/>
              </a:lnSpc>
              <a:spcBef>
                <a:spcPts val="595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Sample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steps:</a:t>
            </a:r>
            <a:endParaRPr sz="1100">
              <a:latin typeface="Calibri"/>
              <a:cs typeface="Calibri"/>
            </a:endParaRPr>
          </a:p>
          <a:p>
            <a:pPr marL="353695" indent="-112395">
              <a:lnSpc>
                <a:spcPct val="100000"/>
              </a:lnSpc>
              <a:spcBef>
                <a:spcPts val="150"/>
              </a:spcBef>
              <a:buClr>
                <a:srgbClr val="0066A0"/>
              </a:buClr>
              <a:buChar char="-"/>
              <a:tabLst>
                <a:tab pos="353695" algn="l"/>
              </a:tabLst>
            </a:pPr>
            <a:r>
              <a:rPr dirty="0" sz="900">
                <a:latin typeface="Calibri"/>
                <a:cs typeface="Calibri"/>
              </a:rPr>
              <a:t>Create</a:t>
            </a:r>
            <a:r>
              <a:rPr dirty="0" sz="900" spc="-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any</a:t>
            </a:r>
            <a:r>
              <a:rPr dirty="0" sz="900" spc="-2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class</a:t>
            </a:r>
            <a:r>
              <a:rPr dirty="0" sz="900" spc="-2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with</a:t>
            </a:r>
            <a:r>
              <a:rPr dirty="0" sz="900" spc="-1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@Configuration</a:t>
            </a:r>
            <a:r>
              <a:rPr dirty="0" sz="900" spc="1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annotation.</a:t>
            </a:r>
            <a:endParaRPr sz="900">
              <a:latin typeface="Calibri"/>
              <a:cs typeface="Calibri"/>
            </a:endParaRPr>
          </a:p>
          <a:p>
            <a:pPr marL="353695" indent="-112395">
              <a:lnSpc>
                <a:spcPct val="100000"/>
              </a:lnSpc>
              <a:spcBef>
                <a:spcPts val="145"/>
              </a:spcBef>
              <a:buClr>
                <a:srgbClr val="0066A0"/>
              </a:buClr>
              <a:buChar char="-"/>
              <a:tabLst>
                <a:tab pos="353695" algn="l"/>
              </a:tabLst>
            </a:pPr>
            <a:r>
              <a:rPr dirty="0" sz="900">
                <a:latin typeface="Calibri"/>
                <a:cs typeface="Calibri"/>
              </a:rPr>
              <a:t>Add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0000"/>
                </a:solidFill>
                <a:latin typeface="Calibri"/>
                <a:cs typeface="Calibri"/>
              </a:rPr>
              <a:t>@EnableWebSecurity</a:t>
            </a:r>
            <a:endParaRPr sz="900">
              <a:latin typeface="Calibri"/>
              <a:cs typeface="Calibri"/>
            </a:endParaRPr>
          </a:p>
          <a:p>
            <a:pPr marL="353695" indent="-112395">
              <a:lnSpc>
                <a:spcPct val="100000"/>
              </a:lnSpc>
              <a:spcBef>
                <a:spcPts val="145"/>
              </a:spcBef>
              <a:buClr>
                <a:srgbClr val="0066A0"/>
              </a:buClr>
              <a:buChar char="-"/>
              <a:tabLst>
                <a:tab pos="353695" algn="l"/>
              </a:tabLst>
            </a:pPr>
            <a:r>
              <a:rPr dirty="0" sz="900">
                <a:latin typeface="Calibri"/>
                <a:cs typeface="Calibri"/>
              </a:rPr>
              <a:t>Create</a:t>
            </a:r>
            <a:r>
              <a:rPr dirty="0" sz="900" spc="-1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method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with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parameter </a:t>
            </a:r>
            <a:r>
              <a:rPr dirty="0" sz="900">
                <a:latin typeface="Calibri"/>
                <a:cs typeface="Calibri"/>
              </a:rPr>
              <a:t>with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type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471C4"/>
                </a:solidFill>
                <a:latin typeface="Calibri"/>
                <a:cs typeface="Calibri"/>
              </a:rPr>
              <a:t>AuthenticationManagerBuilder</a:t>
            </a:r>
            <a:endParaRPr sz="900">
              <a:latin typeface="Calibri"/>
              <a:cs typeface="Calibri"/>
            </a:endParaRPr>
          </a:p>
          <a:p>
            <a:pPr marL="353695" marR="5080" indent="-112395">
              <a:lnSpc>
                <a:spcPts val="969"/>
              </a:lnSpc>
              <a:spcBef>
                <a:spcPts val="270"/>
              </a:spcBef>
              <a:buClr>
                <a:srgbClr val="0066A0"/>
              </a:buClr>
              <a:buChar char="-"/>
              <a:tabLst>
                <a:tab pos="355600" algn="l"/>
              </a:tabLst>
            </a:pPr>
            <a:r>
              <a:rPr dirty="0" sz="900">
                <a:latin typeface="Calibri"/>
                <a:cs typeface="Calibri"/>
              </a:rPr>
              <a:t>Create</a:t>
            </a:r>
            <a:r>
              <a:rPr dirty="0" sz="900" spc="254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</a:t>
            </a:r>
            <a:r>
              <a:rPr dirty="0" sz="900" spc="26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bean</a:t>
            </a:r>
            <a:r>
              <a:rPr dirty="0" sz="900" spc="26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with</a:t>
            </a:r>
            <a:r>
              <a:rPr dirty="0" sz="900" spc="254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return</a:t>
            </a:r>
            <a:r>
              <a:rPr dirty="0" sz="900" spc="254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type</a:t>
            </a:r>
            <a:r>
              <a:rPr dirty="0" sz="900" spc="265"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471C4"/>
                </a:solidFill>
                <a:latin typeface="Calibri"/>
                <a:cs typeface="Calibri"/>
              </a:rPr>
              <a:t>SecurityFilterChain</a:t>
            </a:r>
            <a:r>
              <a:rPr dirty="0" sz="900" spc="254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and</a:t>
            </a:r>
            <a:r>
              <a:rPr dirty="0" sz="900" spc="26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</a:t>
            </a:r>
            <a:r>
              <a:rPr dirty="0" sz="900" spc="26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parameter</a:t>
            </a:r>
            <a:r>
              <a:rPr dirty="0" sz="900" spc="26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with</a:t>
            </a:r>
            <a:r>
              <a:rPr dirty="0" sz="900" spc="260">
                <a:latin typeface="Calibri"/>
                <a:cs typeface="Calibri"/>
              </a:rPr>
              <a:t> </a:t>
            </a:r>
            <a:r>
              <a:rPr dirty="0" sz="900" spc="-20">
                <a:latin typeface="Calibri"/>
                <a:cs typeface="Calibri"/>
              </a:rPr>
              <a:t>type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 spc="500">
                <a:latin typeface="Calibri"/>
                <a:cs typeface="Calibri"/>
              </a:rPr>
              <a:t>	</a:t>
            </a:r>
            <a:r>
              <a:rPr dirty="0" sz="900" spc="-10">
                <a:solidFill>
                  <a:srgbClr val="4471C4"/>
                </a:solidFill>
                <a:latin typeface="Calibri"/>
                <a:cs typeface="Calibri"/>
              </a:rPr>
              <a:t>HttpSecurity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25544" y="3292246"/>
            <a:ext cx="6413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FFC000"/>
                </a:solidFill>
                <a:latin typeface="Calibri"/>
                <a:cs typeface="Calibri"/>
              </a:rPr>
              <a:t>9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281717" y="1635118"/>
            <a:ext cx="3914140" cy="1573530"/>
            <a:chOff x="281717" y="1635118"/>
            <a:chExt cx="3914140" cy="157353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6511" y="1639823"/>
              <a:ext cx="3904487" cy="156362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84098" y="1637499"/>
              <a:ext cx="3909695" cy="1568450"/>
            </a:xfrm>
            <a:custGeom>
              <a:avLst/>
              <a:gdLst/>
              <a:ahLst/>
              <a:cxnLst/>
              <a:rect l="l" t="t" r="r" b="b"/>
              <a:pathLst>
                <a:path w="3909695" h="1568450">
                  <a:moveTo>
                    <a:pt x="0" y="1568323"/>
                  </a:moveTo>
                  <a:lnTo>
                    <a:pt x="3909187" y="1568323"/>
                  </a:lnTo>
                  <a:lnTo>
                    <a:pt x="3909187" y="0"/>
                  </a:lnTo>
                  <a:lnTo>
                    <a:pt x="0" y="0"/>
                  </a:lnTo>
                  <a:lnTo>
                    <a:pt x="0" y="1568323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-203" y="345592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9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1585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733" y="156463"/>
            <a:ext cx="1363980" cy="2851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Spring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32358" y="990179"/>
            <a:ext cx="863600" cy="492759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5095" indent="-112395">
              <a:lnSpc>
                <a:spcPct val="100000"/>
              </a:lnSpc>
              <a:spcBef>
                <a:spcPts val="245"/>
              </a:spcBef>
              <a:buClr>
                <a:srgbClr val="0066A0"/>
              </a:buClr>
              <a:buChar char="-"/>
              <a:tabLst>
                <a:tab pos="125095" algn="l"/>
              </a:tabLst>
            </a:pPr>
            <a:r>
              <a:rPr dirty="0" sz="900" spc="-10">
                <a:latin typeface="Calibri"/>
                <a:cs typeface="Calibri"/>
              </a:rPr>
              <a:t>Authenticated()</a:t>
            </a:r>
            <a:endParaRPr sz="900">
              <a:latin typeface="Calibri"/>
              <a:cs typeface="Calibri"/>
            </a:endParaRPr>
          </a:p>
          <a:p>
            <a:pPr marL="125095" indent="-112395">
              <a:lnSpc>
                <a:spcPct val="100000"/>
              </a:lnSpc>
              <a:spcBef>
                <a:spcPts val="150"/>
              </a:spcBef>
              <a:buClr>
                <a:srgbClr val="0066A0"/>
              </a:buClr>
              <a:buChar char="-"/>
              <a:tabLst>
                <a:tab pos="125095" algn="l"/>
              </a:tabLst>
            </a:pP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denyAll()</a:t>
            </a:r>
            <a:endParaRPr sz="900">
              <a:latin typeface="Calibri"/>
              <a:cs typeface="Calibri"/>
            </a:endParaRPr>
          </a:p>
          <a:p>
            <a:pPr marL="125095" indent="-112395">
              <a:lnSpc>
                <a:spcPct val="100000"/>
              </a:lnSpc>
              <a:spcBef>
                <a:spcPts val="140"/>
              </a:spcBef>
              <a:buClr>
                <a:srgbClr val="0066A0"/>
              </a:buClr>
              <a:buChar char="-"/>
              <a:tabLst>
                <a:tab pos="125095" algn="l"/>
              </a:tabLst>
            </a:pPr>
            <a:r>
              <a:rPr dirty="0" sz="900" spc="-10">
                <a:latin typeface="Calibri"/>
                <a:cs typeface="Calibri"/>
              </a:rPr>
              <a:t>hasAnyRole()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32358" y="1455799"/>
            <a:ext cx="571500" cy="33655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dirty="0" sz="900">
                <a:solidFill>
                  <a:srgbClr val="0066A0"/>
                </a:solidFill>
                <a:latin typeface="Calibri"/>
                <a:cs typeface="Calibri"/>
              </a:rPr>
              <a:t>-</a:t>
            </a:r>
            <a:r>
              <a:rPr dirty="0" sz="900" spc="400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hasRole()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900">
                <a:solidFill>
                  <a:srgbClr val="0066A0"/>
                </a:solidFill>
                <a:latin typeface="Calibri"/>
                <a:cs typeface="Calibri"/>
              </a:rPr>
              <a:t>-</a:t>
            </a:r>
            <a:r>
              <a:rPr dirty="0" sz="900" spc="409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…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225544" y="3291585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C000"/>
                </a:solidFill>
                <a:latin typeface="Calibri"/>
                <a:cs typeface="Calibri"/>
              </a:rPr>
              <a:t>10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3733" y="348462"/>
            <a:ext cx="2616200" cy="66802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690"/>
              </a:spcBef>
            </a:pPr>
            <a:r>
              <a:rPr dirty="0" sz="1100" spc="-10" b="1" i="1">
                <a:solidFill>
                  <a:srgbClr val="7E7E7E"/>
                </a:solidFill>
                <a:latin typeface="Calibri"/>
                <a:cs typeface="Calibri"/>
              </a:rPr>
              <a:t>Resources'</a:t>
            </a:r>
            <a:r>
              <a:rPr dirty="0" sz="1100" spc="-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grant/deny</a:t>
            </a:r>
            <a:r>
              <a:rPr dirty="0" sz="1100" spc="-1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spc="-10" b="1" i="1">
                <a:solidFill>
                  <a:srgbClr val="7E7E7E"/>
                </a:solidFill>
                <a:latin typeface="Calibri"/>
                <a:cs typeface="Calibri"/>
              </a:rPr>
              <a:t>permission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1100" spc="-2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 spc="-20">
                <a:latin typeface="Calibri"/>
                <a:cs typeface="Calibri"/>
              </a:rPr>
              <a:t>You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should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specify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resources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protecting.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50"/>
              </a:spcBef>
            </a:pPr>
            <a:r>
              <a:rPr dirty="0" sz="900">
                <a:solidFill>
                  <a:srgbClr val="0066A0"/>
                </a:solidFill>
                <a:latin typeface="Calibri"/>
                <a:cs typeface="Calibri"/>
              </a:rPr>
              <a:t>-</a:t>
            </a:r>
            <a:r>
              <a:rPr dirty="0" sz="900" spc="409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PermitAll()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122677" y="1042542"/>
            <a:ext cx="228727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FF0000"/>
                </a:solidFill>
                <a:latin typeface="Calibri"/>
                <a:cs typeface="Calibri"/>
              </a:rPr>
              <a:t>**</a:t>
            </a:r>
            <a:r>
              <a:rPr dirty="0" sz="900" spc="470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0000"/>
                </a:solidFill>
                <a:latin typeface="Calibri"/>
                <a:cs typeface="Calibri"/>
              </a:rPr>
              <a:t>Instead</a:t>
            </a:r>
            <a:r>
              <a:rPr dirty="0" sz="900" spc="484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dirty="0" sz="900" spc="475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0000"/>
                </a:solidFill>
                <a:latin typeface="Calibri"/>
                <a:cs typeface="Calibri"/>
              </a:rPr>
              <a:t>grant/deny</a:t>
            </a:r>
            <a:r>
              <a:rPr dirty="0" sz="900" spc="470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0000"/>
                </a:solidFill>
                <a:latin typeface="Calibri"/>
                <a:cs typeface="Calibri"/>
              </a:rPr>
              <a:t>access</a:t>
            </a:r>
            <a:r>
              <a:rPr dirty="0" sz="900" spc="475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dirty="0" sz="900" spc="475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 spc="-20" i="1">
                <a:solidFill>
                  <a:srgbClr val="FF0000"/>
                </a:solidFill>
                <a:latin typeface="Calibri"/>
                <a:cs typeface="Calibri"/>
              </a:rPr>
              <a:t>each</a:t>
            </a:r>
            <a:r>
              <a:rPr dirty="0" sz="900" spc="500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0000"/>
                </a:solidFill>
                <a:latin typeface="Calibri"/>
                <a:cs typeface="Calibri"/>
              </a:rPr>
              <a:t>credential,</a:t>
            </a:r>
            <a:r>
              <a:rPr dirty="0" sz="900" spc="135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0000"/>
                </a:solidFill>
                <a:latin typeface="Calibri"/>
                <a:cs typeface="Calibri"/>
              </a:rPr>
              <a:t>you</a:t>
            </a:r>
            <a:r>
              <a:rPr dirty="0" sz="900" spc="150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0000"/>
                </a:solidFill>
                <a:latin typeface="Calibri"/>
                <a:cs typeface="Calibri"/>
              </a:rPr>
              <a:t>should</a:t>
            </a:r>
            <a:r>
              <a:rPr dirty="0" sz="900" spc="140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0000"/>
                </a:solidFill>
                <a:latin typeface="Calibri"/>
                <a:cs typeface="Calibri"/>
              </a:rPr>
              <a:t>grant/deny</a:t>
            </a:r>
            <a:r>
              <a:rPr dirty="0" sz="900" spc="135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0000"/>
                </a:solidFill>
                <a:latin typeface="Calibri"/>
                <a:cs typeface="Calibri"/>
              </a:rPr>
              <a:t>access</a:t>
            </a:r>
            <a:r>
              <a:rPr dirty="0" sz="900" spc="145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dirty="0" sz="900" spc="150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 spc="-50" i="1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dirty="0" sz="900" spc="500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 spc="-20" i="1">
                <a:solidFill>
                  <a:srgbClr val="FF0000"/>
                </a:solidFill>
                <a:latin typeface="Calibri"/>
                <a:cs typeface="Calibri"/>
              </a:rPr>
              <a:t>role.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984281" y="1501044"/>
            <a:ext cx="3461385" cy="1745614"/>
            <a:chOff x="984281" y="1501044"/>
            <a:chExt cx="3461385" cy="1745614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9076" y="1505711"/>
              <a:ext cx="3451860" cy="1735835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986663" y="1503425"/>
              <a:ext cx="3456940" cy="1740535"/>
            </a:xfrm>
            <a:custGeom>
              <a:avLst/>
              <a:gdLst/>
              <a:ahLst/>
              <a:cxnLst/>
              <a:rect l="l" t="t" r="r" b="b"/>
              <a:pathLst>
                <a:path w="3456940" h="1740535">
                  <a:moveTo>
                    <a:pt x="0" y="1740535"/>
                  </a:moveTo>
                  <a:lnTo>
                    <a:pt x="3456558" y="1740535"/>
                  </a:lnTo>
                  <a:lnTo>
                    <a:pt x="3456558" y="0"/>
                  </a:lnTo>
                  <a:lnTo>
                    <a:pt x="0" y="0"/>
                  </a:lnTo>
                  <a:lnTo>
                    <a:pt x="0" y="1740535"/>
                  </a:lnTo>
                  <a:close/>
                </a:path>
              </a:pathLst>
            </a:custGeom>
            <a:ln w="476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-203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10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2246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733" y="157099"/>
            <a:ext cx="1363980" cy="2851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Spring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3733" y="349097"/>
            <a:ext cx="3599179" cy="150241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690"/>
              </a:spcBef>
            </a:pP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Providing</a:t>
            </a:r>
            <a:r>
              <a:rPr dirty="0" sz="1100" spc="-1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spc="-10" b="1" i="1">
                <a:solidFill>
                  <a:srgbClr val="7E7E7E"/>
                </a:solidFill>
                <a:latin typeface="Calibri"/>
                <a:cs typeface="Calibri"/>
              </a:rPr>
              <a:t>credentials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1100" spc="-2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 spc="-20">
                <a:latin typeface="Calibri"/>
                <a:cs typeface="Calibri"/>
              </a:rPr>
              <a:t>You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provide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credential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many</a:t>
            </a:r>
            <a:r>
              <a:rPr dirty="0" sz="1100" spc="-20">
                <a:latin typeface="Calibri"/>
                <a:cs typeface="Calibri"/>
              </a:rPr>
              <a:t> ways:</a:t>
            </a:r>
            <a:endParaRPr sz="1100">
              <a:latin typeface="Calibri"/>
              <a:cs typeface="Calibri"/>
            </a:endParaRPr>
          </a:p>
          <a:p>
            <a:pPr marL="353695" indent="-112395">
              <a:lnSpc>
                <a:spcPct val="100000"/>
              </a:lnSpc>
              <a:spcBef>
                <a:spcPts val="150"/>
              </a:spcBef>
              <a:buClr>
                <a:srgbClr val="0066A0"/>
              </a:buClr>
              <a:buChar char="-"/>
              <a:tabLst>
                <a:tab pos="353695" algn="l"/>
              </a:tabLst>
            </a:pPr>
            <a:r>
              <a:rPr dirty="0" sz="900">
                <a:latin typeface="Calibri"/>
                <a:cs typeface="Calibri"/>
              </a:rPr>
              <a:t>In</a:t>
            </a:r>
            <a:r>
              <a:rPr dirty="0" sz="900" spc="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memory</a:t>
            </a:r>
            <a:endParaRPr sz="900">
              <a:latin typeface="Calibri"/>
              <a:cs typeface="Calibri"/>
            </a:endParaRPr>
          </a:p>
          <a:p>
            <a:pPr marL="353695" indent="-112395">
              <a:lnSpc>
                <a:spcPct val="100000"/>
              </a:lnSpc>
              <a:spcBef>
                <a:spcPts val="145"/>
              </a:spcBef>
              <a:buClr>
                <a:srgbClr val="0066A0"/>
              </a:buClr>
              <a:buChar char="-"/>
              <a:tabLst>
                <a:tab pos="353695" algn="l"/>
              </a:tabLst>
            </a:pPr>
            <a:r>
              <a:rPr dirty="0" sz="900">
                <a:latin typeface="Calibri"/>
                <a:cs typeface="Calibri"/>
              </a:rPr>
              <a:t>Using</a:t>
            </a:r>
            <a:r>
              <a:rPr dirty="0" sz="900" spc="-40">
                <a:latin typeface="Calibri"/>
                <a:cs typeface="Calibri"/>
              </a:rPr>
              <a:t> </a:t>
            </a:r>
            <a:r>
              <a:rPr dirty="0" sz="900" spc="-20">
                <a:latin typeface="Calibri"/>
                <a:cs typeface="Calibri"/>
              </a:rPr>
              <a:t>JDBC</a:t>
            </a:r>
            <a:endParaRPr sz="900">
              <a:latin typeface="Calibri"/>
              <a:cs typeface="Calibri"/>
            </a:endParaRPr>
          </a:p>
          <a:p>
            <a:pPr marL="353695" indent="-112395">
              <a:lnSpc>
                <a:spcPct val="100000"/>
              </a:lnSpc>
              <a:spcBef>
                <a:spcPts val="145"/>
              </a:spcBef>
              <a:buClr>
                <a:srgbClr val="0066A0"/>
              </a:buClr>
              <a:buChar char="-"/>
              <a:tabLst>
                <a:tab pos="353695" algn="l"/>
              </a:tabLst>
            </a:pPr>
            <a:r>
              <a:rPr dirty="0" sz="900">
                <a:latin typeface="Calibri"/>
                <a:cs typeface="Calibri"/>
              </a:rPr>
              <a:t>Using</a:t>
            </a:r>
            <a:r>
              <a:rPr dirty="0" sz="900" spc="-4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OAuth2AuthorizeRequest</a:t>
            </a:r>
            <a:endParaRPr sz="900">
              <a:latin typeface="Calibri"/>
              <a:cs typeface="Calibri"/>
            </a:endParaRPr>
          </a:p>
          <a:p>
            <a:pPr marL="353695" indent="-112395">
              <a:lnSpc>
                <a:spcPct val="100000"/>
              </a:lnSpc>
              <a:spcBef>
                <a:spcPts val="145"/>
              </a:spcBef>
              <a:buClr>
                <a:srgbClr val="0066A0"/>
              </a:buClr>
              <a:buChar char="-"/>
              <a:tabLst>
                <a:tab pos="353695" algn="l"/>
              </a:tabLst>
            </a:pPr>
            <a:r>
              <a:rPr dirty="0" sz="900">
                <a:latin typeface="Calibri"/>
                <a:cs typeface="Calibri"/>
              </a:rPr>
              <a:t>Using</a:t>
            </a:r>
            <a:r>
              <a:rPr dirty="0" sz="900" spc="-40">
                <a:latin typeface="Calibri"/>
                <a:cs typeface="Calibri"/>
              </a:rPr>
              <a:t> </a:t>
            </a:r>
            <a:r>
              <a:rPr dirty="0" sz="900" spc="-20">
                <a:latin typeface="Calibri"/>
                <a:cs typeface="Calibri"/>
              </a:rPr>
              <a:t>LDAP</a:t>
            </a:r>
            <a:endParaRPr sz="9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30"/>
              </a:spcBef>
            </a:pPr>
            <a:r>
              <a:rPr dirty="0" sz="900">
                <a:solidFill>
                  <a:srgbClr val="0066A0"/>
                </a:solidFill>
                <a:latin typeface="Calibri"/>
                <a:cs typeface="Calibri"/>
              </a:rPr>
              <a:t>-</a:t>
            </a:r>
            <a:r>
              <a:rPr dirty="0" sz="900" spc="409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…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10">
                <a:latin typeface="Calibri"/>
                <a:cs typeface="Calibri"/>
              </a:rPr>
              <a:t> study, </a:t>
            </a:r>
            <a:r>
              <a:rPr dirty="0" sz="1100">
                <a:latin typeface="Calibri"/>
                <a:cs typeface="Calibri"/>
              </a:rPr>
              <a:t>in memory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JDBC</a:t>
            </a:r>
            <a:r>
              <a:rPr dirty="0" sz="1100" spc="-10">
                <a:latin typeface="Calibri"/>
                <a:cs typeface="Calibri"/>
              </a:rPr>
              <a:t> credentials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10">
                <a:latin typeface="Calibri"/>
                <a:cs typeface="Calibri"/>
              </a:rPr>
              <a:t> used.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25544" y="329224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C000"/>
                </a:solidFill>
                <a:latin typeface="Calibri"/>
                <a:cs typeface="Calibri"/>
              </a:rPr>
              <a:t>11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-203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1585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Credentials</a:t>
            </a:r>
          </a:p>
          <a:p>
            <a:pPr marL="146685">
              <a:lnSpc>
                <a:spcPct val="100000"/>
              </a:lnSpc>
              <a:spcBef>
                <a:spcPts val="60"/>
              </a:spcBef>
            </a:pPr>
            <a:r>
              <a:rPr dirty="0" sz="1100" i="1">
                <a:solidFill>
                  <a:srgbClr val="7E7E7E"/>
                </a:solidFill>
                <a:latin typeface="Calibri"/>
                <a:cs typeface="Calibri"/>
              </a:rPr>
              <a:t>In-memory</a:t>
            </a:r>
            <a:r>
              <a:rPr dirty="0" sz="1100" spc="-40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7E7E7E"/>
                </a:solidFill>
                <a:latin typeface="Calibri"/>
                <a:cs typeface="Calibri"/>
              </a:rPr>
              <a:t>credential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225544" y="3291585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C000"/>
                </a:solidFill>
                <a:latin typeface="Calibri"/>
                <a:cs typeface="Calibri"/>
              </a:rPr>
              <a:t>12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636" y="693419"/>
            <a:ext cx="3230880" cy="2520696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03733" y="2107183"/>
            <a:ext cx="968375" cy="245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610"/>
              </a:lnSpc>
              <a:spcBef>
                <a:spcPts val="100"/>
              </a:spcBef>
            </a:pPr>
            <a:r>
              <a:rPr dirty="0" sz="600" spc="-10">
                <a:latin typeface="Calibri"/>
                <a:cs typeface="Calibri"/>
              </a:rPr>
              <a:t>Using</a:t>
            </a:r>
            <a:endParaRPr sz="600">
              <a:latin typeface="Calibri"/>
              <a:cs typeface="Calibri"/>
            </a:endParaRPr>
          </a:p>
          <a:p>
            <a:pPr marL="12700" marR="5080">
              <a:lnSpc>
                <a:spcPct val="70000"/>
              </a:lnSpc>
              <a:spcBef>
                <a:spcPts val="105"/>
              </a:spcBef>
            </a:pPr>
            <a:r>
              <a:rPr dirty="0" sz="600">
                <a:solidFill>
                  <a:srgbClr val="4471C4"/>
                </a:solidFill>
                <a:latin typeface="Calibri"/>
                <a:cs typeface="Calibri"/>
              </a:rPr>
              <a:t>BCryptPasswordEncoder</a:t>
            </a:r>
            <a:r>
              <a:rPr dirty="0" sz="600" spc="195">
                <a:solidFill>
                  <a:srgbClr val="4471C4"/>
                </a:solidFill>
                <a:latin typeface="Calibri"/>
                <a:cs typeface="Calibri"/>
              </a:rPr>
              <a:t>  </a:t>
            </a:r>
            <a:r>
              <a:rPr dirty="0" sz="600" spc="-25">
                <a:latin typeface="Calibri"/>
                <a:cs typeface="Calibri"/>
              </a:rPr>
              <a:t>for</a:t>
            </a:r>
            <a:r>
              <a:rPr dirty="0" sz="600" spc="50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encoding</a:t>
            </a:r>
            <a:r>
              <a:rPr dirty="0" sz="600" spc="-20">
                <a:latin typeface="Calibri"/>
                <a:cs typeface="Calibri"/>
              </a:rPr>
              <a:t> </a:t>
            </a:r>
            <a:r>
              <a:rPr dirty="0" sz="600">
                <a:latin typeface="Calibri"/>
                <a:cs typeface="Calibri"/>
              </a:rPr>
              <a:t>the</a:t>
            </a:r>
            <a:r>
              <a:rPr dirty="0" sz="600" spc="-25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password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0192" y="1061084"/>
            <a:ext cx="90551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Calibri"/>
                <a:cs typeface="Calibri"/>
              </a:rPr>
              <a:t>Provide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role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for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users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-203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2246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3733" y="157099"/>
            <a:ext cx="1661160" cy="4603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10" b="1">
                <a:solidFill>
                  <a:srgbClr val="0066A0"/>
                </a:solidFill>
                <a:latin typeface="Calibri"/>
                <a:cs typeface="Calibri"/>
              </a:rPr>
              <a:t>Credentials</a:t>
            </a:r>
            <a:endParaRPr sz="1700">
              <a:latin typeface="Calibri"/>
              <a:cs typeface="Calibri"/>
            </a:endParaRPr>
          </a:p>
          <a:p>
            <a:pPr marL="146685">
              <a:lnSpc>
                <a:spcPct val="100000"/>
              </a:lnSpc>
              <a:spcBef>
                <a:spcPts val="60"/>
              </a:spcBef>
            </a:pP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Using</a:t>
            </a:r>
            <a:r>
              <a:rPr dirty="0" sz="1100" spc="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JDBC</a:t>
            </a:r>
            <a:r>
              <a:rPr dirty="0" sz="1100" spc="1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spc="-10" b="1" i="1">
                <a:solidFill>
                  <a:srgbClr val="7E7E7E"/>
                </a:solidFill>
                <a:latin typeface="Calibri"/>
                <a:cs typeface="Calibri"/>
              </a:rPr>
              <a:t>credentials</a:t>
            </a:r>
            <a:r>
              <a:rPr dirty="0" sz="1100" spc="-1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spc="-25" b="1" i="1">
                <a:solidFill>
                  <a:srgbClr val="7E7E7E"/>
                </a:solidFill>
                <a:latin typeface="Calibri"/>
                <a:cs typeface="Calibri"/>
              </a:rPr>
              <a:t>(1)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225544" y="329224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C000"/>
                </a:solidFill>
                <a:latin typeface="Calibri"/>
                <a:cs typeface="Calibri"/>
              </a:rPr>
              <a:t>13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0572" y="769524"/>
            <a:ext cx="4578350" cy="2477135"/>
            <a:chOff x="10572" y="769524"/>
            <a:chExt cx="4578350" cy="247713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0092" y="1094231"/>
              <a:ext cx="2324100" cy="214731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257678" y="1091907"/>
              <a:ext cx="2329180" cy="2152015"/>
            </a:xfrm>
            <a:custGeom>
              <a:avLst/>
              <a:gdLst/>
              <a:ahLst/>
              <a:cxnLst/>
              <a:rect l="l" t="t" r="r" b="b"/>
              <a:pathLst>
                <a:path w="2329179" h="2152015">
                  <a:moveTo>
                    <a:pt x="0" y="2152015"/>
                  </a:moveTo>
                  <a:lnTo>
                    <a:pt x="2328799" y="2152015"/>
                  </a:lnTo>
                  <a:lnTo>
                    <a:pt x="2328799" y="0"/>
                  </a:lnTo>
                  <a:lnTo>
                    <a:pt x="0" y="0"/>
                  </a:lnTo>
                  <a:lnTo>
                    <a:pt x="0" y="2152015"/>
                  </a:lnTo>
                  <a:close/>
                </a:path>
              </a:pathLst>
            </a:custGeom>
            <a:ln w="476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91" y="774191"/>
              <a:ext cx="2250948" cy="131063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2953" y="771905"/>
              <a:ext cx="2252980" cy="1315720"/>
            </a:xfrm>
            <a:custGeom>
              <a:avLst/>
              <a:gdLst/>
              <a:ahLst/>
              <a:cxnLst/>
              <a:rect l="l" t="t" r="r" b="b"/>
              <a:pathLst>
                <a:path w="2252980" h="1315720">
                  <a:moveTo>
                    <a:pt x="0" y="1315339"/>
                  </a:moveTo>
                  <a:lnTo>
                    <a:pt x="2252510" y="1315339"/>
                  </a:lnTo>
                  <a:lnTo>
                    <a:pt x="2252510" y="0"/>
                  </a:lnTo>
                  <a:lnTo>
                    <a:pt x="0" y="0"/>
                  </a:lnTo>
                </a:path>
              </a:pathLst>
            </a:custGeom>
            <a:ln w="476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-203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1585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3733" y="156463"/>
            <a:ext cx="1661160" cy="460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 b="1">
                <a:solidFill>
                  <a:srgbClr val="0066A0"/>
                </a:solidFill>
                <a:latin typeface="Calibri"/>
                <a:cs typeface="Calibri"/>
              </a:rPr>
              <a:t>Credentials</a:t>
            </a:r>
            <a:endParaRPr sz="1700">
              <a:latin typeface="Calibri"/>
              <a:cs typeface="Calibri"/>
            </a:endParaRPr>
          </a:p>
          <a:p>
            <a:pPr marL="146685">
              <a:lnSpc>
                <a:spcPct val="100000"/>
              </a:lnSpc>
              <a:spcBef>
                <a:spcPts val="60"/>
              </a:spcBef>
            </a:pP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Using</a:t>
            </a:r>
            <a:r>
              <a:rPr dirty="0" sz="1100" spc="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JDBC</a:t>
            </a:r>
            <a:r>
              <a:rPr dirty="0" sz="1100" spc="1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spc="-10" b="1" i="1">
                <a:solidFill>
                  <a:srgbClr val="7E7E7E"/>
                </a:solidFill>
                <a:latin typeface="Calibri"/>
                <a:cs typeface="Calibri"/>
              </a:rPr>
              <a:t>credentials</a:t>
            </a:r>
            <a:r>
              <a:rPr dirty="0" sz="1100" spc="-1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spc="-25" b="1" i="1">
                <a:solidFill>
                  <a:srgbClr val="7E7E7E"/>
                </a:solidFill>
                <a:latin typeface="Calibri"/>
                <a:cs typeface="Calibri"/>
              </a:rPr>
              <a:t>(2)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225544" y="3291585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C000"/>
                </a:solidFill>
                <a:latin typeface="Calibri"/>
                <a:cs typeface="Calibri"/>
              </a:rPr>
              <a:t>14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243105" y="1760060"/>
            <a:ext cx="1815464" cy="866140"/>
            <a:chOff x="2243105" y="1760060"/>
            <a:chExt cx="1815464" cy="86614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7899" y="1773107"/>
              <a:ext cx="1805939" cy="848172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245486" y="1762442"/>
              <a:ext cx="1811020" cy="861694"/>
            </a:xfrm>
            <a:custGeom>
              <a:avLst/>
              <a:gdLst/>
              <a:ahLst/>
              <a:cxnLst/>
              <a:rect l="l" t="t" r="r" b="b"/>
              <a:pathLst>
                <a:path w="1811020" h="861694">
                  <a:moveTo>
                    <a:pt x="0" y="861250"/>
                  </a:moveTo>
                  <a:lnTo>
                    <a:pt x="1810639" y="861250"/>
                  </a:lnTo>
                  <a:lnTo>
                    <a:pt x="1810639" y="0"/>
                  </a:lnTo>
                  <a:lnTo>
                    <a:pt x="0" y="0"/>
                  </a:lnTo>
                  <a:lnTo>
                    <a:pt x="0" y="861250"/>
                  </a:lnTo>
                  <a:close/>
                </a:path>
              </a:pathLst>
            </a:custGeom>
            <a:ln w="476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205517" y="1549685"/>
            <a:ext cx="3527425" cy="1684655"/>
            <a:chOff x="205517" y="1549685"/>
            <a:chExt cx="3527425" cy="1684655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311" y="1554479"/>
              <a:ext cx="1732788" cy="1674876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207898" y="1552066"/>
              <a:ext cx="1737995" cy="1680210"/>
            </a:xfrm>
            <a:custGeom>
              <a:avLst/>
              <a:gdLst/>
              <a:ahLst/>
              <a:cxnLst/>
              <a:rect l="l" t="t" r="r" b="b"/>
              <a:pathLst>
                <a:path w="1737995" h="1680210">
                  <a:moveTo>
                    <a:pt x="0" y="1679702"/>
                  </a:moveTo>
                  <a:lnTo>
                    <a:pt x="1737487" y="1679702"/>
                  </a:lnTo>
                  <a:lnTo>
                    <a:pt x="1737487" y="0"/>
                  </a:lnTo>
                  <a:lnTo>
                    <a:pt x="0" y="0"/>
                  </a:lnTo>
                  <a:lnTo>
                    <a:pt x="0" y="1679702"/>
                  </a:lnTo>
                  <a:close/>
                </a:path>
              </a:pathLst>
            </a:custGeom>
            <a:ln w="476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98191" y="2766059"/>
              <a:ext cx="1429512" cy="396239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2295778" y="2763710"/>
              <a:ext cx="1434465" cy="401320"/>
            </a:xfrm>
            <a:custGeom>
              <a:avLst/>
              <a:gdLst/>
              <a:ahLst/>
              <a:cxnLst/>
              <a:rect l="l" t="t" r="r" b="b"/>
              <a:pathLst>
                <a:path w="1434464" h="401319">
                  <a:moveTo>
                    <a:pt x="0" y="401002"/>
                  </a:moveTo>
                  <a:lnTo>
                    <a:pt x="1434211" y="401002"/>
                  </a:lnTo>
                  <a:lnTo>
                    <a:pt x="1434211" y="0"/>
                  </a:lnTo>
                  <a:lnTo>
                    <a:pt x="0" y="0"/>
                  </a:lnTo>
                  <a:lnTo>
                    <a:pt x="0" y="401002"/>
                  </a:lnTo>
                  <a:close/>
                </a:path>
              </a:pathLst>
            </a:custGeom>
            <a:ln w="476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146081" y="735932"/>
            <a:ext cx="4304665" cy="756285"/>
            <a:chOff x="146081" y="735932"/>
            <a:chExt cx="4304665" cy="756285"/>
          </a:xfrm>
        </p:grpSpPr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875" y="740663"/>
              <a:ext cx="4284118" cy="746759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48462" y="738314"/>
              <a:ext cx="4299585" cy="751840"/>
            </a:xfrm>
            <a:custGeom>
              <a:avLst/>
              <a:gdLst/>
              <a:ahLst/>
              <a:cxnLst/>
              <a:rect l="l" t="t" r="r" b="b"/>
              <a:pathLst>
                <a:path w="4299585" h="751840">
                  <a:moveTo>
                    <a:pt x="0" y="751522"/>
                  </a:moveTo>
                  <a:lnTo>
                    <a:pt x="4299331" y="751522"/>
                  </a:lnTo>
                  <a:lnTo>
                    <a:pt x="4299331" y="0"/>
                  </a:lnTo>
                  <a:lnTo>
                    <a:pt x="0" y="0"/>
                  </a:lnTo>
                  <a:lnTo>
                    <a:pt x="0" y="751522"/>
                  </a:lnTo>
                  <a:close/>
                </a:path>
              </a:pathLst>
            </a:custGeom>
            <a:ln w="476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-203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2246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733" y="157099"/>
            <a:ext cx="1164590" cy="2851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Logon</a:t>
            </a:r>
            <a:r>
              <a:rPr dirty="0" spc="-55"/>
              <a:t> </a:t>
            </a:r>
            <a:r>
              <a:rPr dirty="0" spc="-20"/>
              <a:t>Forms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3733" y="349097"/>
            <a:ext cx="2397125" cy="979169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690"/>
              </a:spcBef>
            </a:pP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Security</a:t>
            </a:r>
            <a:r>
              <a:rPr dirty="0" sz="1100" spc="-5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spc="-20" b="1" i="1">
                <a:solidFill>
                  <a:srgbClr val="7E7E7E"/>
                </a:solidFill>
                <a:latin typeface="Calibri"/>
                <a:cs typeface="Calibri"/>
              </a:rPr>
              <a:t>form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logging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forms:</a:t>
            </a:r>
            <a:endParaRPr sz="1100">
              <a:latin typeface="Calibri"/>
              <a:cs typeface="Calibri"/>
            </a:endParaRPr>
          </a:p>
          <a:p>
            <a:pPr marL="353695" indent="-112395">
              <a:lnSpc>
                <a:spcPct val="100000"/>
              </a:lnSpc>
              <a:spcBef>
                <a:spcPts val="150"/>
              </a:spcBef>
              <a:buClr>
                <a:srgbClr val="0066A0"/>
              </a:buClr>
              <a:buChar char="-"/>
              <a:tabLst>
                <a:tab pos="353695" algn="l"/>
              </a:tabLst>
            </a:pPr>
            <a:r>
              <a:rPr dirty="0" sz="900">
                <a:latin typeface="Calibri"/>
                <a:cs typeface="Calibri"/>
              </a:rPr>
              <a:t>From</a:t>
            </a:r>
            <a:r>
              <a:rPr dirty="0" sz="900" spc="-3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web</a:t>
            </a:r>
            <a:r>
              <a:rPr dirty="0" sz="900" spc="-2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browser</a:t>
            </a:r>
            <a:r>
              <a:rPr dirty="0" sz="900" spc="-2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(system)</a:t>
            </a:r>
            <a:endParaRPr sz="900">
              <a:latin typeface="Calibri"/>
              <a:cs typeface="Calibri"/>
            </a:endParaRPr>
          </a:p>
          <a:p>
            <a:pPr marL="353695" indent="-112395">
              <a:lnSpc>
                <a:spcPct val="100000"/>
              </a:lnSpc>
              <a:spcBef>
                <a:spcPts val="145"/>
              </a:spcBef>
              <a:buClr>
                <a:srgbClr val="0066A0"/>
              </a:buClr>
              <a:buChar char="-"/>
              <a:tabLst>
                <a:tab pos="353695" algn="l"/>
              </a:tabLst>
            </a:pPr>
            <a:r>
              <a:rPr dirty="0" sz="900">
                <a:latin typeface="Calibri"/>
                <a:cs typeface="Calibri"/>
              </a:rPr>
              <a:t>From</a:t>
            </a:r>
            <a:r>
              <a:rPr dirty="0" sz="900" spc="-4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spring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security</a:t>
            </a:r>
            <a:endParaRPr sz="900">
              <a:latin typeface="Calibri"/>
              <a:cs typeface="Calibri"/>
            </a:endParaRPr>
          </a:p>
          <a:p>
            <a:pPr marL="353695" indent="-112395">
              <a:lnSpc>
                <a:spcPct val="100000"/>
              </a:lnSpc>
              <a:spcBef>
                <a:spcPts val="145"/>
              </a:spcBef>
              <a:buClr>
                <a:srgbClr val="0066A0"/>
              </a:buClr>
              <a:buChar char="-"/>
              <a:tabLst>
                <a:tab pos="353695" algn="l"/>
              </a:tabLst>
            </a:pPr>
            <a:r>
              <a:rPr dirty="0" sz="900">
                <a:latin typeface="Calibri"/>
                <a:cs typeface="Calibri"/>
              </a:rPr>
              <a:t>Custom</a:t>
            </a:r>
            <a:r>
              <a:rPr dirty="0" sz="900" spc="-2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(specify</a:t>
            </a:r>
            <a:r>
              <a:rPr dirty="0" sz="900" spc="-3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logon</a:t>
            </a:r>
            <a:r>
              <a:rPr dirty="0" sz="900" spc="-3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form</a:t>
            </a:r>
            <a:r>
              <a:rPr dirty="0" sz="900" spc="-3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by</a:t>
            </a:r>
            <a:r>
              <a:rPr dirty="0" sz="900" spc="-4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yourself)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25544" y="329224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C000"/>
                </a:solidFill>
                <a:latin typeface="Calibri"/>
                <a:cs typeface="Calibri"/>
              </a:rPr>
              <a:t>15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031" y="1562099"/>
            <a:ext cx="1972056" cy="1185671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2643917" y="548481"/>
            <a:ext cx="1551940" cy="1120775"/>
            <a:chOff x="2643917" y="548481"/>
            <a:chExt cx="1551940" cy="1120775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711" y="553211"/>
              <a:ext cx="1542288" cy="1110995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646298" y="550862"/>
              <a:ext cx="1547495" cy="1116330"/>
            </a:xfrm>
            <a:custGeom>
              <a:avLst/>
              <a:gdLst/>
              <a:ahLst/>
              <a:cxnLst/>
              <a:rect l="l" t="t" r="r" b="b"/>
              <a:pathLst>
                <a:path w="1547495" h="1116330">
                  <a:moveTo>
                    <a:pt x="0" y="1115758"/>
                  </a:moveTo>
                  <a:lnTo>
                    <a:pt x="1546987" y="1115758"/>
                  </a:lnTo>
                  <a:lnTo>
                    <a:pt x="1546987" y="0"/>
                  </a:lnTo>
                  <a:lnTo>
                    <a:pt x="0" y="0"/>
                  </a:lnTo>
                  <a:lnTo>
                    <a:pt x="0" y="1115758"/>
                  </a:lnTo>
                  <a:close/>
                </a:path>
              </a:pathLst>
            </a:custGeom>
            <a:ln w="476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2407697" y="2512878"/>
            <a:ext cx="2019935" cy="613410"/>
            <a:chOff x="2407697" y="2512878"/>
            <a:chExt cx="2019935" cy="613410"/>
          </a:xfrm>
        </p:grpSpPr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2492" y="2517647"/>
              <a:ext cx="2010155" cy="603504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2410079" y="2515260"/>
              <a:ext cx="2015489" cy="608330"/>
            </a:xfrm>
            <a:custGeom>
              <a:avLst/>
              <a:gdLst/>
              <a:ahLst/>
              <a:cxnLst/>
              <a:rect l="l" t="t" r="r" b="b"/>
              <a:pathLst>
                <a:path w="2015489" h="608330">
                  <a:moveTo>
                    <a:pt x="0" y="608266"/>
                  </a:moveTo>
                  <a:lnTo>
                    <a:pt x="2014982" y="608266"/>
                  </a:lnTo>
                  <a:lnTo>
                    <a:pt x="2014982" y="0"/>
                  </a:lnTo>
                  <a:lnTo>
                    <a:pt x="0" y="0"/>
                  </a:lnTo>
                  <a:lnTo>
                    <a:pt x="0" y="608266"/>
                  </a:lnTo>
                  <a:close/>
                </a:path>
              </a:pathLst>
            </a:custGeom>
            <a:ln w="476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-203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1585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3733" y="156463"/>
            <a:ext cx="1262380" cy="460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solidFill>
                  <a:srgbClr val="0066A0"/>
                </a:solidFill>
                <a:latin typeface="Calibri"/>
                <a:cs typeface="Calibri"/>
              </a:rPr>
              <a:t>Logon</a:t>
            </a:r>
            <a:r>
              <a:rPr dirty="0" sz="1700" spc="-5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700" spc="-20" b="1">
                <a:solidFill>
                  <a:srgbClr val="0066A0"/>
                </a:solidFill>
                <a:latin typeface="Calibri"/>
                <a:cs typeface="Calibri"/>
              </a:rPr>
              <a:t>Forms</a:t>
            </a:r>
            <a:endParaRPr sz="1700">
              <a:latin typeface="Calibri"/>
              <a:cs typeface="Calibri"/>
            </a:endParaRPr>
          </a:p>
          <a:p>
            <a:pPr marL="146685">
              <a:lnSpc>
                <a:spcPct val="100000"/>
              </a:lnSpc>
              <a:spcBef>
                <a:spcPts val="60"/>
              </a:spcBef>
            </a:pPr>
            <a:r>
              <a:rPr dirty="0" sz="1100" spc="-10" b="1" i="1">
                <a:solidFill>
                  <a:srgbClr val="7E7E7E"/>
                </a:solidFill>
                <a:latin typeface="Calibri"/>
                <a:cs typeface="Calibri"/>
              </a:rPr>
              <a:t>Custom</a:t>
            </a:r>
            <a:r>
              <a:rPr dirty="0" sz="1100" spc="-1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logon</a:t>
            </a:r>
            <a:r>
              <a:rPr dirty="0" sz="1100" spc="-1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spc="-20" b="1" i="1">
                <a:solidFill>
                  <a:srgbClr val="7E7E7E"/>
                </a:solidFill>
                <a:latin typeface="Calibri"/>
                <a:cs typeface="Calibri"/>
              </a:rPr>
              <a:t>form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225544" y="3291585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C000"/>
                </a:solidFill>
                <a:latin typeface="Calibri"/>
                <a:cs typeface="Calibri"/>
              </a:rPr>
              <a:t>16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2475" y="696372"/>
            <a:ext cx="4519295" cy="2472690"/>
            <a:chOff x="42475" y="696372"/>
            <a:chExt cx="4519295" cy="247269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524" y="715213"/>
              <a:ext cx="3095795" cy="2248965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431670" y="698753"/>
              <a:ext cx="3127375" cy="2268220"/>
            </a:xfrm>
            <a:custGeom>
              <a:avLst/>
              <a:gdLst/>
              <a:ahLst/>
              <a:cxnLst/>
              <a:rect l="l" t="t" r="r" b="b"/>
              <a:pathLst>
                <a:path w="3127375" h="2268220">
                  <a:moveTo>
                    <a:pt x="0" y="2267838"/>
                  </a:moveTo>
                  <a:lnTo>
                    <a:pt x="3127374" y="2267838"/>
                  </a:lnTo>
                  <a:lnTo>
                    <a:pt x="3127374" y="0"/>
                  </a:lnTo>
                  <a:lnTo>
                    <a:pt x="0" y="0"/>
                  </a:lnTo>
                  <a:lnTo>
                    <a:pt x="0" y="2267838"/>
                  </a:lnTo>
                  <a:close/>
                </a:path>
              </a:pathLst>
            </a:custGeom>
            <a:ln w="476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790700" y="1956815"/>
              <a:ext cx="1233170" cy="617220"/>
            </a:xfrm>
            <a:custGeom>
              <a:avLst/>
              <a:gdLst/>
              <a:ahLst/>
              <a:cxnLst/>
              <a:rect l="l" t="t" r="r" b="b"/>
              <a:pathLst>
                <a:path w="1233170" h="617219">
                  <a:moveTo>
                    <a:pt x="0" y="617220"/>
                  </a:moveTo>
                  <a:lnTo>
                    <a:pt x="1232916" y="617220"/>
                  </a:lnTo>
                  <a:lnTo>
                    <a:pt x="1232916" y="0"/>
                  </a:lnTo>
                  <a:lnTo>
                    <a:pt x="0" y="0"/>
                  </a:lnTo>
                  <a:lnTo>
                    <a:pt x="0" y="617220"/>
                  </a:lnTo>
                  <a:close/>
                </a:path>
              </a:pathLst>
            </a:custGeom>
            <a:ln w="6349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1360" y="2694431"/>
              <a:ext cx="1203960" cy="39623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258947" y="2692082"/>
              <a:ext cx="1209040" cy="401320"/>
            </a:xfrm>
            <a:custGeom>
              <a:avLst/>
              <a:gdLst/>
              <a:ahLst/>
              <a:cxnLst/>
              <a:rect l="l" t="t" r="r" b="b"/>
              <a:pathLst>
                <a:path w="1209039" h="401319">
                  <a:moveTo>
                    <a:pt x="0" y="401002"/>
                  </a:moveTo>
                  <a:lnTo>
                    <a:pt x="1208722" y="401002"/>
                  </a:lnTo>
                  <a:lnTo>
                    <a:pt x="1208722" y="0"/>
                  </a:lnTo>
                  <a:lnTo>
                    <a:pt x="0" y="0"/>
                  </a:lnTo>
                  <a:lnTo>
                    <a:pt x="0" y="401002"/>
                  </a:lnTo>
                  <a:close/>
                </a:path>
              </a:pathLst>
            </a:custGeom>
            <a:ln w="476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67" y="2452115"/>
              <a:ext cx="1478280" cy="711708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84493" y="2449766"/>
              <a:ext cx="1483360" cy="716915"/>
            </a:xfrm>
            <a:custGeom>
              <a:avLst/>
              <a:gdLst/>
              <a:ahLst/>
              <a:cxnLst/>
              <a:rect l="l" t="t" r="r" b="b"/>
              <a:pathLst>
                <a:path w="1483360" h="716914">
                  <a:moveTo>
                    <a:pt x="0" y="716470"/>
                  </a:moveTo>
                  <a:lnTo>
                    <a:pt x="1482979" y="716470"/>
                  </a:lnTo>
                  <a:lnTo>
                    <a:pt x="1482979" y="0"/>
                  </a:lnTo>
                  <a:lnTo>
                    <a:pt x="0" y="0"/>
                  </a:lnTo>
                  <a:lnTo>
                    <a:pt x="0" y="716470"/>
                  </a:lnTo>
                  <a:close/>
                </a:path>
              </a:pathLst>
            </a:custGeom>
            <a:ln w="476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243" y="900683"/>
              <a:ext cx="1513332" cy="1481328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44856" y="898397"/>
              <a:ext cx="1518285" cy="1486535"/>
            </a:xfrm>
            <a:custGeom>
              <a:avLst/>
              <a:gdLst/>
              <a:ahLst/>
              <a:cxnLst/>
              <a:rect l="l" t="t" r="r" b="b"/>
              <a:pathLst>
                <a:path w="1518285" h="1486535">
                  <a:moveTo>
                    <a:pt x="0" y="1486027"/>
                  </a:moveTo>
                  <a:lnTo>
                    <a:pt x="1518031" y="1486027"/>
                  </a:lnTo>
                  <a:lnTo>
                    <a:pt x="1518031" y="0"/>
                  </a:lnTo>
                  <a:lnTo>
                    <a:pt x="0" y="0"/>
                  </a:lnTo>
                  <a:lnTo>
                    <a:pt x="0" y="1486027"/>
                  </a:lnTo>
                  <a:close/>
                </a:path>
              </a:pathLst>
            </a:custGeom>
            <a:ln w="476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1555781" y="411320"/>
            <a:ext cx="2975610" cy="233679"/>
            <a:chOff x="1555781" y="411320"/>
            <a:chExt cx="2975610" cy="233679"/>
          </a:xfrm>
        </p:grpSpPr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561" y="435965"/>
              <a:ext cx="2925761" cy="179222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1558163" y="413702"/>
              <a:ext cx="2970530" cy="229235"/>
            </a:xfrm>
            <a:custGeom>
              <a:avLst/>
              <a:gdLst/>
              <a:ahLst/>
              <a:cxnLst/>
              <a:rect l="l" t="t" r="r" b="b"/>
              <a:pathLst>
                <a:path w="2970529" h="229234">
                  <a:moveTo>
                    <a:pt x="0" y="228790"/>
                  </a:moveTo>
                  <a:lnTo>
                    <a:pt x="2970403" y="228790"/>
                  </a:lnTo>
                  <a:lnTo>
                    <a:pt x="2970403" y="0"/>
                  </a:lnTo>
                  <a:lnTo>
                    <a:pt x="0" y="0"/>
                  </a:lnTo>
                  <a:lnTo>
                    <a:pt x="0" y="228790"/>
                  </a:lnTo>
                  <a:close/>
                </a:path>
              </a:pathLst>
            </a:custGeom>
            <a:ln w="476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-203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2246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733" y="157099"/>
            <a:ext cx="1971675" cy="2851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Method</a:t>
            </a:r>
            <a:r>
              <a:rPr dirty="0" spc="-45"/>
              <a:t> </a:t>
            </a:r>
            <a:r>
              <a:rPr dirty="0"/>
              <a:t>level</a:t>
            </a:r>
            <a:r>
              <a:rPr dirty="0" spc="-25"/>
              <a:t> </a:t>
            </a:r>
            <a:r>
              <a:rPr dirty="0" spc="-10"/>
              <a:t>security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3733" y="349097"/>
            <a:ext cx="4375785" cy="87630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690"/>
              </a:spcBef>
            </a:pPr>
            <a:r>
              <a:rPr dirty="0" sz="1100" spc="-10" b="1" i="1">
                <a:solidFill>
                  <a:srgbClr val="7E7E7E"/>
                </a:solidFill>
                <a:latin typeface="Calibri"/>
                <a:cs typeface="Calibri"/>
              </a:rPr>
              <a:t>Method’s Security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255"/>
              </a:lnSpc>
              <a:spcBef>
                <a:spcPts val="595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2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case</a:t>
            </a:r>
            <a:r>
              <a:rPr dirty="0" sz="1100" spc="2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2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specifying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roles</a:t>
            </a:r>
            <a:r>
              <a:rPr dirty="0" sz="1100" spc="3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2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accessing</a:t>
            </a:r>
            <a:r>
              <a:rPr dirty="0" sz="1100" spc="2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methods,</a:t>
            </a:r>
            <a:r>
              <a:rPr dirty="0" sz="1100" spc="2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2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should</a:t>
            </a:r>
            <a:r>
              <a:rPr dirty="0" sz="1100" spc="28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enable</a:t>
            </a:r>
            <a:endParaRPr sz="1100">
              <a:latin typeface="Calibri"/>
              <a:cs typeface="Calibri"/>
            </a:endParaRPr>
          </a:p>
          <a:p>
            <a:pPr marL="127000">
              <a:lnSpc>
                <a:spcPts val="1255"/>
              </a:lnSpc>
            </a:pPr>
            <a:r>
              <a:rPr dirty="0" sz="1100">
                <a:latin typeface="Calibri"/>
                <a:cs typeface="Calibri"/>
              </a:rPr>
              <a:t>method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security.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4471C4"/>
                </a:solidFill>
                <a:latin typeface="Calibri"/>
                <a:cs typeface="Calibri"/>
              </a:rPr>
              <a:t>@EnableMethodSecurity</a:t>
            </a:r>
            <a:r>
              <a:rPr dirty="0" sz="1100" spc="-2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annotation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any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4471C4"/>
                </a:solidFill>
                <a:latin typeface="Calibri"/>
                <a:cs typeface="Calibri"/>
              </a:rPr>
              <a:t>@Configuration</a:t>
            </a:r>
            <a:r>
              <a:rPr dirty="0" sz="1100" spc="15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class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25544" y="329224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C000"/>
                </a:solidFill>
                <a:latin typeface="Calibri"/>
                <a:cs typeface="Calibri"/>
              </a:rPr>
              <a:t>17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32009" y="1228185"/>
            <a:ext cx="4020820" cy="1885950"/>
            <a:chOff x="332009" y="1228185"/>
            <a:chExt cx="4020820" cy="188595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803" y="1377695"/>
              <a:ext cx="3771900" cy="173126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334390" y="1375244"/>
              <a:ext cx="3776979" cy="1736089"/>
            </a:xfrm>
            <a:custGeom>
              <a:avLst/>
              <a:gdLst/>
              <a:ahLst/>
              <a:cxnLst/>
              <a:rect l="l" t="t" r="r" b="b"/>
              <a:pathLst>
                <a:path w="3776979" h="1736089">
                  <a:moveTo>
                    <a:pt x="0" y="1736089"/>
                  </a:moveTo>
                  <a:lnTo>
                    <a:pt x="3776599" y="1736089"/>
                  </a:lnTo>
                  <a:lnTo>
                    <a:pt x="3776599" y="0"/>
                  </a:lnTo>
                  <a:lnTo>
                    <a:pt x="0" y="0"/>
                  </a:lnTo>
                  <a:lnTo>
                    <a:pt x="0" y="1736089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83764" y="1232915"/>
              <a:ext cx="1664207" cy="591312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2681351" y="1230566"/>
              <a:ext cx="1669414" cy="596265"/>
            </a:xfrm>
            <a:custGeom>
              <a:avLst/>
              <a:gdLst/>
              <a:ahLst/>
              <a:cxnLst/>
              <a:rect l="l" t="t" r="r" b="b"/>
              <a:pathLst>
                <a:path w="1669414" h="596264">
                  <a:moveTo>
                    <a:pt x="0" y="596074"/>
                  </a:moveTo>
                  <a:lnTo>
                    <a:pt x="1668907" y="596074"/>
                  </a:lnTo>
                  <a:lnTo>
                    <a:pt x="1668907" y="0"/>
                  </a:lnTo>
                  <a:lnTo>
                    <a:pt x="0" y="0"/>
                  </a:lnTo>
                  <a:lnTo>
                    <a:pt x="0" y="596074"/>
                  </a:lnTo>
                  <a:close/>
                </a:path>
              </a:pathLst>
            </a:custGeom>
            <a:ln w="476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-203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1585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733" y="156463"/>
            <a:ext cx="1363980" cy="2851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Spring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3733" y="348462"/>
            <a:ext cx="1498600" cy="115506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690"/>
              </a:spcBef>
            </a:pP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Other</a:t>
            </a:r>
            <a:r>
              <a:rPr dirty="0" sz="1100" spc="-2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spc="-10" b="1" i="1">
                <a:solidFill>
                  <a:srgbClr val="7E7E7E"/>
                </a:solidFill>
                <a:latin typeface="Calibri"/>
                <a:cs typeface="Calibri"/>
              </a:rPr>
              <a:t>techniques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OAuth2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(Single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sign-</a:t>
            </a:r>
            <a:r>
              <a:rPr dirty="0" sz="1100" spc="-25">
                <a:latin typeface="Calibri"/>
                <a:cs typeface="Calibri"/>
              </a:rPr>
              <a:t>On)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JSON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Web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Token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(JWT)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OpenID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Connect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100" spc="-25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 spc="-25">
                <a:latin typeface="Calibri"/>
                <a:cs typeface="Calibri"/>
              </a:rPr>
              <a:t>…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25544" y="3291585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C000"/>
                </a:solidFill>
                <a:latin typeface="Calibri"/>
                <a:cs typeface="Calibri"/>
              </a:rPr>
              <a:t>18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-203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18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2246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733" y="157099"/>
            <a:ext cx="3024505" cy="2851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Cross-</a:t>
            </a:r>
            <a:r>
              <a:rPr dirty="0"/>
              <a:t>Site</a:t>
            </a:r>
            <a:r>
              <a:rPr dirty="0" spc="-75"/>
              <a:t> </a:t>
            </a:r>
            <a:r>
              <a:rPr dirty="0"/>
              <a:t>Request</a:t>
            </a:r>
            <a:r>
              <a:rPr dirty="0" spc="-75"/>
              <a:t> </a:t>
            </a:r>
            <a:r>
              <a:rPr dirty="0"/>
              <a:t>Forgery</a:t>
            </a:r>
            <a:r>
              <a:rPr dirty="0" spc="-45"/>
              <a:t> </a:t>
            </a:r>
            <a:r>
              <a:rPr dirty="0" spc="-10"/>
              <a:t>(CSRF)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3733" y="362813"/>
            <a:ext cx="4375785" cy="263144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585"/>
              </a:spcBef>
            </a:pPr>
            <a:r>
              <a:rPr dirty="0" sz="1100" spc="-10" b="1" i="1">
                <a:solidFill>
                  <a:srgbClr val="7E7E7E"/>
                </a:solidFill>
                <a:latin typeface="Calibri"/>
                <a:cs typeface="Calibri"/>
              </a:rPr>
              <a:t>Introduction</a:t>
            </a:r>
            <a:endParaRPr sz="1100">
              <a:latin typeface="Calibri"/>
              <a:cs typeface="Calibri"/>
            </a:endParaRPr>
          </a:p>
          <a:p>
            <a:pPr algn="just" marL="127000" marR="5080" indent="-114935">
              <a:lnSpc>
                <a:spcPct val="80100"/>
              </a:lnSpc>
              <a:spcBef>
                <a:spcPts val="745"/>
              </a:spcBef>
            </a:pPr>
            <a:r>
              <a:rPr dirty="0" sz="1100" spc="-1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 spc="-10">
                <a:latin typeface="Calibri"/>
                <a:cs typeface="Calibri"/>
              </a:rPr>
              <a:t>Cross-</a:t>
            </a:r>
            <a:r>
              <a:rPr dirty="0" sz="1100">
                <a:latin typeface="Calibri"/>
                <a:cs typeface="Calibri"/>
              </a:rPr>
              <a:t>Site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Request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Forgery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(CSRF)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attack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forces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end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user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to </a:t>
            </a:r>
            <a:r>
              <a:rPr dirty="0" sz="1100">
                <a:latin typeface="Calibri"/>
                <a:cs typeface="Calibri"/>
              </a:rPr>
              <a:t>execute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unwanted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actions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web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they’re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currently authenticated.</a:t>
            </a:r>
            <a:endParaRPr sz="1100">
              <a:latin typeface="Calibri"/>
              <a:cs typeface="Calibri"/>
            </a:endParaRPr>
          </a:p>
          <a:p>
            <a:pPr algn="just" marL="127000" marR="5080" indent="-114935">
              <a:lnSpc>
                <a:spcPts val="1060"/>
              </a:lnSpc>
              <a:spcBef>
                <a:spcPts val="490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little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help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social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engineering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(such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sending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link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via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email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or </a:t>
            </a:r>
            <a:r>
              <a:rPr dirty="0" sz="1100">
                <a:latin typeface="Calibri"/>
                <a:cs typeface="Calibri"/>
              </a:rPr>
              <a:t>chat),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attacker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may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trick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users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web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into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executing </a:t>
            </a:r>
            <a:r>
              <a:rPr dirty="0" sz="1100">
                <a:latin typeface="Calibri"/>
                <a:cs typeface="Calibri"/>
              </a:rPr>
              <a:t>actions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attacker’s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choosing.</a:t>
            </a:r>
            <a:endParaRPr sz="1100">
              <a:latin typeface="Calibri"/>
              <a:cs typeface="Calibri"/>
            </a:endParaRPr>
          </a:p>
          <a:p>
            <a:pPr algn="just" marL="127000" marR="5715" indent="-114935">
              <a:lnSpc>
                <a:spcPct val="80000"/>
              </a:lnSpc>
              <a:spcBef>
                <a:spcPts val="495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If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victim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normal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user,</a:t>
            </a:r>
            <a:r>
              <a:rPr dirty="0" sz="1100">
                <a:latin typeface="Calibri"/>
                <a:cs typeface="Calibri"/>
              </a:rPr>
              <a:t> 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successful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CSRF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attack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force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to </a:t>
            </a:r>
            <a:r>
              <a:rPr dirty="0" sz="1100">
                <a:latin typeface="Calibri"/>
                <a:cs typeface="Calibri"/>
              </a:rPr>
              <a:t>perform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state</a:t>
            </a:r>
            <a:r>
              <a:rPr dirty="0" sz="1100" spc="2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changing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requests</a:t>
            </a:r>
            <a:r>
              <a:rPr dirty="0" sz="1100" spc="2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like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transferring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funds,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changing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their </a:t>
            </a:r>
            <a:r>
              <a:rPr dirty="0" sz="1100">
                <a:latin typeface="Calibri"/>
                <a:cs typeface="Calibri"/>
              </a:rPr>
              <a:t>email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address,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</a:t>
            </a:r>
            <a:r>
              <a:rPr dirty="0" sz="1100" spc="-10">
                <a:latin typeface="Calibri"/>
                <a:cs typeface="Calibri"/>
              </a:rPr>
              <a:t> forth.</a:t>
            </a:r>
            <a:endParaRPr sz="1100">
              <a:latin typeface="Calibri"/>
              <a:cs typeface="Calibri"/>
            </a:endParaRPr>
          </a:p>
          <a:p>
            <a:pPr algn="just" marL="127000" marR="5080" indent="-114935">
              <a:lnSpc>
                <a:spcPct val="80000"/>
              </a:lnSpc>
              <a:spcBef>
                <a:spcPts val="505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If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victim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administrative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account,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CSRF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compromise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entire </a:t>
            </a:r>
            <a:r>
              <a:rPr dirty="0" sz="1100">
                <a:latin typeface="Calibri"/>
                <a:cs typeface="Calibri"/>
              </a:rPr>
              <a:t>web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application.</a:t>
            </a:r>
            <a:endParaRPr sz="1100">
              <a:latin typeface="Calibri"/>
              <a:cs typeface="Calibri"/>
            </a:endParaRPr>
          </a:p>
          <a:p>
            <a:pPr algn="just" marL="127000" marR="5080" indent="-114935">
              <a:lnSpc>
                <a:spcPct val="80000"/>
              </a:lnSpc>
              <a:spcBef>
                <a:spcPts val="500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There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multiple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forms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CSRF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attack.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Two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simple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CSRF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attacks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that </a:t>
            </a:r>
            <a:r>
              <a:rPr dirty="0" sz="1100">
                <a:latin typeface="Calibri"/>
                <a:cs typeface="Calibri"/>
              </a:rPr>
              <a:t>most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happen:</a:t>
            </a:r>
            <a:endParaRPr sz="1100">
              <a:latin typeface="Calibri"/>
              <a:cs typeface="Calibri"/>
            </a:endParaRPr>
          </a:p>
          <a:p>
            <a:pPr marL="353695" indent="-112395">
              <a:lnSpc>
                <a:spcPct val="100000"/>
              </a:lnSpc>
              <a:spcBef>
                <a:spcPts val="45"/>
              </a:spcBef>
              <a:buClr>
                <a:srgbClr val="0066A0"/>
              </a:buClr>
              <a:buChar char="-"/>
              <a:tabLst>
                <a:tab pos="353695" algn="l"/>
              </a:tabLst>
            </a:pPr>
            <a:r>
              <a:rPr dirty="0" sz="900">
                <a:latin typeface="Calibri"/>
                <a:cs typeface="Calibri"/>
              </a:rPr>
              <a:t>Using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GET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method</a:t>
            </a:r>
            <a:endParaRPr sz="900">
              <a:latin typeface="Calibri"/>
              <a:cs typeface="Calibri"/>
            </a:endParaRPr>
          </a:p>
          <a:p>
            <a:pPr marL="353695" indent="-112395">
              <a:lnSpc>
                <a:spcPct val="100000"/>
              </a:lnSpc>
              <a:spcBef>
                <a:spcPts val="25"/>
              </a:spcBef>
              <a:buClr>
                <a:srgbClr val="0066A0"/>
              </a:buClr>
              <a:buChar char="-"/>
              <a:tabLst>
                <a:tab pos="353695" algn="l"/>
              </a:tabLst>
            </a:pPr>
            <a:r>
              <a:rPr dirty="0" sz="900">
                <a:latin typeface="Calibri"/>
                <a:cs typeface="Calibri"/>
              </a:rPr>
              <a:t>Using</a:t>
            </a:r>
            <a:r>
              <a:rPr dirty="0" sz="900" spc="-3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POST</a:t>
            </a:r>
            <a:r>
              <a:rPr dirty="0" sz="900" spc="-3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method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25544" y="329224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C000"/>
                </a:solidFill>
                <a:latin typeface="Calibri"/>
                <a:cs typeface="Calibri"/>
              </a:rPr>
              <a:t>19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-203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19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1585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733" y="156463"/>
            <a:ext cx="1146810" cy="2851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CSRF</a:t>
            </a:r>
            <a:r>
              <a:rPr dirty="0" spc="-10"/>
              <a:t> attacks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46658" y="2205608"/>
            <a:ext cx="9861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execute</a:t>
            </a:r>
            <a:r>
              <a:rPr dirty="0" sz="900" spc="-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-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transfer: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3733" y="348462"/>
            <a:ext cx="4376420" cy="189674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690"/>
              </a:spcBef>
            </a:pP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Using</a:t>
            </a:r>
            <a:r>
              <a:rPr dirty="0" sz="1100" spc="-3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get</a:t>
            </a:r>
            <a:r>
              <a:rPr dirty="0" sz="1100" spc="-1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spc="-10" b="1" i="1">
                <a:solidFill>
                  <a:srgbClr val="7E7E7E"/>
                </a:solidFill>
                <a:latin typeface="Calibri"/>
                <a:cs typeface="Calibri"/>
              </a:rPr>
              <a:t>method</a:t>
            </a:r>
            <a:endParaRPr sz="1100">
              <a:latin typeface="Calibri"/>
              <a:cs typeface="Calibri"/>
            </a:endParaRPr>
          </a:p>
          <a:p>
            <a:pPr algn="just" marL="127000" marR="8255" indent="-114935">
              <a:lnSpc>
                <a:spcPts val="1190"/>
              </a:lnSpc>
              <a:spcBef>
                <a:spcPts val="740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Let’s</a:t>
            </a:r>
            <a:r>
              <a:rPr dirty="0" sz="1100" spc="2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consider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2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following</a:t>
            </a:r>
            <a:r>
              <a:rPr dirty="0" sz="1100" spc="2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GET</a:t>
            </a:r>
            <a:r>
              <a:rPr dirty="0" sz="1100" spc="2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request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used</a:t>
            </a:r>
            <a:r>
              <a:rPr dirty="0" sz="1100" spc="2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27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logged-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user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to </a:t>
            </a:r>
            <a:r>
              <a:rPr dirty="0" sz="1100" spc="-10">
                <a:latin typeface="Calibri"/>
                <a:cs typeface="Calibri"/>
              </a:rPr>
              <a:t>transfer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money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specific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bank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account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1234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dirty="0" sz="800">
                <a:latin typeface="Consolas"/>
                <a:cs typeface="Consolas"/>
              </a:rPr>
              <a:t>GET</a:t>
            </a:r>
            <a:r>
              <a:rPr dirty="0" sz="800" spc="-10">
                <a:latin typeface="Consolas"/>
                <a:cs typeface="Consolas"/>
              </a:rPr>
              <a:t> </a:t>
            </a:r>
            <a:r>
              <a:rPr dirty="0" sz="800" spc="-10">
                <a:solidFill>
                  <a:srgbClr val="006FC0"/>
                </a:solidFill>
                <a:latin typeface="Consolas"/>
                <a:cs typeface="Consolas"/>
                <a:hlinkClick r:id="rId2"/>
              </a:rPr>
              <a:t>http://bank.com/transfer?accountNo=1234&amp;amount=100</a:t>
            </a:r>
            <a:endParaRPr sz="800">
              <a:latin typeface="Consolas"/>
              <a:cs typeface="Consolas"/>
            </a:endParaRPr>
          </a:p>
          <a:p>
            <a:pPr algn="just" marL="127000" marR="5080" indent="-114935">
              <a:lnSpc>
                <a:spcPts val="1190"/>
              </a:lnSpc>
              <a:spcBef>
                <a:spcPts val="484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If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attacker</a:t>
            </a:r>
            <a:r>
              <a:rPr dirty="0" sz="1100">
                <a:latin typeface="Calibri"/>
                <a:cs typeface="Calibri"/>
              </a:rPr>
              <a:t> wants to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transfer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money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victim’s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account to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own </a:t>
            </a:r>
            <a:r>
              <a:rPr dirty="0" sz="1100">
                <a:latin typeface="Calibri"/>
                <a:cs typeface="Calibri"/>
              </a:rPr>
              <a:t>account</a:t>
            </a:r>
            <a:r>
              <a:rPr dirty="0" sz="1100" spc="2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instead</a:t>
            </a:r>
            <a:r>
              <a:rPr dirty="0" sz="1100" spc="2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—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5678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—</a:t>
            </a:r>
            <a:r>
              <a:rPr dirty="0" sz="1100" spc="2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</a:t>
            </a:r>
            <a:r>
              <a:rPr dirty="0" sz="1100" spc="2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needs</a:t>
            </a:r>
            <a:r>
              <a:rPr dirty="0" sz="1100" spc="2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make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2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victim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trigger</a:t>
            </a:r>
            <a:r>
              <a:rPr dirty="0" sz="1100" spc="27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 spc="-10">
                <a:latin typeface="Calibri"/>
                <a:cs typeface="Calibri"/>
              </a:rPr>
              <a:t>request: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dirty="0" sz="800">
                <a:latin typeface="Consolas"/>
                <a:cs typeface="Consolas"/>
              </a:rPr>
              <a:t>GET</a:t>
            </a:r>
            <a:r>
              <a:rPr dirty="0" sz="800" spc="-5">
                <a:latin typeface="Consolas"/>
                <a:cs typeface="Consolas"/>
              </a:rPr>
              <a:t> </a:t>
            </a:r>
            <a:r>
              <a:rPr dirty="0" sz="800" spc="-10">
                <a:solidFill>
                  <a:srgbClr val="006FC0"/>
                </a:solidFill>
                <a:latin typeface="Consolas"/>
                <a:cs typeface="Consolas"/>
                <a:hlinkClick r:id="rId3"/>
              </a:rPr>
              <a:t>http://bank.com/transfer?accountNo=5678&amp;amount=1000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There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multiple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ways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make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happen: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65"/>
              </a:spcBef>
            </a:pPr>
            <a:r>
              <a:rPr dirty="0" sz="900">
                <a:solidFill>
                  <a:srgbClr val="0066A0"/>
                </a:solidFill>
                <a:latin typeface="Calibri"/>
                <a:cs typeface="Calibri"/>
              </a:rPr>
              <a:t>-</a:t>
            </a:r>
            <a:r>
              <a:rPr dirty="0" sz="900" spc="365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Link</a:t>
            </a:r>
            <a:r>
              <a:rPr dirty="0" sz="900" spc="17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–</a:t>
            </a:r>
            <a:r>
              <a:rPr dirty="0" sz="900" spc="17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16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attacker</a:t>
            </a:r>
            <a:r>
              <a:rPr dirty="0" sz="900" spc="17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can</a:t>
            </a:r>
            <a:r>
              <a:rPr dirty="0" sz="900" spc="17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convince</a:t>
            </a:r>
            <a:r>
              <a:rPr dirty="0" sz="900" spc="17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17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victim</a:t>
            </a:r>
            <a:r>
              <a:rPr dirty="0" sz="900" spc="17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to</a:t>
            </a:r>
            <a:r>
              <a:rPr dirty="0" sz="900" spc="17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click</a:t>
            </a:r>
            <a:r>
              <a:rPr dirty="0" sz="900" spc="17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on</a:t>
            </a:r>
            <a:r>
              <a:rPr dirty="0" sz="900" spc="16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this</a:t>
            </a:r>
            <a:r>
              <a:rPr dirty="0" sz="900" spc="17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link,</a:t>
            </a:r>
            <a:r>
              <a:rPr dirty="0" sz="900" spc="17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for</a:t>
            </a:r>
            <a:r>
              <a:rPr dirty="0" sz="900" spc="17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example,</a:t>
            </a:r>
            <a:r>
              <a:rPr dirty="0" sz="900" spc="180">
                <a:latin typeface="Calibri"/>
                <a:cs typeface="Calibri"/>
              </a:rPr>
              <a:t> </a:t>
            </a:r>
            <a:r>
              <a:rPr dirty="0" sz="900" spc="-25">
                <a:latin typeface="Calibri"/>
                <a:cs typeface="Calibri"/>
              </a:rPr>
              <a:t>to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32358" y="2670428"/>
            <a:ext cx="4144645" cy="40957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algn="just" marL="127000" marR="5080" indent="-114300">
              <a:lnSpc>
                <a:spcPts val="969"/>
              </a:lnSpc>
              <a:spcBef>
                <a:spcPts val="225"/>
              </a:spcBef>
            </a:pPr>
            <a:r>
              <a:rPr dirty="0" sz="900">
                <a:solidFill>
                  <a:srgbClr val="0066A0"/>
                </a:solidFill>
                <a:latin typeface="Calibri"/>
                <a:cs typeface="Calibri"/>
              </a:rPr>
              <a:t>-</a:t>
            </a:r>
            <a:r>
              <a:rPr dirty="0" sz="900" spc="375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Image</a:t>
            </a:r>
            <a:r>
              <a:rPr dirty="0" sz="900" spc="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–</a:t>
            </a:r>
            <a:r>
              <a:rPr dirty="0" sz="900" spc="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attacker</a:t>
            </a:r>
            <a:r>
              <a:rPr dirty="0" sz="900" spc="1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may</a:t>
            </a:r>
            <a:r>
              <a:rPr dirty="0" sz="900" spc="1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use</a:t>
            </a:r>
            <a:r>
              <a:rPr dirty="0" sz="900" spc="1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an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&lt;img/&gt;</a:t>
            </a:r>
            <a:r>
              <a:rPr dirty="0" sz="900" spc="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tag</a:t>
            </a:r>
            <a:r>
              <a:rPr dirty="0" sz="900" spc="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with</a:t>
            </a:r>
            <a:r>
              <a:rPr dirty="0" sz="900" spc="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target</a:t>
            </a:r>
            <a:r>
              <a:rPr dirty="0" sz="900" spc="1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URL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as</a:t>
            </a:r>
            <a:r>
              <a:rPr dirty="0" sz="900" spc="1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image</a:t>
            </a:r>
            <a:r>
              <a:rPr dirty="0" sz="900" spc="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source.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In</a:t>
            </a:r>
            <a:r>
              <a:rPr dirty="0" sz="900" spc="18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other</a:t>
            </a:r>
            <a:r>
              <a:rPr dirty="0" sz="900" spc="19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words,</a:t>
            </a:r>
            <a:r>
              <a:rPr dirty="0" sz="900" spc="19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19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click</a:t>
            </a:r>
            <a:r>
              <a:rPr dirty="0" sz="900" spc="18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isn’t</a:t>
            </a:r>
            <a:r>
              <a:rPr dirty="0" sz="900" spc="204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even</a:t>
            </a:r>
            <a:r>
              <a:rPr dirty="0" sz="900" spc="20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necessary.</a:t>
            </a:r>
            <a:r>
              <a:rPr dirty="0" sz="900" spc="19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18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request</a:t>
            </a:r>
            <a:r>
              <a:rPr dirty="0" sz="900" spc="19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will</a:t>
            </a:r>
            <a:r>
              <a:rPr dirty="0" sz="900" spc="18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be</a:t>
            </a:r>
            <a:r>
              <a:rPr dirty="0" sz="900" spc="19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automatically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executed</a:t>
            </a:r>
            <a:r>
              <a:rPr dirty="0" sz="900">
                <a:latin typeface="Calibri"/>
                <a:cs typeface="Calibri"/>
              </a:rPr>
              <a:t> when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page</a:t>
            </a:r>
            <a:r>
              <a:rPr dirty="0" sz="900" spc="-10">
                <a:latin typeface="Calibri"/>
                <a:cs typeface="Calibri"/>
              </a:rPr>
              <a:t> loads: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225544" y="3291585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C000"/>
                </a:solidFill>
                <a:latin typeface="Calibri"/>
                <a:cs typeface="Calibri"/>
              </a:rPr>
              <a:t>20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530858" y="2312669"/>
            <a:ext cx="2753995" cy="368935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125095" marR="151130" indent="-79375">
              <a:lnSpc>
                <a:spcPct val="100000"/>
              </a:lnSpc>
              <a:spcBef>
                <a:spcPts val="150"/>
              </a:spcBef>
            </a:pPr>
            <a:r>
              <a:rPr dirty="0" sz="700">
                <a:solidFill>
                  <a:srgbClr val="080808"/>
                </a:solidFill>
                <a:latin typeface="Calibri"/>
                <a:cs typeface="Calibri"/>
              </a:rPr>
              <a:t>&lt;</a:t>
            </a:r>
            <a:r>
              <a:rPr dirty="0" sz="700">
                <a:solidFill>
                  <a:srgbClr val="0033B3"/>
                </a:solidFill>
                <a:latin typeface="Calibri"/>
                <a:cs typeface="Calibri"/>
              </a:rPr>
              <a:t>a</a:t>
            </a:r>
            <a:r>
              <a:rPr dirty="0" sz="700" spc="-1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749D3"/>
                </a:solidFill>
                <a:latin typeface="Calibri"/>
                <a:cs typeface="Calibri"/>
              </a:rPr>
              <a:t>href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  <a:hlinkClick r:id="rId3"/>
              </a:rPr>
              <a:t>="h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</a:rPr>
              <a:t>tt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  <a:hlinkClick r:id="rId3"/>
              </a:rPr>
              <a:t>p://bank.com/transfer?accountNo=5678&amp;amount=1000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</a:rPr>
              <a:t>"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&gt;</a:t>
            </a:r>
            <a:r>
              <a:rPr dirty="0" sz="700" spc="50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080808"/>
                </a:solidFill>
                <a:latin typeface="Calibri"/>
                <a:cs typeface="Calibri"/>
              </a:rPr>
              <a:t>Show</a:t>
            </a:r>
            <a:r>
              <a:rPr dirty="0" sz="700" spc="-2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Kittens</a:t>
            </a:r>
            <a:r>
              <a:rPr dirty="0" sz="700" spc="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Pictures</a:t>
            </a:r>
            <a:endParaRPr sz="700">
              <a:latin typeface="Calibri"/>
              <a:cs typeface="Calibri"/>
            </a:endParaRPr>
          </a:p>
          <a:p>
            <a:pPr marL="45720">
              <a:lnSpc>
                <a:spcPct val="100000"/>
              </a:lnSpc>
            </a:pPr>
            <a:r>
              <a:rPr dirty="0" sz="700" spc="-20">
                <a:solidFill>
                  <a:srgbClr val="080808"/>
                </a:solidFill>
                <a:latin typeface="Calibri"/>
                <a:cs typeface="Calibri"/>
              </a:rPr>
              <a:t>&lt;/</a:t>
            </a:r>
            <a:r>
              <a:rPr dirty="0" sz="700" spc="-20">
                <a:solidFill>
                  <a:srgbClr val="0033B3"/>
                </a:solidFill>
                <a:latin typeface="Calibri"/>
                <a:cs typeface="Calibri"/>
              </a:rPr>
              <a:t>a</a:t>
            </a:r>
            <a:r>
              <a:rPr dirty="0" sz="700" spc="-20">
                <a:solidFill>
                  <a:srgbClr val="080808"/>
                </a:solidFill>
                <a:latin typeface="Calibri"/>
                <a:cs typeface="Calibri"/>
              </a:rPr>
              <a:t>&gt;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15745" y="3105149"/>
            <a:ext cx="2752725" cy="154305"/>
          </a:xfrm>
          <a:prstGeom prst="rect">
            <a:avLst/>
          </a:prstGeom>
          <a:solidFill>
            <a:srgbClr val="FFFFFF"/>
          </a:solidFill>
          <a:ln w="4762">
            <a:solidFill>
              <a:srgbClr val="000000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140"/>
              </a:spcBef>
            </a:pPr>
            <a:r>
              <a:rPr dirty="0" sz="700">
                <a:solidFill>
                  <a:srgbClr val="080808"/>
                </a:solidFill>
                <a:latin typeface="Calibri"/>
                <a:cs typeface="Calibri"/>
              </a:rPr>
              <a:t>&lt;</a:t>
            </a:r>
            <a:r>
              <a:rPr dirty="0" sz="700">
                <a:solidFill>
                  <a:srgbClr val="0033B3"/>
                </a:solidFill>
                <a:latin typeface="Calibri"/>
                <a:cs typeface="Calibri"/>
              </a:rPr>
              <a:t>img</a:t>
            </a:r>
            <a:r>
              <a:rPr dirty="0" sz="700" spc="-10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749D3"/>
                </a:solidFill>
                <a:latin typeface="Calibri"/>
                <a:cs typeface="Calibri"/>
              </a:rPr>
              <a:t>src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  <a:hlinkClick r:id="rId3"/>
              </a:rPr>
              <a:t>="h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</a:rPr>
              <a:t>tt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  <a:hlinkClick r:id="rId3"/>
              </a:rPr>
              <a:t>p://bank.com/transfer?accountNo=5678&amp;amount=1000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</a:rPr>
              <a:t>"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/&gt;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-203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20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2246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733" y="157099"/>
            <a:ext cx="1146810" cy="2851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CSRF</a:t>
            </a:r>
            <a:r>
              <a:rPr dirty="0" spc="-10"/>
              <a:t> attacks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3733" y="346049"/>
            <a:ext cx="3723004" cy="51752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715"/>
              </a:spcBef>
            </a:pP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Using</a:t>
            </a:r>
            <a:r>
              <a:rPr dirty="0" sz="1100" spc="-2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POST</a:t>
            </a:r>
            <a:r>
              <a:rPr dirty="0" sz="1100" spc="-2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spc="-10" b="1" i="1">
                <a:solidFill>
                  <a:srgbClr val="7E7E7E"/>
                </a:solidFill>
                <a:latin typeface="Calibri"/>
                <a:cs typeface="Calibri"/>
              </a:rPr>
              <a:t>method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100" spc="6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 spc="60">
                <a:latin typeface="Trebuchet MS"/>
                <a:cs typeface="Trebuchet MS"/>
              </a:rPr>
              <a:t>Suppose</a:t>
            </a:r>
            <a:r>
              <a:rPr dirty="0" sz="1100" spc="-30">
                <a:latin typeface="Trebuchet MS"/>
                <a:cs typeface="Trebuchet MS"/>
              </a:rPr>
              <a:t> </a:t>
            </a:r>
            <a:r>
              <a:rPr dirty="0" sz="1100">
                <a:latin typeface="Trebuchet MS"/>
                <a:cs typeface="Trebuchet MS"/>
              </a:rPr>
              <a:t>the</a:t>
            </a:r>
            <a:r>
              <a:rPr dirty="0" sz="1100" spc="-30">
                <a:latin typeface="Trebuchet MS"/>
                <a:cs typeface="Trebuchet MS"/>
              </a:rPr>
              <a:t> </a:t>
            </a:r>
            <a:r>
              <a:rPr dirty="0" sz="1100">
                <a:latin typeface="Trebuchet MS"/>
                <a:cs typeface="Trebuchet MS"/>
              </a:rPr>
              <a:t>main</a:t>
            </a:r>
            <a:r>
              <a:rPr dirty="0" sz="1100" spc="-10">
                <a:latin typeface="Trebuchet MS"/>
                <a:cs typeface="Trebuchet MS"/>
              </a:rPr>
              <a:t> </a:t>
            </a:r>
            <a:r>
              <a:rPr dirty="0" sz="1100">
                <a:latin typeface="Trebuchet MS"/>
                <a:cs typeface="Trebuchet MS"/>
              </a:rPr>
              <a:t>request</a:t>
            </a:r>
            <a:r>
              <a:rPr dirty="0" sz="1100" spc="-25">
                <a:latin typeface="Trebuchet MS"/>
                <a:cs typeface="Trebuchet MS"/>
              </a:rPr>
              <a:t> </a:t>
            </a:r>
            <a:r>
              <a:rPr dirty="0" sz="1100" spc="55">
                <a:latin typeface="Trebuchet MS"/>
                <a:cs typeface="Trebuchet MS"/>
              </a:rPr>
              <a:t>needs</a:t>
            </a:r>
            <a:r>
              <a:rPr dirty="0" sz="1100" spc="-20">
                <a:latin typeface="Trebuchet MS"/>
                <a:cs typeface="Trebuchet MS"/>
              </a:rPr>
              <a:t> </a:t>
            </a:r>
            <a:r>
              <a:rPr dirty="0" sz="1100">
                <a:latin typeface="Trebuchet MS"/>
                <a:cs typeface="Trebuchet MS"/>
              </a:rPr>
              <a:t>to</a:t>
            </a:r>
            <a:r>
              <a:rPr dirty="0" sz="1100" spc="-20">
                <a:latin typeface="Trebuchet MS"/>
                <a:cs typeface="Trebuchet MS"/>
              </a:rPr>
              <a:t> </a:t>
            </a:r>
            <a:r>
              <a:rPr dirty="0" sz="1100" spc="50">
                <a:latin typeface="Trebuchet MS"/>
                <a:cs typeface="Trebuchet MS"/>
              </a:rPr>
              <a:t>be</a:t>
            </a:r>
            <a:r>
              <a:rPr dirty="0" sz="1100" spc="-20">
                <a:latin typeface="Trebuchet MS"/>
                <a:cs typeface="Trebuchet MS"/>
              </a:rPr>
              <a:t> </a:t>
            </a:r>
            <a:r>
              <a:rPr dirty="0" sz="1100">
                <a:latin typeface="Trebuchet MS"/>
                <a:cs typeface="Trebuchet MS"/>
              </a:rPr>
              <a:t>a</a:t>
            </a:r>
            <a:r>
              <a:rPr dirty="0" sz="1100" spc="-5">
                <a:latin typeface="Trebuchet MS"/>
                <a:cs typeface="Trebuchet MS"/>
              </a:rPr>
              <a:t> </a:t>
            </a:r>
            <a:r>
              <a:rPr dirty="0" sz="1100" spc="80">
                <a:latin typeface="Trebuchet MS"/>
                <a:cs typeface="Trebuchet MS"/>
              </a:rPr>
              <a:t>POST</a:t>
            </a:r>
            <a:r>
              <a:rPr dirty="0" sz="1100" spc="-30">
                <a:latin typeface="Trebuchet MS"/>
                <a:cs typeface="Trebuchet MS"/>
              </a:rPr>
              <a:t> </a:t>
            </a:r>
            <a:r>
              <a:rPr dirty="0" sz="1100" spc="-10">
                <a:latin typeface="Trebuchet MS"/>
                <a:cs typeface="Trebuchet MS"/>
              </a:rPr>
              <a:t>request: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3733" y="1310131"/>
            <a:ext cx="417449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case,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attacker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needs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have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victim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run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similar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request: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3733" y="1908149"/>
            <a:ext cx="3420745" cy="45212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Neither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9BD4"/>
                </a:solidFill>
                <a:latin typeface="Calibri"/>
                <a:cs typeface="Calibri"/>
              </a:rPr>
              <a:t>&lt;a&gt;</a:t>
            </a:r>
            <a:r>
              <a:rPr dirty="0" sz="1100" spc="1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9BD4"/>
                </a:solidFill>
                <a:latin typeface="Calibri"/>
                <a:cs typeface="Calibri"/>
              </a:rPr>
              <a:t>&lt;img/&gt;</a:t>
            </a:r>
            <a:r>
              <a:rPr dirty="0" sz="1100" spc="-5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tags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will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 this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case.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attacker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will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&lt;form&gt;: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225544" y="329224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C000"/>
                </a:solidFill>
                <a:latin typeface="Calibri"/>
                <a:cs typeface="Calibri"/>
              </a:rPr>
              <a:t>21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44117" y="927353"/>
            <a:ext cx="2307590" cy="260985"/>
          </a:xfrm>
          <a:prstGeom prst="rect">
            <a:avLst/>
          </a:prstGeom>
          <a:ln w="4762">
            <a:solidFill>
              <a:srgbClr val="5B9BD4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45085" marR="83058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Consolas"/>
                <a:cs typeface="Consolas"/>
              </a:rPr>
              <a:t>POST</a:t>
            </a:r>
            <a:r>
              <a:rPr dirty="0" sz="700" spc="-25">
                <a:latin typeface="Consolas"/>
                <a:cs typeface="Consolas"/>
              </a:rPr>
              <a:t> </a:t>
            </a:r>
            <a:r>
              <a:rPr dirty="0" sz="700" spc="-10">
                <a:latin typeface="Consolas"/>
                <a:cs typeface="Consolas"/>
                <a:hlinkClick r:id="rId2"/>
              </a:rPr>
              <a:t>http://bank.com/transfer</a:t>
            </a:r>
            <a:r>
              <a:rPr dirty="0" sz="700" spc="-10">
                <a:latin typeface="Consolas"/>
                <a:cs typeface="Consolas"/>
              </a:rPr>
              <a:t> accountNo=1234&amp;amount=100</a:t>
            </a:r>
            <a:endParaRPr sz="7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44117" y="1584197"/>
            <a:ext cx="2307590" cy="262255"/>
          </a:xfrm>
          <a:prstGeom prst="rect">
            <a:avLst/>
          </a:prstGeom>
          <a:ln w="4762">
            <a:solidFill>
              <a:srgbClr val="5B9BD4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 marL="45085" marR="830580">
              <a:lnSpc>
                <a:spcPct val="100000"/>
              </a:lnSpc>
              <a:spcBef>
                <a:spcPts val="145"/>
              </a:spcBef>
            </a:pPr>
            <a:r>
              <a:rPr dirty="0" sz="700">
                <a:latin typeface="Consolas"/>
                <a:cs typeface="Consolas"/>
              </a:rPr>
              <a:t>POST</a:t>
            </a:r>
            <a:r>
              <a:rPr dirty="0" sz="700" spc="-25">
                <a:latin typeface="Consolas"/>
                <a:cs typeface="Consolas"/>
              </a:rPr>
              <a:t> </a:t>
            </a:r>
            <a:r>
              <a:rPr dirty="0" sz="700" spc="-10">
                <a:latin typeface="Consolas"/>
                <a:cs typeface="Consolas"/>
                <a:hlinkClick r:id="rId2"/>
              </a:rPr>
              <a:t>http://bank.com/transfer</a:t>
            </a:r>
            <a:r>
              <a:rPr dirty="0" sz="700" spc="-10">
                <a:latin typeface="Consolas"/>
                <a:cs typeface="Consolas"/>
              </a:rPr>
              <a:t> accountNo=5678&amp;amount=1000</a:t>
            </a:r>
            <a:endParaRPr sz="70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43077" y="2455925"/>
            <a:ext cx="2597150" cy="585470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 algn="r" marR="401320">
              <a:lnSpc>
                <a:spcPct val="100000"/>
              </a:lnSpc>
              <a:spcBef>
                <a:spcPts val="165"/>
              </a:spcBef>
            </a:pP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&lt;</a:t>
            </a:r>
            <a:r>
              <a:rPr dirty="0" sz="700" spc="-10">
                <a:solidFill>
                  <a:srgbClr val="0033B3"/>
                </a:solidFill>
                <a:latin typeface="Calibri"/>
                <a:cs typeface="Calibri"/>
              </a:rPr>
              <a:t>form</a:t>
            </a:r>
            <a:r>
              <a:rPr dirty="0" sz="700" spc="2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749D3"/>
                </a:solidFill>
                <a:latin typeface="Calibri"/>
                <a:cs typeface="Calibri"/>
              </a:rPr>
              <a:t>action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  <a:hlinkClick r:id="rId2"/>
              </a:rPr>
              <a:t>="h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</a:rPr>
              <a:t>tt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  <a:hlinkClick r:id="rId2"/>
              </a:rPr>
              <a:t>p://bank.com/transfer"</a:t>
            </a:r>
            <a:r>
              <a:rPr dirty="0" sz="700" spc="110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749D3"/>
                </a:solidFill>
                <a:latin typeface="Calibri"/>
                <a:cs typeface="Calibri"/>
              </a:rPr>
              <a:t>method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</a:rPr>
              <a:t>="POST"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&gt;</a:t>
            </a:r>
            <a:endParaRPr sz="700">
              <a:latin typeface="Calibri"/>
              <a:cs typeface="Calibri"/>
            </a:endParaRPr>
          </a:p>
          <a:p>
            <a:pPr algn="r" marR="365125">
              <a:lnSpc>
                <a:spcPct val="100000"/>
              </a:lnSpc>
            </a:pPr>
            <a:r>
              <a:rPr dirty="0" sz="700">
                <a:solidFill>
                  <a:srgbClr val="080808"/>
                </a:solidFill>
                <a:latin typeface="Calibri"/>
                <a:cs typeface="Calibri"/>
              </a:rPr>
              <a:t>&lt;</a:t>
            </a:r>
            <a:r>
              <a:rPr dirty="0" sz="700">
                <a:solidFill>
                  <a:srgbClr val="0033B3"/>
                </a:solidFill>
                <a:latin typeface="Calibri"/>
                <a:cs typeface="Calibri"/>
              </a:rPr>
              <a:t>input</a:t>
            </a:r>
            <a:r>
              <a:rPr dirty="0" sz="700" spc="10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749D3"/>
                </a:solidFill>
                <a:latin typeface="Calibri"/>
                <a:cs typeface="Calibri"/>
              </a:rPr>
              <a:t>type</a:t>
            </a:r>
            <a:r>
              <a:rPr dirty="0" sz="700">
                <a:solidFill>
                  <a:srgbClr val="057C17"/>
                </a:solidFill>
                <a:latin typeface="Calibri"/>
                <a:cs typeface="Calibri"/>
              </a:rPr>
              <a:t>="hidden"</a:t>
            </a:r>
            <a:r>
              <a:rPr dirty="0" sz="700" spc="35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749D3"/>
                </a:solidFill>
                <a:latin typeface="Calibri"/>
                <a:cs typeface="Calibri"/>
              </a:rPr>
              <a:t>name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</a:rPr>
              <a:t>="accountNo"</a:t>
            </a:r>
            <a:r>
              <a:rPr dirty="0" sz="700" spc="5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749D3"/>
                </a:solidFill>
                <a:latin typeface="Calibri"/>
                <a:cs typeface="Calibri"/>
              </a:rPr>
              <a:t>value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</a:rPr>
              <a:t>="5678"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/&gt;</a:t>
            </a:r>
            <a:endParaRPr sz="700">
              <a:latin typeface="Calibri"/>
              <a:cs typeface="Calibri"/>
            </a:endParaRPr>
          </a:p>
          <a:p>
            <a:pPr marL="124460">
              <a:lnSpc>
                <a:spcPct val="100000"/>
              </a:lnSpc>
            </a:pPr>
            <a:r>
              <a:rPr dirty="0" sz="700">
                <a:solidFill>
                  <a:srgbClr val="080808"/>
                </a:solidFill>
                <a:latin typeface="Calibri"/>
                <a:cs typeface="Calibri"/>
              </a:rPr>
              <a:t>&lt;</a:t>
            </a:r>
            <a:r>
              <a:rPr dirty="0" sz="700">
                <a:solidFill>
                  <a:srgbClr val="0033B3"/>
                </a:solidFill>
                <a:latin typeface="Calibri"/>
                <a:cs typeface="Calibri"/>
              </a:rPr>
              <a:t>input</a:t>
            </a:r>
            <a:r>
              <a:rPr dirty="0" sz="700" spc="10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749D3"/>
                </a:solidFill>
                <a:latin typeface="Calibri"/>
                <a:cs typeface="Calibri"/>
              </a:rPr>
              <a:t>type</a:t>
            </a:r>
            <a:r>
              <a:rPr dirty="0" sz="700">
                <a:solidFill>
                  <a:srgbClr val="057C17"/>
                </a:solidFill>
                <a:latin typeface="Calibri"/>
                <a:cs typeface="Calibri"/>
              </a:rPr>
              <a:t>="hidden"</a:t>
            </a:r>
            <a:r>
              <a:rPr dirty="0" sz="700" spc="25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749D3"/>
                </a:solidFill>
                <a:latin typeface="Calibri"/>
                <a:cs typeface="Calibri"/>
              </a:rPr>
              <a:t>name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</a:rPr>
              <a:t>="amount"</a:t>
            </a:r>
            <a:r>
              <a:rPr dirty="0" sz="700" spc="25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749D3"/>
                </a:solidFill>
                <a:latin typeface="Calibri"/>
                <a:cs typeface="Calibri"/>
              </a:rPr>
              <a:t>value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</a:rPr>
              <a:t>="1000"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/&gt;</a:t>
            </a:r>
            <a:endParaRPr sz="700">
              <a:latin typeface="Calibri"/>
              <a:cs typeface="Calibri"/>
            </a:endParaRPr>
          </a:p>
          <a:p>
            <a:pPr marL="124460">
              <a:lnSpc>
                <a:spcPct val="100000"/>
              </a:lnSpc>
            </a:pPr>
            <a:r>
              <a:rPr dirty="0" sz="700">
                <a:solidFill>
                  <a:srgbClr val="080808"/>
                </a:solidFill>
                <a:latin typeface="Calibri"/>
                <a:cs typeface="Calibri"/>
              </a:rPr>
              <a:t>&lt;</a:t>
            </a:r>
            <a:r>
              <a:rPr dirty="0" sz="700">
                <a:solidFill>
                  <a:srgbClr val="0033B3"/>
                </a:solidFill>
                <a:latin typeface="Calibri"/>
                <a:cs typeface="Calibri"/>
              </a:rPr>
              <a:t>input</a:t>
            </a:r>
            <a:r>
              <a:rPr dirty="0" sz="700" spc="3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749D3"/>
                </a:solidFill>
                <a:latin typeface="Calibri"/>
                <a:cs typeface="Calibri"/>
              </a:rPr>
              <a:t>type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</a:rPr>
              <a:t>="submit"</a:t>
            </a:r>
            <a:r>
              <a:rPr dirty="0" sz="700" spc="55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749D3"/>
                </a:solidFill>
                <a:latin typeface="Calibri"/>
                <a:cs typeface="Calibri"/>
              </a:rPr>
              <a:t>value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</a:rPr>
              <a:t>="Show</a:t>
            </a:r>
            <a:r>
              <a:rPr dirty="0" sz="700" spc="30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</a:rPr>
              <a:t>Kittens</a:t>
            </a:r>
            <a:r>
              <a:rPr dirty="0" sz="700" spc="35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</a:rPr>
              <a:t>Pictures"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/&gt;</a:t>
            </a:r>
            <a:endParaRPr sz="700">
              <a:latin typeface="Calibri"/>
              <a:cs typeface="Calibri"/>
            </a:endParaRPr>
          </a:p>
          <a:p>
            <a:pPr marL="45720">
              <a:lnSpc>
                <a:spcPct val="100000"/>
              </a:lnSpc>
            </a:pP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&lt;/</a:t>
            </a:r>
            <a:r>
              <a:rPr dirty="0" sz="700" spc="-10">
                <a:solidFill>
                  <a:srgbClr val="0033B3"/>
                </a:solidFill>
                <a:latin typeface="Calibri"/>
                <a:cs typeface="Calibri"/>
              </a:rPr>
              <a:t>form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&gt;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884170" y="2594609"/>
            <a:ext cx="1542415" cy="416559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160"/>
              </a:spcBef>
            </a:pPr>
            <a:r>
              <a:rPr dirty="0" sz="600">
                <a:solidFill>
                  <a:srgbClr val="080808"/>
                </a:solidFill>
                <a:latin typeface="Calibri"/>
                <a:cs typeface="Calibri"/>
              </a:rPr>
              <a:t>&lt;</a:t>
            </a:r>
            <a:r>
              <a:rPr dirty="0" sz="600">
                <a:solidFill>
                  <a:srgbClr val="0033B3"/>
                </a:solidFill>
                <a:latin typeface="Calibri"/>
                <a:cs typeface="Calibri"/>
              </a:rPr>
              <a:t>body</a:t>
            </a:r>
            <a:r>
              <a:rPr dirty="0" sz="600" spc="-1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1749D3"/>
                </a:solidFill>
                <a:latin typeface="Calibri"/>
                <a:cs typeface="Calibri"/>
              </a:rPr>
              <a:t>onload</a:t>
            </a:r>
            <a:r>
              <a:rPr dirty="0" sz="600" spc="-10">
                <a:solidFill>
                  <a:srgbClr val="057C17"/>
                </a:solidFill>
                <a:latin typeface="Calibri"/>
                <a:cs typeface="Calibri"/>
              </a:rPr>
              <a:t>="</a:t>
            </a:r>
            <a:r>
              <a:rPr dirty="0" sz="600" spc="-10">
                <a:solidFill>
                  <a:srgbClr val="830091"/>
                </a:solidFill>
                <a:latin typeface="Calibri"/>
                <a:cs typeface="Calibri"/>
              </a:rPr>
              <a:t>document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.</a:t>
            </a:r>
            <a:r>
              <a:rPr dirty="0" sz="600" spc="-10">
                <a:solidFill>
                  <a:srgbClr val="860F93"/>
                </a:solidFill>
                <a:latin typeface="Calibri"/>
                <a:cs typeface="Calibri"/>
              </a:rPr>
              <a:t>forms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[</a:t>
            </a:r>
            <a:r>
              <a:rPr dirty="0" sz="600" spc="-10">
                <a:solidFill>
                  <a:srgbClr val="1750EB"/>
                </a:solidFill>
                <a:latin typeface="Calibri"/>
                <a:cs typeface="Calibri"/>
              </a:rPr>
              <a:t>0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].</a:t>
            </a:r>
            <a:r>
              <a:rPr dirty="0" sz="600" spc="-10">
                <a:solidFill>
                  <a:srgbClr val="797943"/>
                </a:solidFill>
                <a:latin typeface="Calibri"/>
                <a:cs typeface="Calibri"/>
              </a:rPr>
              <a:t>submit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()</a:t>
            </a:r>
            <a:r>
              <a:rPr dirty="0" sz="600" spc="-10">
                <a:solidFill>
                  <a:srgbClr val="057C17"/>
                </a:solidFill>
                <a:latin typeface="Calibri"/>
                <a:cs typeface="Calibri"/>
              </a:rPr>
              <a:t>"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&gt;</a:t>
            </a:r>
            <a:endParaRPr sz="600">
              <a:latin typeface="Calibri"/>
              <a:cs typeface="Calibri"/>
            </a:endParaRPr>
          </a:p>
          <a:p>
            <a:pPr marL="45085">
              <a:lnSpc>
                <a:spcPct val="100000"/>
              </a:lnSpc>
              <a:spcBef>
                <a:spcPts val="5"/>
              </a:spcBef>
            </a:pP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&lt;</a:t>
            </a:r>
            <a:r>
              <a:rPr dirty="0" sz="600" spc="-10">
                <a:solidFill>
                  <a:srgbClr val="0033B3"/>
                </a:solidFill>
                <a:latin typeface="Calibri"/>
                <a:cs typeface="Calibri"/>
              </a:rPr>
              <a:t>form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&gt;</a:t>
            </a:r>
            <a:endParaRPr sz="600">
              <a:latin typeface="Calibri"/>
              <a:cs typeface="Calibri"/>
            </a:endParaRPr>
          </a:p>
          <a:p>
            <a:pPr algn="ctr" marR="1243330">
              <a:lnSpc>
                <a:spcPct val="100000"/>
              </a:lnSpc>
            </a:pPr>
            <a:r>
              <a:rPr dirty="0" sz="600" spc="-25">
                <a:solidFill>
                  <a:srgbClr val="080808"/>
                </a:solidFill>
                <a:latin typeface="Calibri"/>
                <a:cs typeface="Calibri"/>
              </a:rPr>
              <a:t>...</a:t>
            </a:r>
            <a:endParaRPr sz="600">
              <a:latin typeface="Calibri"/>
              <a:cs typeface="Calibri"/>
            </a:endParaRPr>
          </a:p>
          <a:p>
            <a:pPr algn="ctr" marR="1190625">
              <a:lnSpc>
                <a:spcPct val="100000"/>
              </a:lnSpc>
            </a:pP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&lt;/</a:t>
            </a:r>
            <a:r>
              <a:rPr dirty="0" sz="600" spc="-10">
                <a:solidFill>
                  <a:srgbClr val="0033B3"/>
                </a:solidFill>
                <a:latin typeface="Calibri"/>
                <a:cs typeface="Calibri"/>
              </a:rPr>
              <a:t>form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&gt;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045967" y="2314193"/>
            <a:ext cx="112458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Calibri"/>
                <a:cs typeface="Calibri"/>
              </a:rPr>
              <a:t>The </a:t>
            </a:r>
            <a:r>
              <a:rPr dirty="0" sz="700" spc="-10">
                <a:latin typeface="Calibri"/>
                <a:cs typeface="Calibri"/>
              </a:rPr>
              <a:t>form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can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submitted</a:t>
            </a:r>
            <a:r>
              <a:rPr dirty="0" sz="700" spc="500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automatically</a:t>
            </a:r>
            <a:r>
              <a:rPr dirty="0" sz="700" spc="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using </a:t>
            </a:r>
            <a:r>
              <a:rPr dirty="0" sz="700" spc="-10">
                <a:latin typeface="Calibri"/>
                <a:cs typeface="Calibri"/>
              </a:rPr>
              <a:t>JavaScript: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-203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1585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733" y="156463"/>
            <a:ext cx="2439670" cy="2851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MVC</a:t>
            </a:r>
            <a:r>
              <a:rPr dirty="0" spc="-40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40"/>
              <a:t> </a:t>
            </a:r>
            <a:r>
              <a:rPr dirty="0" spc="-20"/>
              <a:t>CSRF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3733" y="348462"/>
            <a:ext cx="4380230" cy="212280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690"/>
              </a:spcBef>
            </a:pP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Prevent</a:t>
            </a:r>
            <a:r>
              <a:rPr dirty="0" sz="1100" spc="-4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CRSF</a:t>
            </a:r>
            <a:r>
              <a:rPr dirty="0" sz="1100" spc="-4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spc="-10" b="1" i="1">
                <a:solidFill>
                  <a:srgbClr val="7E7E7E"/>
                </a:solidFill>
                <a:latin typeface="Calibri"/>
                <a:cs typeface="Calibri"/>
              </a:rPr>
              <a:t>attack</a:t>
            </a:r>
            <a:endParaRPr sz="1100">
              <a:latin typeface="Calibri"/>
              <a:cs typeface="Calibri"/>
            </a:endParaRPr>
          </a:p>
          <a:p>
            <a:pPr marL="127000" marR="8890" indent="-114935">
              <a:lnSpc>
                <a:spcPts val="1190"/>
              </a:lnSpc>
              <a:spcBef>
                <a:spcPts val="740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protect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MVC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applications,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Spring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adds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CSRF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token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each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generated view.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255"/>
              </a:lnSpc>
              <a:spcBef>
                <a:spcPts val="340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token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must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submitted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server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every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HTTP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request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that</a:t>
            </a:r>
            <a:endParaRPr sz="1100">
              <a:latin typeface="Calibri"/>
              <a:cs typeface="Calibri"/>
            </a:endParaRPr>
          </a:p>
          <a:p>
            <a:pPr marL="127000">
              <a:lnSpc>
                <a:spcPts val="1255"/>
              </a:lnSpc>
            </a:pPr>
            <a:r>
              <a:rPr dirty="0" sz="1100">
                <a:latin typeface="Calibri"/>
                <a:cs typeface="Calibri"/>
              </a:rPr>
              <a:t>modifies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state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30">
                <a:latin typeface="Calibri"/>
                <a:cs typeface="Calibri"/>
              </a:rPr>
              <a:t>(PATCH,</a:t>
            </a:r>
            <a:r>
              <a:rPr dirty="0" sz="1100" spc="-20">
                <a:latin typeface="Calibri"/>
                <a:cs typeface="Calibri"/>
              </a:rPr>
              <a:t> POST,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PUT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DELETE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—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GET).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255"/>
              </a:lnSpc>
              <a:spcBef>
                <a:spcPts val="375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protects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our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against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CSRF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attacks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since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attacker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can’t</a:t>
            </a:r>
            <a:endParaRPr sz="1100">
              <a:latin typeface="Calibri"/>
              <a:cs typeface="Calibri"/>
            </a:endParaRPr>
          </a:p>
          <a:p>
            <a:pPr marL="127000">
              <a:lnSpc>
                <a:spcPts val="1255"/>
              </a:lnSpc>
            </a:pPr>
            <a:r>
              <a:rPr dirty="0" sz="1100">
                <a:latin typeface="Calibri"/>
                <a:cs typeface="Calibri"/>
              </a:rPr>
              <a:t>get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token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their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own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page.</a:t>
            </a:r>
            <a:endParaRPr sz="1100">
              <a:latin typeface="Calibri"/>
              <a:cs typeface="Calibri"/>
            </a:endParaRPr>
          </a:p>
          <a:p>
            <a:pPr marL="127000" marR="9525" indent="-114935">
              <a:lnSpc>
                <a:spcPts val="1190"/>
              </a:lnSpc>
              <a:spcBef>
                <a:spcPts val="520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Starting</a:t>
            </a:r>
            <a:r>
              <a:rPr dirty="0" sz="1100" spc="3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3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Spring</a:t>
            </a:r>
            <a:r>
              <a:rPr dirty="0" sz="1100" spc="3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Security</a:t>
            </a:r>
            <a:r>
              <a:rPr dirty="0" sz="1100" spc="3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4.x,</a:t>
            </a:r>
            <a:r>
              <a:rPr dirty="0" sz="1100" spc="3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3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CSRF</a:t>
            </a:r>
            <a:r>
              <a:rPr dirty="0" sz="1100" spc="3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protection</a:t>
            </a:r>
            <a:r>
              <a:rPr dirty="0" sz="1100" spc="3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325"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0000"/>
                </a:solidFill>
                <a:latin typeface="Calibri"/>
                <a:cs typeface="Calibri"/>
              </a:rPr>
              <a:t>enabled</a:t>
            </a:r>
            <a:r>
              <a:rPr dirty="0" sz="1100" spc="3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FF0000"/>
                </a:solidFill>
                <a:latin typeface="Calibri"/>
                <a:cs typeface="Calibri"/>
              </a:rPr>
              <a:t>by </a:t>
            </a:r>
            <a:r>
              <a:rPr dirty="0" sz="1100" spc="-10">
                <a:solidFill>
                  <a:srgbClr val="FF0000"/>
                </a:solidFill>
                <a:latin typeface="Calibri"/>
                <a:cs typeface="Calibri"/>
              </a:rPr>
              <a:t>default</a:t>
            </a:r>
            <a:r>
              <a:rPr dirty="0" sz="1100" spc="-1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127000" marR="5080" indent="-114935">
              <a:lnSpc>
                <a:spcPts val="1190"/>
              </a:lnSpc>
              <a:spcBef>
                <a:spcPts val="484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default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configuration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adds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CSRF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token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HttpServletRequest attribute </a:t>
            </a:r>
            <a:r>
              <a:rPr dirty="0" sz="1100">
                <a:latin typeface="Calibri"/>
                <a:cs typeface="Calibri"/>
              </a:rPr>
              <a:t>named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_csrf.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25544" y="3291585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C000"/>
                </a:solidFill>
                <a:latin typeface="Calibri"/>
                <a:cs typeface="Calibri"/>
              </a:rPr>
              <a:t>22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632966" y="2494025"/>
            <a:ext cx="2807335" cy="692150"/>
          </a:xfrm>
          <a:custGeom>
            <a:avLst/>
            <a:gdLst/>
            <a:ahLst/>
            <a:cxnLst/>
            <a:rect l="l" t="t" r="r" b="b"/>
            <a:pathLst>
              <a:path w="2807335" h="692150">
                <a:moveTo>
                  <a:pt x="2807207" y="0"/>
                </a:moveTo>
                <a:lnTo>
                  <a:pt x="0" y="0"/>
                </a:lnTo>
                <a:lnTo>
                  <a:pt x="0" y="691896"/>
                </a:lnTo>
                <a:lnTo>
                  <a:pt x="2807207" y="691896"/>
                </a:lnTo>
                <a:lnTo>
                  <a:pt x="28072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632966" y="2494025"/>
            <a:ext cx="2807335" cy="692150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65"/>
              </a:spcBef>
            </a:pPr>
            <a:r>
              <a:rPr dirty="0" sz="700" spc="-10">
                <a:solidFill>
                  <a:srgbClr val="9E870D"/>
                </a:solidFill>
                <a:latin typeface="Calibri"/>
                <a:cs typeface="Calibri"/>
              </a:rPr>
              <a:t>@Bean</a:t>
            </a:r>
            <a:endParaRPr sz="700">
              <a:latin typeface="Calibri"/>
              <a:cs typeface="Calibri"/>
            </a:endParaRPr>
          </a:p>
          <a:p>
            <a:pPr marL="123825" marR="64769" indent="-79375">
              <a:lnSpc>
                <a:spcPct val="100000"/>
              </a:lnSpc>
            </a:pPr>
            <a:r>
              <a:rPr dirty="0" sz="700">
                <a:solidFill>
                  <a:srgbClr val="0033B3"/>
                </a:solidFill>
                <a:latin typeface="Calibri"/>
                <a:cs typeface="Calibri"/>
              </a:rPr>
              <a:t>public</a:t>
            </a:r>
            <a:r>
              <a:rPr dirty="0" sz="700" spc="2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SecurityFilterChain</a:t>
            </a:r>
            <a:r>
              <a:rPr dirty="0" sz="700" spc="45"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06179"/>
                </a:solidFill>
                <a:latin typeface="Calibri"/>
                <a:cs typeface="Calibri"/>
              </a:rPr>
              <a:t>filterChain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(</a:t>
            </a:r>
            <a:r>
              <a:rPr dirty="0" sz="700" spc="-10">
                <a:latin typeface="Calibri"/>
                <a:cs typeface="Calibri"/>
              </a:rPr>
              <a:t>HttpSecurity</a:t>
            </a:r>
            <a:r>
              <a:rPr dirty="0" sz="700" spc="35"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080808"/>
                </a:solidFill>
                <a:latin typeface="Calibri"/>
                <a:cs typeface="Calibri"/>
              </a:rPr>
              <a:t>http)</a:t>
            </a:r>
            <a:r>
              <a:rPr dirty="0" sz="700" spc="4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033B3"/>
                </a:solidFill>
                <a:latin typeface="Calibri"/>
                <a:cs typeface="Calibri"/>
              </a:rPr>
              <a:t>throws</a:t>
            </a:r>
            <a:r>
              <a:rPr dirty="0" sz="700" spc="1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Exception</a:t>
            </a:r>
            <a:r>
              <a:rPr dirty="0" sz="700" spc="20">
                <a:latin typeface="Calibri"/>
                <a:cs typeface="Calibri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Calibri"/>
                <a:cs typeface="Calibri"/>
              </a:rPr>
              <a:t>{</a:t>
            </a:r>
            <a:r>
              <a:rPr dirty="0" sz="700" spc="50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080808"/>
                </a:solidFill>
                <a:latin typeface="Calibri"/>
                <a:cs typeface="Calibri"/>
              </a:rPr>
              <a:t>http</a:t>
            </a:r>
            <a:endParaRPr sz="700">
              <a:latin typeface="Calibri"/>
              <a:cs typeface="Calibri"/>
            </a:endParaRPr>
          </a:p>
          <a:p>
            <a:pPr algn="r" marR="1953895">
              <a:lnSpc>
                <a:spcPct val="100000"/>
              </a:lnSpc>
            </a:pP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.csrf().disable();</a:t>
            </a:r>
            <a:endParaRPr sz="700">
              <a:latin typeface="Calibri"/>
              <a:cs typeface="Calibri"/>
            </a:endParaRPr>
          </a:p>
          <a:p>
            <a:pPr algn="r" marR="1998345">
              <a:lnSpc>
                <a:spcPct val="100000"/>
              </a:lnSpc>
            </a:pPr>
            <a:r>
              <a:rPr dirty="0" sz="700">
                <a:solidFill>
                  <a:srgbClr val="0033B3"/>
                </a:solidFill>
                <a:latin typeface="Calibri"/>
                <a:cs typeface="Calibri"/>
              </a:rPr>
              <a:t>return</a:t>
            </a:r>
            <a:r>
              <a:rPr dirty="0" sz="700" spc="-40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http.build();</a:t>
            </a:r>
            <a:endParaRPr sz="700">
              <a:latin typeface="Calibri"/>
              <a:cs typeface="Calibri"/>
            </a:endParaRPr>
          </a:p>
          <a:p>
            <a:pPr marL="44450">
              <a:lnSpc>
                <a:spcPct val="100000"/>
              </a:lnSpc>
            </a:pPr>
            <a:r>
              <a:rPr dirty="0" sz="700" spc="-50">
                <a:solidFill>
                  <a:srgbClr val="080808"/>
                </a:solidFill>
                <a:latin typeface="Calibri"/>
                <a:cs typeface="Calibri"/>
              </a:rPr>
              <a:t>}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5198" y="2642107"/>
            <a:ext cx="133223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If</a:t>
            </a:r>
            <a:r>
              <a:rPr dirty="0" sz="900" spc="47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we</a:t>
            </a:r>
            <a:r>
              <a:rPr dirty="0" sz="900" spc="48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need</a:t>
            </a:r>
            <a:r>
              <a:rPr dirty="0" sz="900" spc="47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to,</a:t>
            </a:r>
            <a:r>
              <a:rPr dirty="0" sz="900" spc="47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we</a:t>
            </a:r>
            <a:r>
              <a:rPr dirty="0" sz="900" spc="465">
                <a:latin typeface="Calibri"/>
                <a:cs typeface="Calibri"/>
              </a:rPr>
              <a:t> </a:t>
            </a:r>
            <a:r>
              <a:rPr dirty="0" sz="900" spc="-25">
                <a:latin typeface="Calibri"/>
                <a:cs typeface="Calibri"/>
              </a:rPr>
              <a:t>can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disable</a:t>
            </a:r>
            <a:r>
              <a:rPr dirty="0" sz="900" spc="49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this</a:t>
            </a:r>
            <a:r>
              <a:rPr dirty="0" sz="900" spc="155">
                <a:latin typeface="Calibri"/>
                <a:cs typeface="Calibri"/>
              </a:rPr>
              <a:t>  </a:t>
            </a:r>
            <a:r>
              <a:rPr dirty="0" sz="900" spc="-10">
                <a:latin typeface="Calibri"/>
                <a:cs typeface="Calibri"/>
              </a:rPr>
              <a:t>configuration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but</a:t>
            </a:r>
            <a:r>
              <a:rPr dirty="0" sz="900" spc="-1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not</a:t>
            </a:r>
            <a:r>
              <a:rPr dirty="0" sz="900" spc="-10">
                <a:latin typeface="Calibri"/>
                <a:cs typeface="Calibri"/>
              </a:rPr>
              <a:t> recommended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-203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2246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733" y="157099"/>
            <a:ext cx="2439670" cy="2851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MVC</a:t>
            </a:r>
            <a:r>
              <a:rPr dirty="0" spc="-40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40"/>
              <a:t> </a:t>
            </a:r>
            <a:r>
              <a:rPr dirty="0" spc="-20"/>
              <a:t>CSRF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3733" y="349097"/>
            <a:ext cx="4375785" cy="161671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690"/>
              </a:spcBef>
            </a:pP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Client</a:t>
            </a:r>
            <a:r>
              <a:rPr dirty="0" sz="1100" spc="-6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prevent</a:t>
            </a:r>
            <a:r>
              <a:rPr dirty="0" sz="1100" spc="-4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CSRF</a:t>
            </a:r>
            <a:r>
              <a:rPr dirty="0" sz="1100" spc="-4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attack</a:t>
            </a:r>
            <a:r>
              <a:rPr dirty="0" sz="1100" spc="-5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spc="-10" b="1" i="1">
                <a:solidFill>
                  <a:srgbClr val="7E7E7E"/>
                </a:solidFill>
                <a:latin typeface="Calibri"/>
                <a:cs typeface="Calibri"/>
              </a:rPr>
              <a:t>configuration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255"/>
              </a:lnSpc>
              <a:spcBef>
                <a:spcPts val="595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We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need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include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CSRF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token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our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requests.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_csrf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attribute</a:t>
            </a:r>
            <a:endParaRPr sz="1100">
              <a:latin typeface="Calibri"/>
              <a:cs typeface="Calibri"/>
            </a:endParaRPr>
          </a:p>
          <a:p>
            <a:pPr marL="127000">
              <a:lnSpc>
                <a:spcPts val="1255"/>
              </a:lnSpc>
            </a:pPr>
            <a:r>
              <a:rPr dirty="0" sz="1100">
                <a:latin typeface="Calibri"/>
                <a:cs typeface="Calibri"/>
              </a:rPr>
              <a:t>contains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following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information:</a:t>
            </a:r>
            <a:endParaRPr sz="1100">
              <a:latin typeface="Calibri"/>
              <a:cs typeface="Calibri"/>
            </a:endParaRPr>
          </a:p>
          <a:p>
            <a:pPr marL="353695" indent="-112395">
              <a:lnSpc>
                <a:spcPct val="100000"/>
              </a:lnSpc>
              <a:spcBef>
                <a:spcPts val="155"/>
              </a:spcBef>
              <a:buClr>
                <a:srgbClr val="0066A0"/>
              </a:buClr>
              <a:buFont typeface="Calibri"/>
              <a:buChar char="-"/>
              <a:tabLst>
                <a:tab pos="353695" algn="l"/>
              </a:tabLst>
            </a:pPr>
            <a:r>
              <a:rPr dirty="0" sz="900" spc="-10" i="1">
                <a:solidFill>
                  <a:srgbClr val="5B9BD4"/>
                </a:solidFill>
                <a:latin typeface="Calibri"/>
                <a:cs typeface="Calibri"/>
              </a:rPr>
              <a:t>token</a:t>
            </a:r>
            <a:r>
              <a:rPr dirty="0" sz="900" i="1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–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 CSRF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token </a:t>
            </a:r>
            <a:r>
              <a:rPr dirty="0" sz="900" spc="-20">
                <a:latin typeface="Calibri"/>
                <a:cs typeface="Calibri"/>
              </a:rPr>
              <a:t>value</a:t>
            </a:r>
            <a:endParaRPr sz="900">
              <a:latin typeface="Calibri"/>
              <a:cs typeface="Calibri"/>
            </a:endParaRPr>
          </a:p>
          <a:p>
            <a:pPr marL="353695" marR="6985" indent="-112395">
              <a:lnSpc>
                <a:spcPts val="969"/>
              </a:lnSpc>
              <a:spcBef>
                <a:spcPts val="265"/>
              </a:spcBef>
              <a:buClr>
                <a:srgbClr val="0066A0"/>
              </a:buClr>
              <a:buFont typeface="Calibri"/>
              <a:buChar char="-"/>
              <a:tabLst>
                <a:tab pos="355600" algn="l"/>
              </a:tabLst>
            </a:pPr>
            <a:r>
              <a:rPr dirty="0" sz="900" i="1">
                <a:solidFill>
                  <a:srgbClr val="5B9BD4"/>
                </a:solidFill>
                <a:latin typeface="Calibri"/>
                <a:cs typeface="Calibri"/>
              </a:rPr>
              <a:t>parameterName</a:t>
            </a:r>
            <a:r>
              <a:rPr dirty="0" sz="900" spc="30" i="1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–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name</a:t>
            </a:r>
            <a:r>
              <a:rPr dirty="0" sz="900" spc="3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of</a:t>
            </a:r>
            <a:r>
              <a:rPr dirty="0" sz="900" spc="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4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HTML</a:t>
            </a:r>
            <a:r>
              <a:rPr dirty="0" sz="900" spc="3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form</a:t>
            </a:r>
            <a:r>
              <a:rPr dirty="0" sz="900" spc="2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parameter,</a:t>
            </a:r>
            <a:r>
              <a:rPr dirty="0" sz="900" spc="2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which</a:t>
            </a:r>
            <a:r>
              <a:rPr dirty="0" sz="900" spc="3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must</a:t>
            </a:r>
            <a:r>
              <a:rPr dirty="0" sz="900" spc="2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include</a:t>
            </a:r>
            <a:r>
              <a:rPr dirty="0" sz="900" spc="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3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token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 spc="500">
                <a:latin typeface="Calibri"/>
                <a:cs typeface="Calibri"/>
              </a:rPr>
              <a:t>	</a:t>
            </a:r>
            <a:r>
              <a:rPr dirty="0" sz="900" spc="-20">
                <a:latin typeface="Calibri"/>
                <a:cs typeface="Calibri"/>
              </a:rPr>
              <a:t>value</a:t>
            </a:r>
            <a:endParaRPr sz="900">
              <a:latin typeface="Calibri"/>
              <a:cs typeface="Calibri"/>
            </a:endParaRPr>
          </a:p>
          <a:p>
            <a:pPr marL="353695" indent="-112395">
              <a:lnSpc>
                <a:spcPct val="100000"/>
              </a:lnSpc>
              <a:spcBef>
                <a:spcPts val="135"/>
              </a:spcBef>
              <a:buClr>
                <a:srgbClr val="0066A0"/>
              </a:buClr>
              <a:buFont typeface="Calibri"/>
              <a:buChar char="-"/>
              <a:tabLst>
                <a:tab pos="353695" algn="l"/>
              </a:tabLst>
            </a:pPr>
            <a:r>
              <a:rPr dirty="0" sz="900" i="1">
                <a:solidFill>
                  <a:srgbClr val="5B9BD4"/>
                </a:solidFill>
                <a:latin typeface="Calibri"/>
                <a:cs typeface="Calibri"/>
              </a:rPr>
              <a:t>headerName</a:t>
            </a:r>
            <a:r>
              <a:rPr dirty="0" sz="900" spc="-30" i="1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–</a:t>
            </a:r>
            <a:r>
              <a:rPr dirty="0" sz="900" spc="-2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name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of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HTTP</a:t>
            </a:r>
            <a:r>
              <a:rPr dirty="0" sz="900" spc="-3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header,</a:t>
            </a:r>
            <a:r>
              <a:rPr dirty="0" sz="900" spc="-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which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must</a:t>
            </a:r>
            <a:r>
              <a:rPr dirty="0" sz="900" spc="-1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include</a:t>
            </a:r>
            <a:r>
              <a:rPr dirty="0" sz="900" spc="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token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value</a:t>
            </a:r>
            <a:endParaRPr sz="900">
              <a:latin typeface="Calibri"/>
              <a:cs typeface="Calibri"/>
            </a:endParaRPr>
          </a:p>
          <a:p>
            <a:pPr marL="127000" marR="5080" indent="-114935">
              <a:lnSpc>
                <a:spcPts val="1190"/>
              </a:lnSpc>
              <a:spcBef>
                <a:spcPts val="500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case 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 HTML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forms,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B9BD4"/>
                </a:solidFill>
                <a:latin typeface="Calibri"/>
                <a:cs typeface="Calibri"/>
              </a:rPr>
              <a:t>headerName</a:t>
            </a:r>
            <a:r>
              <a:rPr dirty="0" sz="1100" spc="10" i="1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B9BD4"/>
                </a:solidFill>
                <a:latin typeface="Calibri"/>
                <a:cs typeface="Calibri"/>
              </a:rPr>
              <a:t>token </a:t>
            </a:r>
            <a:r>
              <a:rPr dirty="0" sz="1100">
                <a:latin typeface="Calibri"/>
                <a:cs typeface="Calibri"/>
              </a:rPr>
              <a:t>values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should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be </a:t>
            </a:r>
            <a:r>
              <a:rPr dirty="0" sz="1100">
                <a:latin typeface="Calibri"/>
                <a:cs typeface="Calibri"/>
              </a:rPr>
              <a:t>added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HTTP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header.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3733" y="2200147"/>
            <a:ext cx="4375785" cy="34480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0" marR="5080" indent="-114935">
              <a:lnSpc>
                <a:spcPts val="1190"/>
              </a:lnSpc>
              <a:spcBef>
                <a:spcPts val="250"/>
              </a:spcBef>
            </a:pPr>
            <a:r>
              <a:rPr dirty="0" sz="11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2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case</a:t>
            </a:r>
            <a:r>
              <a:rPr dirty="0" sz="1100" spc="2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25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25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JSON</a:t>
            </a:r>
            <a:r>
              <a:rPr dirty="0" sz="1100" spc="2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view</a:t>
            </a:r>
            <a:r>
              <a:rPr dirty="0" sz="1100" spc="2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forms,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240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headerName</a:t>
            </a:r>
            <a:r>
              <a:rPr dirty="0" sz="1100" spc="260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250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token</a:t>
            </a:r>
            <a:r>
              <a:rPr dirty="0" sz="1100" spc="245" i="1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values </a:t>
            </a:r>
            <a:r>
              <a:rPr dirty="0" sz="1100">
                <a:latin typeface="Calibri"/>
                <a:cs typeface="Calibri"/>
              </a:rPr>
              <a:t>should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added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HTTP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header.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225544" y="329224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C000"/>
                </a:solidFill>
                <a:latin typeface="Calibri"/>
                <a:cs typeface="Calibri"/>
              </a:rPr>
              <a:t>23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11174" y="1948433"/>
            <a:ext cx="3039110" cy="154305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150"/>
              </a:spcBef>
            </a:pPr>
            <a:r>
              <a:rPr dirty="0" sz="700">
                <a:solidFill>
                  <a:srgbClr val="080808"/>
                </a:solidFill>
                <a:latin typeface="Calibri"/>
                <a:cs typeface="Calibri"/>
              </a:rPr>
              <a:t>&lt;</a:t>
            </a:r>
            <a:r>
              <a:rPr dirty="0" sz="700">
                <a:solidFill>
                  <a:srgbClr val="0033B3"/>
                </a:solidFill>
                <a:latin typeface="Calibri"/>
                <a:cs typeface="Calibri"/>
              </a:rPr>
              <a:t>input</a:t>
            </a:r>
            <a:r>
              <a:rPr dirty="0" sz="700" spc="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749D3"/>
                </a:solidFill>
                <a:latin typeface="Calibri"/>
                <a:cs typeface="Calibri"/>
              </a:rPr>
              <a:t>type</a:t>
            </a:r>
            <a:r>
              <a:rPr dirty="0" sz="700">
                <a:solidFill>
                  <a:srgbClr val="057C17"/>
                </a:solidFill>
                <a:latin typeface="Calibri"/>
                <a:cs typeface="Calibri"/>
              </a:rPr>
              <a:t>="hidden"</a:t>
            </a:r>
            <a:r>
              <a:rPr dirty="0" sz="700" spc="20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749D3"/>
                </a:solidFill>
                <a:latin typeface="Calibri"/>
                <a:cs typeface="Calibri"/>
              </a:rPr>
              <a:t>name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</a:rPr>
              <a:t>="${_csrf.parameterName}"</a:t>
            </a:r>
            <a:r>
              <a:rPr dirty="0" sz="700" spc="25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749D3"/>
                </a:solidFill>
                <a:latin typeface="Calibri"/>
                <a:cs typeface="Calibri"/>
              </a:rPr>
              <a:t>value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</a:rPr>
              <a:t>="${_csrf.token}"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/&gt;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32409" y="2545841"/>
            <a:ext cx="2044064" cy="323215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60"/>
              </a:spcBef>
            </a:pPr>
            <a:r>
              <a:rPr dirty="0" sz="600" i="1">
                <a:solidFill>
                  <a:srgbClr val="8B8B8B"/>
                </a:solidFill>
                <a:latin typeface="Calibri"/>
                <a:cs typeface="Calibri"/>
              </a:rPr>
              <a:t>//1.</a:t>
            </a:r>
            <a:r>
              <a:rPr dirty="0" sz="600" spc="5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spc="-10" i="1">
                <a:solidFill>
                  <a:srgbClr val="8B8B8B"/>
                </a:solidFill>
                <a:latin typeface="Calibri"/>
                <a:cs typeface="Calibri"/>
              </a:rPr>
              <a:t>include</a:t>
            </a:r>
            <a:r>
              <a:rPr dirty="0" sz="600" spc="-5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i="1">
                <a:solidFill>
                  <a:srgbClr val="8B8B8B"/>
                </a:solidFill>
                <a:latin typeface="Calibri"/>
                <a:cs typeface="Calibri"/>
              </a:rPr>
              <a:t>the</a:t>
            </a:r>
            <a:r>
              <a:rPr dirty="0" sz="600" spc="-15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spc="-10" i="1">
                <a:solidFill>
                  <a:srgbClr val="8B8B8B"/>
                </a:solidFill>
                <a:latin typeface="Calibri"/>
                <a:cs typeface="Calibri"/>
              </a:rPr>
              <a:t>token</a:t>
            </a:r>
            <a:r>
              <a:rPr dirty="0" sz="600" i="1">
                <a:solidFill>
                  <a:srgbClr val="8B8B8B"/>
                </a:solidFill>
                <a:latin typeface="Calibri"/>
                <a:cs typeface="Calibri"/>
              </a:rPr>
              <a:t> value</a:t>
            </a:r>
            <a:r>
              <a:rPr dirty="0" sz="600" spc="-10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i="1">
                <a:solidFill>
                  <a:srgbClr val="8B8B8B"/>
                </a:solidFill>
                <a:latin typeface="Calibri"/>
                <a:cs typeface="Calibri"/>
              </a:rPr>
              <a:t>and</a:t>
            </a:r>
            <a:r>
              <a:rPr dirty="0" sz="600" spc="-15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i="1">
                <a:solidFill>
                  <a:srgbClr val="8B8B8B"/>
                </a:solidFill>
                <a:latin typeface="Calibri"/>
                <a:cs typeface="Calibri"/>
              </a:rPr>
              <a:t>the</a:t>
            </a:r>
            <a:r>
              <a:rPr dirty="0" sz="600" spc="-5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spc="-10" i="1">
                <a:solidFill>
                  <a:srgbClr val="8B8B8B"/>
                </a:solidFill>
                <a:latin typeface="Calibri"/>
                <a:cs typeface="Calibri"/>
              </a:rPr>
              <a:t>header</a:t>
            </a:r>
            <a:r>
              <a:rPr dirty="0" sz="600" spc="-20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spc="-10" i="1">
                <a:solidFill>
                  <a:srgbClr val="8B8B8B"/>
                </a:solidFill>
                <a:latin typeface="Calibri"/>
                <a:cs typeface="Calibri"/>
              </a:rPr>
              <a:t>name</a:t>
            </a:r>
            <a:r>
              <a:rPr dirty="0" sz="600" spc="-15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i="1">
                <a:solidFill>
                  <a:srgbClr val="8B8B8B"/>
                </a:solidFill>
                <a:latin typeface="Calibri"/>
                <a:cs typeface="Calibri"/>
              </a:rPr>
              <a:t>in</a:t>
            </a:r>
            <a:r>
              <a:rPr dirty="0" sz="600" spc="5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spc="-10" i="1">
                <a:solidFill>
                  <a:srgbClr val="8B8B8B"/>
                </a:solidFill>
                <a:latin typeface="Calibri"/>
                <a:cs typeface="Calibri"/>
              </a:rPr>
              <a:t>meta</a:t>
            </a:r>
            <a:r>
              <a:rPr dirty="0" sz="600" spc="-15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spc="-20" i="1">
                <a:solidFill>
                  <a:srgbClr val="8B8B8B"/>
                </a:solidFill>
                <a:latin typeface="Calibri"/>
                <a:cs typeface="Calibri"/>
              </a:rPr>
              <a:t>tags</a:t>
            </a:r>
            <a:endParaRPr sz="600">
              <a:latin typeface="Calibri"/>
              <a:cs typeface="Calibri"/>
            </a:endParaRPr>
          </a:p>
          <a:p>
            <a:pPr marL="44450">
              <a:lnSpc>
                <a:spcPct val="100000"/>
              </a:lnSpc>
            </a:pPr>
            <a:r>
              <a:rPr dirty="0" sz="600">
                <a:solidFill>
                  <a:srgbClr val="080808"/>
                </a:solidFill>
                <a:latin typeface="Calibri"/>
                <a:cs typeface="Calibri"/>
              </a:rPr>
              <a:t>&lt;</a:t>
            </a:r>
            <a:r>
              <a:rPr dirty="0" sz="600">
                <a:solidFill>
                  <a:srgbClr val="0033B3"/>
                </a:solidFill>
                <a:latin typeface="Calibri"/>
                <a:cs typeface="Calibri"/>
              </a:rPr>
              <a:t>meta</a:t>
            </a:r>
            <a:r>
              <a:rPr dirty="0" sz="600" spc="-30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1749D3"/>
                </a:solidFill>
                <a:latin typeface="Calibri"/>
                <a:cs typeface="Calibri"/>
              </a:rPr>
              <a:t>name</a:t>
            </a:r>
            <a:r>
              <a:rPr dirty="0" sz="600">
                <a:solidFill>
                  <a:srgbClr val="057C17"/>
                </a:solidFill>
                <a:latin typeface="Calibri"/>
                <a:cs typeface="Calibri"/>
              </a:rPr>
              <a:t>="_csrf"</a:t>
            </a:r>
            <a:r>
              <a:rPr dirty="0" sz="600" spc="-25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1749D3"/>
                </a:solidFill>
                <a:latin typeface="Calibri"/>
                <a:cs typeface="Calibri"/>
              </a:rPr>
              <a:t>content</a:t>
            </a:r>
            <a:r>
              <a:rPr dirty="0" sz="600" spc="-10">
                <a:solidFill>
                  <a:srgbClr val="057C17"/>
                </a:solidFill>
                <a:latin typeface="Calibri"/>
                <a:cs typeface="Calibri"/>
              </a:rPr>
              <a:t>="${_csrf.token}"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/&gt;</a:t>
            </a:r>
            <a:endParaRPr sz="600">
              <a:latin typeface="Calibri"/>
              <a:cs typeface="Calibri"/>
            </a:endParaRPr>
          </a:p>
          <a:p>
            <a:pPr marL="44450">
              <a:lnSpc>
                <a:spcPct val="100000"/>
              </a:lnSpc>
            </a:pPr>
            <a:r>
              <a:rPr dirty="0" sz="600">
                <a:solidFill>
                  <a:srgbClr val="080808"/>
                </a:solidFill>
                <a:latin typeface="Calibri"/>
                <a:cs typeface="Calibri"/>
              </a:rPr>
              <a:t>&lt;</a:t>
            </a:r>
            <a:r>
              <a:rPr dirty="0" sz="600">
                <a:solidFill>
                  <a:srgbClr val="0033B3"/>
                </a:solidFill>
                <a:latin typeface="Calibri"/>
                <a:cs typeface="Calibri"/>
              </a:rPr>
              <a:t>meta</a:t>
            </a:r>
            <a:r>
              <a:rPr dirty="0" sz="600" spc="4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1749D3"/>
                </a:solidFill>
                <a:latin typeface="Calibri"/>
                <a:cs typeface="Calibri"/>
              </a:rPr>
              <a:t>name</a:t>
            </a:r>
            <a:r>
              <a:rPr dirty="0" sz="600" spc="-10">
                <a:solidFill>
                  <a:srgbClr val="057C17"/>
                </a:solidFill>
                <a:latin typeface="Calibri"/>
                <a:cs typeface="Calibri"/>
              </a:rPr>
              <a:t>="_csrf_header"</a:t>
            </a:r>
            <a:r>
              <a:rPr dirty="0" sz="600" spc="60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1749D3"/>
                </a:solidFill>
                <a:latin typeface="Calibri"/>
                <a:cs typeface="Calibri"/>
              </a:rPr>
              <a:t>content</a:t>
            </a:r>
            <a:r>
              <a:rPr dirty="0" sz="600" spc="-10">
                <a:solidFill>
                  <a:srgbClr val="057C17"/>
                </a:solidFill>
                <a:latin typeface="Calibri"/>
                <a:cs typeface="Calibri"/>
              </a:rPr>
              <a:t>="${_csrf.headerName}"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/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32409" y="2948177"/>
            <a:ext cx="2216150" cy="323215"/>
          </a:xfrm>
          <a:custGeom>
            <a:avLst/>
            <a:gdLst/>
            <a:ahLst/>
            <a:cxnLst/>
            <a:rect l="l" t="t" r="r" b="b"/>
            <a:pathLst>
              <a:path w="2216150" h="323214">
                <a:moveTo>
                  <a:pt x="2215896" y="0"/>
                </a:moveTo>
                <a:lnTo>
                  <a:pt x="0" y="0"/>
                </a:lnTo>
                <a:lnTo>
                  <a:pt x="0" y="323088"/>
                </a:lnTo>
                <a:lnTo>
                  <a:pt x="2215896" y="323088"/>
                </a:lnTo>
                <a:lnTo>
                  <a:pt x="22158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232409" y="2948177"/>
            <a:ext cx="2216150" cy="323215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65"/>
              </a:spcBef>
            </a:pPr>
            <a:r>
              <a:rPr dirty="0" sz="600" i="1">
                <a:solidFill>
                  <a:srgbClr val="8B8B8B"/>
                </a:solidFill>
                <a:latin typeface="Calibri"/>
                <a:cs typeface="Calibri"/>
              </a:rPr>
              <a:t>//2. Then</a:t>
            </a:r>
            <a:r>
              <a:rPr dirty="0" sz="600" spc="-5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spc="-10" i="1">
                <a:solidFill>
                  <a:srgbClr val="8B8B8B"/>
                </a:solidFill>
                <a:latin typeface="Calibri"/>
                <a:cs typeface="Calibri"/>
              </a:rPr>
              <a:t>let’s</a:t>
            </a:r>
            <a:r>
              <a:rPr dirty="0" sz="600" spc="-5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i="1">
                <a:solidFill>
                  <a:srgbClr val="8B8B8B"/>
                </a:solidFill>
                <a:latin typeface="Calibri"/>
                <a:cs typeface="Calibri"/>
              </a:rPr>
              <a:t>retrieve the</a:t>
            </a:r>
            <a:r>
              <a:rPr dirty="0" sz="600" spc="-20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spc="-10" i="1">
                <a:solidFill>
                  <a:srgbClr val="8B8B8B"/>
                </a:solidFill>
                <a:latin typeface="Calibri"/>
                <a:cs typeface="Calibri"/>
              </a:rPr>
              <a:t>meta</a:t>
            </a:r>
            <a:r>
              <a:rPr dirty="0" sz="600" spc="-20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i="1">
                <a:solidFill>
                  <a:srgbClr val="8B8B8B"/>
                </a:solidFill>
                <a:latin typeface="Calibri"/>
                <a:cs typeface="Calibri"/>
              </a:rPr>
              <a:t>tag</a:t>
            </a:r>
            <a:r>
              <a:rPr dirty="0" sz="600" spc="-10" i="1">
                <a:solidFill>
                  <a:srgbClr val="8B8B8B"/>
                </a:solidFill>
                <a:latin typeface="Calibri"/>
                <a:cs typeface="Calibri"/>
              </a:rPr>
              <a:t> values</a:t>
            </a:r>
            <a:r>
              <a:rPr dirty="0" sz="600" spc="-15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i="1">
                <a:solidFill>
                  <a:srgbClr val="8B8B8B"/>
                </a:solidFill>
                <a:latin typeface="Calibri"/>
                <a:cs typeface="Calibri"/>
              </a:rPr>
              <a:t>with</a:t>
            </a:r>
            <a:r>
              <a:rPr dirty="0" sz="600" spc="15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spc="-10" i="1">
                <a:solidFill>
                  <a:srgbClr val="8B8B8B"/>
                </a:solidFill>
                <a:latin typeface="Calibri"/>
                <a:cs typeface="Calibri"/>
              </a:rPr>
              <a:t>JQuery:</a:t>
            </a:r>
            <a:endParaRPr sz="600">
              <a:latin typeface="Calibri"/>
              <a:cs typeface="Calibri"/>
            </a:endParaRPr>
          </a:p>
          <a:p>
            <a:pPr marL="44450">
              <a:lnSpc>
                <a:spcPct val="100000"/>
              </a:lnSpc>
            </a:pPr>
            <a:r>
              <a:rPr dirty="0" sz="600">
                <a:solidFill>
                  <a:srgbClr val="0033B3"/>
                </a:solidFill>
                <a:latin typeface="Calibri"/>
                <a:cs typeface="Calibri"/>
              </a:rPr>
              <a:t>var</a:t>
            </a:r>
            <a:r>
              <a:rPr dirty="0" sz="600" spc="-30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830091"/>
                </a:solidFill>
                <a:latin typeface="Calibri"/>
                <a:cs typeface="Calibri"/>
              </a:rPr>
              <a:t>token</a:t>
            </a:r>
            <a:r>
              <a:rPr dirty="0" sz="600" spc="-15">
                <a:solidFill>
                  <a:srgbClr val="830091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080808"/>
                </a:solidFill>
                <a:latin typeface="Calibri"/>
                <a:cs typeface="Calibri"/>
              </a:rPr>
              <a:t>=</a:t>
            </a:r>
            <a:r>
              <a:rPr dirty="0" sz="600" spc="-2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860F93"/>
                </a:solidFill>
                <a:latin typeface="Calibri"/>
                <a:cs typeface="Calibri"/>
              </a:rPr>
              <a:t>$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(</a:t>
            </a:r>
            <a:r>
              <a:rPr dirty="0" sz="600" spc="-10">
                <a:solidFill>
                  <a:srgbClr val="057C17"/>
                </a:solidFill>
                <a:latin typeface="Calibri"/>
                <a:cs typeface="Calibri"/>
              </a:rPr>
              <a:t>"</a:t>
            </a:r>
            <a:r>
              <a:rPr dirty="0" sz="600" spc="-10">
                <a:solidFill>
                  <a:srgbClr val="0033B3"/>
                </a:solidFill>
                <a:latin typeface="Calibri"/>
                <a:cs typeface="Calibri"/>
              </a:rPr>
              <a:t>meta</a:t>
            </a:r>
            <a:r>
              <a:rPr dirty="0" sz="600" spc="-10">
                <a:solidFill>
                  <a:srgbClr val="057C17"/>
                </a:solidFill>
                <a:latin typeface="Calibri"/>
                <a:cs typeface="Calibri"/>
              </a:rPr>
              <a:t>[</a:t>
            </a:r>
            <a:r>
              <a:rPr dirty="0" sz="600" spc="-10">
                <a:solidFill>
                  <a:srgbClr val="0033B3"/>
                </a:solidFill>
                <a:latin typeface="Calibri"/>
                <a:cs typeface="Calibri"/>
              </a:rPr>
              <a:t>name</a:t>
            </a:r>
            <a:r>
              <a:rPr dirty="0" sz="600" spc="-10">
                <a:solidFill>
                  <a:srgbClr val="057C17"/>
                </a:solidFill>
                <a:latin typeface="Calibri"/>
                <a:cs typeface="Calibri"/>
              </a:rPr>
              <a:t>='_csrf']"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).</a:t>
            </a:r>
            <a:r>
              <a:rPr dirty="0" sz="600" spc="-10">
                <a:solidFill>
                  <a:srgbClr val="797943"/>
                </a:solidFill>
                <a:latin typeface="Calibri"/>
                <a:cs typeface="Calibri"/>
              </a:rPr>
              <a:t>attr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(</a:t>
            </a:r>
            <a:r>
              <a:rPr dirty="0" sz="600" spc="-10">
                <a:solidFill>
                  <a:srgbClr val="057C17"/>
                </a:solidFill>
                <a:latin typeface="Calibri"/>
                <a:cs typeface="Calibri"/>
              </a:rPr>
              <a:t>"content"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);</a:t>
            </a:r>
            <a:endParaRPr sz="600">
              <a:latin typeface="Calibri"/>
              <a:cs typeface="Calibri"/>
            </a:endParaRPr>
          </a:p>
          <a:p>
            <a:pPr marL="44450">
              <a:lnSpc>
                <a:spcPct val="100000"/>
              </a:lnSpc>
            </a:pPr>
            <a:r>
              <a:rPr dirty="0" sz="600">
                <a:solidFill>
                  <a:srgbClr val="0033B3"/>
                </a:solidFill>
                <a:latin typeface="Calibri"/>
                <a:cs typeface="Calibri"/>
              </a:rPr>
              <a:t>var</a:t>
            </a:r>
            <a:r>
              <a:rPr dirty="0" sz="600" spc="-2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830091"/>
                </a:solidFill>
                <a:latin typeface="Calibri"/>
                <a:cs typeface="Calibri"/>
              </a:rPr>
              <a:t>header</a:t>
            </a:r>
            <a:r>
              <a:rPr dirty="0" sz="600" spc="-10">
                <a:solidFill>
                  <a:srgbClr val="830091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080808"/>
                </a:solidFill>
                <a:latin typeface="Calibri"/>
                <a:cs typeface="Calibri"/>
              </a:rPr>
              <a:t>=</a:t>
            </a:r>
            <a:r>
              <a:rPr dirty="0" sz="600" spc="-2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860F93"/>
                </a:solidFill>
                <a:latin typeface="Calibri"/>
                <a:cs typeface="Calibri"/>
              </a:rPr>
              <a:t>$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(</a:t>
            </a:r>
            <a:r>
              <a:rPr dirty="0" sz="600" spc="-10">
                <a:solidFill>
                  <a:srgbClr val="057C17"/>
                </a:solidFill>
                <a:latin typeface="Calibri"/>
                <a:cs typeface="Calibri"/>
              </a:rPr>
              <a:t>"</a:t>
            </a:r>
            <a:r>
              <a:rPr dirty="0" sz="600" spc="-10">
                <a:solidFill>
                  <a:srgbClr val="0033B3"/>
                </a:solidFill>
                <a:latin typeface="Calibri"/>
                <a:cs typeface="Calibri"/>
              </a:rPr>
              <a:t>meta</a:t>
            </a:r>
            <a:r>
              <a:rPr dirty="0" sz="600" spc="-10">
                <a:solidFill>
                  <a:srgbClr val="057C17"/>
                </a:solidFill>
                <a:latin typeface="Calibri"/>
                <a:cs typeface="Calibri"/>
              </a:rPr>
              <a:t>[</a:t>
            </a:r>
            <a:r>
              <a:rPr dirty="0" sz="600" spc="-10">
                <a:solidFill>
                  <a:srgbClr val="0033B3"/>
                </a:solidFill>
                <a:latin typeface="Calibri"/>
                <a:cs typeface="Calibri"/>
              </a:rPr>
              <a:t>name</a:t>
            </a:r>
            <a:r>
              <a:rPr dirty="0" sz="600" spc="-10">
                <a:solidFill>
                  <a:srgbClr val="057C17"/>
                </a:solidFill>
                <a:latin typeface="Calibri"/>
                <a:cs typeface="Calibri"/>
              </a:rPr>
              <a:t>='_csrf_header']"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).</a:t>
            </a:r>
            <a:r>
              <a:rPr dirty="0" sz="600" spc="-10">
                <a:solidFill>
                  <a:srgbClr val="797943"/>
                </a:solidFill>
                <a:latin typeface="Calibri"/>
                <a:cs typeface="Calibri"/>
              </a:rPr>
              <a:t>attr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(</a:t>
            </a:r>
            <a:r>
              <a:rPr dirty="0" sz="600" spc="-10">
                <a:solidFill>
                  <a:srgbClr val="057C17"/>
                </a:solidFill>
                <a:latin typeface="Calibri"/>
                <a:cs typeface="Calibri"/>
              </a:rPr>
              <a:t>"content"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);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2573273" y="2841497"/>
            <a:ext cx="1903730" cy="414655"/>
          </a:xfrm>
          <a:custGeom>
            <a:avLst/>
            <a:gdLst/>
            <a:ahLst/>
            <a:cxnLst/>
            <a:rect l="l" t="t" r="r" b="b"/>
            <a:pathLst>
              <a:path w="1903729" h="414654">
                <a:moveTo>
                  <a:pt x="1903476" y="0"/>
                </a:moveTo>
                <a:lnTo>
                  <a:pt x="0" y="0"/>
                </a:lnTo>
                <a:lnTo>
                  <a:pt x="0" y="414528"/>
                </a:lnTo>
                <a:lnTo>
                  <a:pt x="1903476" y="414528"/>
                </a:lnTo>
                <a:lnTo>
                  <a:pt x="19034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2573273" y="2841497"/>
            <a:ext cx="1903730" cy="414655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160"/>
              </a:spcBef>
            </a:pPr>
            <a:r>
              <a:rPr dirty="0" sz="600" i="1">
                <a:solidFill>
                  <a:srgbClr val="8B8B8B"/>
                </a:solidFill>
                <a:latin typeface="Calibri"/>
                <a:cs typeface="Calibri"/>
              </a:rPr>
              <a:t>//</a:t>
            </a:r>
            <a:r>
              <a:rPr dirty="0" sz="600" spc="-10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i="1">
                <a:solidFill>
                  <a:srgbClr val="8B8B8B"/>
                </a:solidFill>
                <a:latin typeface="Calibri"/>
                <a:cs typeface="Calibri"/>
              </a:rPr>
              <a:t>3.</a:t>
            </a:r>
            <a:r>
              <a:rPr dirty="0" sz="600" spc="-10" i="1">
                <a:solidFill>
                  <a:srgbClr val="8B8B8B"/>
                </a:solidFill>
                <a:latin typeface="Calibri"/>
                <a:cs typeface="Calibri"/>
              </a:rPr>
              <a:t> Finally,</a:t>
            </a:r>
            <a:r>
              <a:rPr dirty="0" sz="600" spc="5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spc="-10" i="1">
                <a:solidFill>
                  <a:srgbClr val="8B8B8B"/>
                </a:solidFill>
                <a:latin typeface="Calibri"/>
                <a:cs typeface="Calibri"/>
              </a:rPr>
              <a:t>let’s </a:t>
            </a:r>
            <a:r>
              <a:rPr dirty="0" sz="600" i="1">
                <a:solidFill>
                  <a:srgbClr val="8B8B8B"/>
                </a:solidFill>
                <a:latin typeface="Calibri"/>
                <a:cs typeface="Calibri"/>
              </a:rPr>
              <a:t>use</a:t>
            </a:r>
            <a:r>
              <a:rPr dirty="0" sz="600" spc="-10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i="1">
                <a:solidFill>
                  <a:srgbClr val="8B8B8B"/>
                </a:solidFill>
                <a:latin typeface="Calibri"/>
                <a:cs typeface="Calibri"/>
              </a:rPr>
              <a:t>these</a:t>
            </a:r>
            <a:r>
              <a:rPr dirty="0" sz="600" spc="-15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spc="-10" i="1">
                <a:solidFill>
                  <a:srgbClr val="8B8B8B"/>
                </a:solidFill>
                <a:latin typeface="Calibri"/>
                <a:cs typeface="Calibri"/>
              </a:rPr>
              <a:t>values</a:t>
            </a:r>
            <a:r>
              <a:rPr dirty="0" sz="600" spc="-5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i="1">
                <a:solidFill>
                  <a:srgbClr val="8B8B8B"/>
                </a:solidFill>
                <a:latin typeface="Calibri"/>
                <a:cs typeface="Calibri"/>
              </a:rPr>
              <a:t>to</a:t>
            </a:r>
            <a:r>
              <a:rPr dirty="0" sz="600" spc="-15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i="1">
                <a:solidFill>
                  <a:srgbClr val="8B8B8B"/>
                </a:solidFill>
                <a:latin typeface="Calibri"/>
                <a:cs typeface="Calibri"/>
              </a:rPr>
              <a:t>set</a:t>
            </a:r>
            <a:r>
              <a:rPr dirty="0" sz="600" spc="-5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i="1">
                <a:solidFill>
                  <a:srgbClr val="8B8B8B"/>
                </a:solidFill>
                <a:latin typeface="Calibri"/>
                <a:cs typeface="Calibri"/>
              </a:rPr>
              <a:t>our</a:t>
            </a:r>
            <a:r>
              <a:rPr dirty="0" sz="600" spc="-20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i="1">
                <a:solidFill>
                  <a:srgbClr val="8B8B8B"/>
                </a:solidFill>
                <a:latin typeface="Calibri"/>
                <a:cs typeface="Calibri"/>
              </a:rPr>
              <a:t>XHR</a:t>
            </a:r>
            <a:r>
              <a:rPr dirty="0" sz="600" spc="-5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600" spc="-10" i="1">
                <a:solidFill>
                  <a:srgbClr val="8B8B8B"/>
                </a:solidFill>
                <a:latin typeface="Calibri"/>
                <a:cs typeface="Calibri"/>
              </a:rPr>
              <a:t>header:</a:t>
            </a:r>
            <a:endParaRPr sz="600">
              <a:latin typeface="Calibri"/>
              <a:cs typeface="Calibri"/>
            </a:endParaRPr>
          </a:p>
          <a:p>
            <a:pPr marL="114935" marR="331470" indent="-70485">
              <a:lnSpc>
                <a:spcPct val="100000"/>
              </a:lnSpc>
            </a:pPr>
            <a:r>
              <a:rPr dirty="0" sz="600" spc="-10">
                <a:solidFill>
                  <a:srgbClr val="860F93"/>
                </a:solidFill>
                <a:latin typeface="Calibri"/>
                <a:cs typeface="Calibri"/>
              </a:rPr>
              <a:t>$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(</a:t>
            </a:r>
            <a:r>
              <a:rPr dirty="0" sz="600" spc="-10">
                <a:solidFill>
                  <a:srgbClr val="830091"/>
                </a:solidFill>
                <a:latin typeface="Calibri"/>
                <a:cs typeface="Calibri"/>
              </a:rPr>
              <a:t>document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).</a:t>
            </a:r>
            <a:r>
              <a:rPr dirty="0" sz="600" spc="-10">
                <a:solidFill>
                  <a:srgbClr val="797943"/>
                </a:solidFill>
                <a:latin typeface="Calibri"/>
                <a:cs typeface="Calibri"/>
              </a:rPr>
              <a:t>ajaxSend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(</a:t>
            </a:r>
            <a:r>
              <a:rPr dirty="0" sz="600" spc="-10">
                <a:solidFill>
                  <a:srgbClr val="0033B3"/>
                </a:solidFill>
                <a:latin typeface="Calibri"/>
                <a:cs typeface="Calibri"/>
              </a:rPr>
              <a:t>function</a:t>
            </a:r>
            <a:r>
              <a:rPr dirty="0" sz="600" spc="50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080808"/>
                </a:solidFill>
                <a:latin typeface="Calibri"/>
                <a:cs typeface="Calibri"/>
              </a:rPr>
              <a:t>(e,</a:t>
            </a:r>
            <a:r>
              <a:rPr dirty="0" sz="600" spc="3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600" spc="-20">
                <a:solidFill>
                  <a:srgbClr val="080808"/>
                </a:solidFill>
                <a:latin typeface="Calibri"/>
                <a:cs typeface="Calibri"/>
              </a:rPr>
              <a:t>xhr,</a:t>
            </a:r>
            <a:r>
              <a:rPr dirty="0" sz="600" spc="4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080808"/>
                </a:solidFill>
                <a:latin typeface="Calibri"/>
                <a:cs typeface="Calibri"/>
              </a:rPr>
              <a:t>options)</a:t>
            </a:r>
            <a:r>
              <a:rPr dirty="0" sz="600" spc="4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600" spc="-50">
                <a:solidFill>
                  <a:srgbClr val="080808"/>
                </a:solidFill>
                <a:latin typeface="Calibri"/>
                <a:cs typeface="Calibri"/>
              </a:rPr>
              <a:t>{</a:t>
            </a:r>
            <a:r>
              <a:rPr dirty="0" sz="600" spc="50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xhr.</a:t>
            </a:r>
            <a:r>
              <a:rPr dirty="0" sz="600" spc="-10">
                <a:solidFill>
                  <a:srgbClr val="797943"/>
                </a:solidFill>
                <a:latin typeface="Calibri"/>
                <a:cs typeface="Calibri"/>
              </a:rPr>
              <a:t>setRequestHeader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(header,</a:t>
            </a:r>
            <a:r>
              <a:rPr dirty="0" sz="600" spc="1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080808"/>
                </a:solidFill>
                <a:latin typeface="Calibri"/>
                <a:cs typeface="Calibri"/>
              </a:rPr>
              <a:t>token);</a:t>
            </a:r>
            <a:endParaRPr sz="600">
              <a:latin typeface="Calibri"/>
              <a:cs typeface="Calibri"/>
            </a:endParaRPr>
          </a:p>
          <a:p>
            <a:pPr marL="114935">
              <a:lnSpc>
                <a:spcPct val="100000"/>
              </a:lnSpc>
            </a:pPr>
            <a:r>
              <a:rPr dirty="0" sz="600" spc="-25">
                <a:solidFill>
                  <a:srgbClr val="080808"/>
                </a:solidFill>
                <a:latin typeface="Calibri"/>
                <a:cs typeface="Calibri"/>
              </a:rPr>
              <a:t>});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-203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0090" y="3326383"/>
            <a:ext cx="422275" cy="88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60"/>
              </a:lnSpc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2191" y="0"/>
            <a:ext cx="4572000" cy="3429000"/>
            <a:chOff x="12191" y="0"/>
            <a:chExt cx="4572000" cy="34290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1" y="0"/>
              <a:ext cx="4572000" cy="342899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91" y="0"/>
              <a:ext cx="4572000" cy="34899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91" y="3080003"/>
              <a:ext cx="4572000" cy="348995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357631" y="1658238"/>
            <a:ext cx="2047239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solidFill>
                  <a:srgbClr val="0066A0"/>
                </a:solidFill>
                <a:latin typeface="Calibri"/>
                <a:cs typeface="Calibri"/>
              </a:rPr>
              <a:t>Session</a:t>
            </a:r>
            <a:r>
              <a:rPr dirty="0" sz="2200" spc="-60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6A0"/>
                </a:solidFill>
                <a:latin typeface="Calibri"/>
                <a:cs typeface="Calibri"/>
              </a:rPr>
              <a:t>with</a:t>
            </a:r>
            <a:r>
              <a:rPr dirty="0" sz="2200" spc="-4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2200" spc="-20" b="1">
                <a:solidFill>
                  <a:srgbClr val="0066A0"/>
                </a:solidFill>
                <a:latin typeface="Calibri"/>
                <a:cs typeface="Calibri"/>
              </a:rPr>
              <a:t>Jdbc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38125" y="3131565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0066A0"/>
                </a:solidFill>
                <a:latin typeface="Calibri"/>
                <a:cs typeface="Calibri"/>
              </a:rPr>
              <a:t>24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-203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2246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3733" y="157099"/>
            <a:ext cx="159004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b="1">
                <a:solidFill>
                  <a:srgbClr val="0066A0"/>
                </a:solidFill>
                <a:latin typeface="Calibri"/>
                <a:cs typeface="Calibri"/>
              </a:rPr>
              <a:t>Session</a:t>
            </a:r>
            <a:r>
              <a:rPr dirty="0" sz="1700" spc="-15" b="1">
                <a:solidFill>
                  <a:srgbClr val="0066A0"/>
                </a:solidFill>
                <a:latin typeface="Calibri"/>
                <a:cs typeface="Calibri"/>
              </a:rPr>
              <a:t> </a:t>
            </a:r>
            <a:r>
              <a:rPr dirty="0" sz="1700" b="1">
                <a:solidFill>
                  <a:srgbClr val="0066A0"/>
                </a:solidFill>
                <a:latin typeface="Calibri"/>
                <a:cs typeface="Calibri"/>
              </a:rPr>
              <a:t>with</a:t>
            </a:r>
            <a:r>
              <a:rPr dirty="0" sz="1700" spc="-20" b="1">
                <a:solidFill>
                  <a:srgbClr val="0066A0"/>
                </a:solidFill>
                <a:latin typeface="Calibri"/>
                <a:cs typeface="Calibri"/>
              </a:rPr>
              <a:t> Jdbc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225544" y="329224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C000"/>
                </a:solidFill>
                <a:latin typeface="Calibri"/>
                <a:cs typeface="Calibri"/>
              </a:rPr>
              <a:t>25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-203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7390" y="3291585"/>
            <a:ext cx="447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30/11/2023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733" y="156463"/>
            <a:ext cx="1590040" cy="2851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Session</a:t>
            </a:r>
            <a:r>
              <a:rPr dirty="0" spc="-15"/>
              <a:t> </a:t>
            </a:r>
            <a:r>
              <a:rPr dirty="0"/>
              <a:t>with</a:t>
            </a:r>
            <a:r>
              <a:rPr dirty="0" spc="-20"/>
              <a:t> Jdbc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3733" y="1774316"/>
            <a:ext cx="26447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case of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preventing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second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login,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you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can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use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3733" y="362322"/>
            <a:ext cx="4373245" cy="56832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580"/>
              </a:spcBef>
            </a:pP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Configuring</a:t>
            </a:r>
            <a:r>
              <a:rPr dirty="0" sz="1100" spc="-3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Concurrent</a:t>
            </a:r>
            <a:r>
              <a:rPr dirty="0" sz="1100" spc="-3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7E7E7E"/>
                </a:solidFill>
                <a:latin typeface="Calibri"/>
                <a:cs typeface="Calibri"/>
              </a:rPr>
              <a:t>Session</a:t>
            </a:r>
            <a:r>
              <a:rPr dirty="0" sz="1100" spc="-2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100" spc="-10" b="1" i="1">
                <a:solidFill>
                  <a:srgbClr val="7E7E7E"/>
                </a:solidFill>
                <a:latin typeface="Calibri"/>
                <a:cs typeface="Calibri"/>
              </a:rPr>
              <a:t>Control</a:t>
            </a:r>
            <a:endParaRPr sz="1100">
              <a:latin typeface="Calibri"/>
              <a:cs typeface="Calibri"/>
            </a:endParaRPr>
          </a:p>
          <a:p>
            <a:pPr marL="127000" marR="5080" indent="-114935">
              <a:lnSpc>
                <a:spcPct val="70000"/>
              </a:lnSpc>
              <a:spcBef>
                <a:spcPts val="790"/>
              </a:spcBef>
            </a:pPr>
            <a:r>
              <a:rPr dirty="0" sz="10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000" spc="50">
                <a:solidFill>
                  <a:srgbClr val="0066A0"/>
                </a:solidFill>
                <a:latin typeface="Cambria Math"/>
                <a:cs typeface="Cambria Math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prevent</a:t>
            </a:r>
            <a:r>
              <a:rPr dirty="0" sz="1000" spc="7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7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user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from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logging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multiple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times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-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second</a:t>
            </a:r>
            <a:r>
              <a:rPr dirty="0" sz="1000" spc="8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login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will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cause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the</a:t>
            </a:r>
            <a:r>
              <a:rPr dirty="0" sz="1000">
                <a:latin typeface="Calibri"/>
                <a:cs typeface="Calibri"/>
              </a:rPr>
              <a:t> first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be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invalidated.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3733" y="2284856"/>
            <a:ext cx="4374515" cy="71120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just" marL="127000" marR="5080" indent="-114935">
              <a:lnSpc>
                <a:spcPct val="70000"/>
              </a:lnSpc>
              <a:spcBef>
                <a:spcPts val="455"/>
              </a:spcBef>
            </a:pPr>
            <a:r>
              <a:rPr dirty="0" sz="1000">
                <a:solidFill>
                  <a:srgbClr val="0066A0"/>
                </a:solidFill>
                <a:latin typeface="Cambria Math"/>
                <a:cs typeface="Cambria Math"/>
              </a:rPr>
              <a:t>▸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second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login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will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then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be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rejected.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By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"rejected",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we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mean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that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user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will </a:t>
            </a:r>
            <a:r>
              <a:rPr dirty="0" sz="1000">
                <a:latin typeface="Calibri"/>
                <a:cs typeface="Calibri"/>
              </a:rPr>
              <a:t>be</a:t>
            </a:r>
            <a:r>
              <a:rPr dirty="0" sz="1000" spc="9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sent</a:t>
            </a:r>
            <a:r>
              <a:rPr dirty="0" sz="1000" spc="10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10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9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authentication-failure-</a:t>
            </a:r>
            <a:r>
              <a:rPr dirty="0" sz="1000">
                <a:latin typeface="Calibri"/>
                <a:cs typeface="Calibri"/>
              </a:rPr>
              <a:t>url</a:t>
            </a:r>
            <a:r>
              <a:rPr dirty="0" sz="1000" spc="10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if</a:t>
            </a:r>
            <a:r>
              <a:rPr dirty="0" sz="1000" spc="10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form-</a:t>
            </a:r>
            <a:r>
              <a:rPr dirty="0" sz="1000">
                <a:latin typeface="Calibri"/>
                <a:cs typeface="Calibri"/>
              </a:rPr>
              <a:t>based</a:t>
            </a:r>
            <a:r>
              <a:rPr dirty="0" sz="1000" spc="10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login</a:t>
            </a:r>
            <a:r>
              <a:rPr dirty="0" sz="1000" spc="10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is</a:t>
            </a:r>
            <a:r>
              <a:rPr dirty="0" sz="1000" spc="9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being</a:t>
            </a:r>
            <a:r>
              <a:rPr dirty="0" sz="1000" spc="10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used.</a:t>
            </a:r>
            <a:r>
              <a:rPr dirty="0" sz="1000" spc="9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If</a:t>
            </a:r>
            <a:r>
              <a:rPr dirty="0" sz="1000" spc="9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the</a:t>
            </a:r>
            <a:r>
              <a:rPr dirty="0" sz="1000">
                <a:latin typeface="Calibri"/>
                <a:cs typeface="Calibri"/>
              </a:rPr>
              <a:t> second</a:t>
            </a:r>
            <a:r>
              <a:rPr dirty="0" sz="1000" spc="10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authentication</a:t>
            </a:r>
            <a:r>
              <a:rPr dirty="0" sz="1000" spc="114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takes</a:t>
            </a:r>
            <a:r>
              <a:rPr dirty="0" sz="1000" spc="9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place</a:t>
            </a:r>
            <a:r>
              <a:rPr dirty="0" sz="1000" spc="10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through</a:t>
            </a:r>
            <a:r>
              <a:rPr dirty="0" sz="1000" spc="9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another</a:t>
            </a:r>
            <a:r>
              <a:rPr dirty="0" sz="1000" spc="11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non-</a:t>
            </a:r>
            <a:r>
              <a:rPr dirty="0" sz="1000">
                <a:latin typeface="Calibri"/>
                <a:cs typeface="Calibri"/>
              </a:rPr>
              <a:t>interactive</a:t>
            </a:r>
            <a:r>
              <a:rPr dirty="0" sz="1000" spc="10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mechanism, </a:t>
            </a:r>
            <a:r>
              <a:rPr dirty="0" sz="1000">
                <a:latin typeface="Calibri"/>
                <a:cs typeface="Calibri"/>
              </a:rPr>
              <a:t>such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as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"remember-</a:t>
            </a:r>
            <a:r>
              <a:rPr dirty="0" sz="1000">
                <a:latin typeface="Calibri"/>
                <a:cs typeface="Calibri"/>
              </a:rPr>
              <a:t>me",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"unauthorized"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(401)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error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will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be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sent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client. </a:t>
            </a:r>
            <a:r>
              <a:rPr dirty="0" sz="1000">
                <a:latin typeface="Calibri"/>
                <a:cs typeface="Calibri"/>
              </a:rPr>
              <a:t>If</a:t>
            </a:r>
            <a:r>
              <a:rPr dirty="0" sz="1000" spc="17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instead</a:t>
            </a:r>
            <a:r>
              <a:rPr dirty="0" sz="1000" spc="19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you</a:t>
            </a:r>
            <a:r>
              <a:rPr dirty="0" sz="1000" spc="1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want</a:t>
            </a:r>
            <a:r>
              <a:rPr dirty="0" sz="1000" spc="1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1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use</a:t>
            </a:r>
            <a:r>
              <a:rPr dirty="0" sz="1000" spc="1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</a:t>
            </a:r>
            <a:r>
              <a:rPr dirty="0" sz="1000" spc="1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error</a:t>
            </a:r>
            <a:r>
              <a:rPr dirty="0" sz="1000" spc="1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page,</a:t>
            </a:r>
            <a:r>
              <a:rPr dirty="0" sz="1000" spc="1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you</a:t>
            </a:r>
            <a:r>
              <a:rPr dirty="0" sz="1000" spc="1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can</a:t>
            </a:r>
            <a:r>
              <a:rPr dirty="0" sz="1000" spc="19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add</a:t>
            </a:r>
            <a:r>
              <a:rPr dirty="0" sz="1000" spc="19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17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attribute</a:t>
            </a:r>
            <a:r>
              <a:rPr dirty="0" sz="1000" spc="19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session- authentication-error-</a:t>
            </a:r>
            <a:r>
              <a:rPr dirty="0" sz="1000">
                <a:latin typeface="Calibri"/>
                <a:cs typeface="Calibri"/>
              </a:rPr>
              <a:t>url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 </a:t>
            </a:r>
            <a:r>
              <a:rPr dirty="0" sz="1000" spc="-10">
                <a:latin typeface="Calibri"/>
                <a:cs typeface="Calibri"/>
              </a:rPr>
              <a:t>session-</a:t>
            </a:r>
            <a:r>
              <a:rPr dirty="0" sz="1000">
                <a:latin typeface="Calibri"/>
                <a:cs typeface="Calibri"/>
              </a:rPr>
              <a:t>management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element.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225544" y="3291585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C000"/>
                </a:solidFill>
                <a:latin typeface="Calibri"/>
                <a:cs typeface="Calibri"/>
              </a:rPr>
              <a:t>26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584454" y="912113"/>
            <a:ext cx="3548379" cy="906780"/>
          </a:xfrm>
          <a:custGeom>
            <a:avLst/>
            <a:gdLst/>
            <a:ahLst/>
            <a:cxnLst/>
            <a:rect l="l" t="t" r="r" b="b"/>
            <a:pathLst>
              <a:path w="3548379" h="906780">
                <a:moveTo>
                  <a:pt x="3547872" y="0"/>
                </a:moveTo>
                <a:lnTo>
                  <a:pt x="0" y="0"/>
                </a:lnTo>
                <a:lnTo>
                  <a:pt x="0" y="906779"/>
                </a:lnTo>
                <a:lnTo>
                  <a:pt x="3547872" y="906779"/>
                </a:lnTo>
                <a:lnTo>
                  <a:pt x="35478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904875" y="1300733"/>
            <a:ext cx="911860" cy="12509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30"/>
              </a:lnSpc>
            </a:pPr>
            <a:r>
              <a:rPr dirty="0" sz="800" spc="-10">
                <a:solidFill>
                  <a:srgbClr val="080808"/>
                </a:solidFill>
                <a:latin typeface="Calibri"/>
                <a:cs typeface="Calibri"/>
              </a:rPr>
              <a:t>.maximumSessions(</a:t>
            </a:r>
            <a:r>
              <a:rPr dirty="0" sz="800" spc="-10">
                <a:solidFill>
                  <a:srgbClr val="1750EB"/>
                </a:solidFill>
                <a:latin typeface="Calibri"/>
                <a:cs typeface="Calibri"/>
              </a:rPr>
              <a:t>1</a:t>
            </a:r>
            <a:r>
              <a:rPr dirty="0" sz="800" spc="-10">
                <a:solidFill>
                  <a:srgbClr val="080808"/>
                </a:solidFill>
                <a:latin typeface="Calibri"/>
                <a:cs typeface="Calibri"/>
              </a:rPr>
              <a:t>)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84454" y="912113"/>
            <a:ext cx="3548379" cy="906780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50"/>
              </a:spcBef>
            </a:pPr>
            <a:r>
              <a:rPr dirty="0" sz="800" spc="-10">
                <a:solidFill>
                  <a:srgbClr val="9E870D"/>
                </a:solidFill>
                <a:latin typeface="Calibri"/>
                <a:cs typeface="Calibri"/>
              </a:rPr>
              <a:t>@Bean</a:t>
            </a:r>
            <a:endParaRPr sz="800">
              <a:latin typeface="Calibri"/>
              <a:cs typeface="Calibri"/>
            </a:endParaRPr>
          </a:p>
          <a:p>
            <a:pPr marL="135890" marR="72390" indent="-91440">
              <a:lnSpc>
                <a:spcPct val="100000"/>
              </a:lnSpc>
            </a:pPr>
            <a:r>
              <a:rPr dirty="0" sz="800" spc="-10">
                <a:solidFill>
                  <a:srgbClr val="0033B3"/>
                </a:solidFill>
                <a:latin typeface="Calibri"/>
                <a:cs typeface="Calibri"/>
              </a:rPr>
              <a:t>public</a:t>
            </a:r>
            <a:r>
              <a:rPr dirty="0" sz="800" spc="1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SecurityFilterChain</a:t>
            </a:r>
            <a:r>
              <a:rPr dirty="0" sz="800" spc="30"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006179"/>
                </a:solidFill>
                <a:latin typeface="Calibri"/>
                <a:cs typeface="Calibri"/>
              </a:rPr>
              <a:t>filterChain_Session</a:t>
            </a:r>
            <a:r>
              <a:rPr dirty="0" sz="800" spc="-10">
                <a:solidFill>
                  <a:srgbClr val="080808"/>
                </a:solidFill>
                <a:latin typeface="Calibri"/>
                <a:cs typeface="Calibri"/>
              </a:rPr>
              <a:t>(</a:t>
            </a:r>
            <a:r>
              <a:rPr dirty="0" sz="800" spc="-10">
                <a:latin typeface="Calibri"/>
                <a:cs typeface="Calibri"/>
              </a:rPr>
              <a:t>HttpSecurity</a:t>
            </a:r>
            <a:r>
              <a:rPr dirty="0" sz="800" spc="80"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080808"/>
                </a:solidFill>
                <a:latin typeface="Calibri"/>
                <a:cs typeface="Calibri"/>
              </a:rPr>
              <a:t>http)</a:t>
            </a:r>
            <a:r>
              <a:rPr dirty="0" sz="800" spc="3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0033B3"/>
                </a:solidFill>
                <a:latin typeface="Calibri"/>
                <a:cs typeface="Calibri"/>
              </a:rPr>
              <a:t>throws</a:t>
            </a:r>
            <a:r>
              <a:rPr dirty="0" sz="800" spc="5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Exception</a:t>
            </a:r>
            <a:r>
              <a:rPr dirty="0" sz="800" spc="40"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080808"/>
                </a:solidFill>
                <a:latin typeface="Calibri"/>
                <a:cs typeface="Calibri"/>
              </a:rPr>
              <a:t>{</a:t>
            </a:r>
            <a:r>
              <a:rPr dirty="0" sz="800" spc="50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080808"/>
                </a:solidFill>
                <a:latin typeface="Calibri"/>
                <a:cs typeface="Calibri"/>
              </a:rPr>
              <a:t>http.sessionManagement()</a:t>
            </a:r>
            <a:endParaRPr sz="800">
              <a:latin typeface="Calibri"/>
              <a:cs typeface="Calibri"/>
            </a:endParaRPr>
          </a:p>
          <a:p>
            <a:pPr marL="135890">
              <a:lnSpc>
                <a:spcPct val="100000"/>
              </a:lnSpc>
              <a:spcBef>
                <a:spcPts val="960"/>
              </a:spcBef>
            </a:pPr>
            <a:r>
              <a:rPr dirty="0" sz="800" spc="-50">
                <a:solidFill>
                  <a:srgbClr val="080808"/>
                </a:solidFill>
                <a:latin typeface="Calibri"/>
                <a:cs typeface="Calibri"/>
              </a:rPr>
              <a:t>;</a:t>
            </a:r>
            <a:endParaRPr sz="800">
              <a:latin typeface="Calibri"/>
              <a:cs typeface="Calibri"/>
            </a:endParaRPr>
          </a:p>
          <a:p>
            <a:pPr marL="135890">
              <a:lnSpc>
                <a:spcPct val="100000"/>
              </a:lnSpc>
            </a:pPr>
            <a:r>
              <a:rPr dirty="0" sz="800">
                <a:solidFill>
                  <a:srgbClr val="0033B3"/>
                </a:solidFill>
                <a:latin typeface="Calibri"/>
                <a:cs typeface="Calibri"/>
              </a:rPr>
              <a:t>return</a:t>
            </a:r>
            <a:r>
              <a:rPr dirty="0" sz="800" spc="-2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080808"/>
                </a:solidFill>
                <a:latin typeface="Calibri"/>
                <a:cs typeface="Calibri"/>
              </a:rPr>
              <a:t>http.build();</a:t>
            </a:r>
            <a:endParaRPr sz="800">
              <a:latin typeface="Calibri"/>
              <a:cs typeface="Calibri"/>
            </a:endParaRPr>
          </a:p>
          <a:p>
            <a:pPr marL="44450">
              <a:lnSpc>
                <a:spcPct val="100000"/>
              </a:lnSpc>
              <a:spcBef>
                <a:spcPts val="15"/>
              </a:spcBef>
            </a:pPr>
            <a:r>
              <a:rPr dirty="0" sz="800" spc="-50">
                <a:solidFill>
                  <a:srgbClr val="080808"/>
                </a:solidFill>
                <a:latin typeface="Calibri"/>
                <a:cs typeface="Calibri"/>
              </a:rPr>
              <a:t>}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14805" y="1995677"/>
            <a:ext cx="1466215" cy="292735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16510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130"/>
              </a:spcBef>
            </a:pPr>
            <a:r>
              <a:rPr dirty="0" sz="800" i="1">
                <a:solidFill>
                  <a:srgbClr val="8B8B8B"/>
                </a:solidFill>
                <a:latin typeface="Calibri"/>
                <a:cs typeface="Calibri"/>
              </a:rPr>
              <a:t>//to </a:t>
            </a:r>
            <a:r>
              <a:rPr dirty="0" sz="800" spc="-10" i="1">
                <a:solidFill>
                  <a:srgbClr val="8B8B8B"/>
                </a:solidFill>
                <a:latin typeface="Calibri"/>
                <a:cs typeface="Calibri"/>
              </a:rPr>
              <a:t>prevent</a:t>
            </a:r>
            <a:r>
              <a:rPr dirty="0" sz="800" i="1">
                <a:solidFill>
                  <a:srgbClr val="8B8B8B"/>
                </a:solidFill>
                <a:latin typeface="Calibri"/>
                <a:cs typeface="Calibri"/>
              </a:rPr>
              <a:t> a </a:t>
            </a:r>
            <a:r>
              <a:rPr dirty="0" sz="800" spc="-10" i="1">
                <a:solidFill>
                  <a:srgbClr val="8B8B8B"/>
                </a:solidFill>
                <a:latin typeface="Calibri"/>
                <a:cs typeface="Calibri"/>
              </a:rPr>
              <a:t>second</a:t>
            </a:r>
            <a:r>
              <a:rPr dirty="0" sz="800" spc="5" i="1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8B8B8B"/>
                </a:solidFill>
                <a:latin typeface="Calibri"/>
                <a:cs typeface="Calibri"/>
              </a:rPr>
              <a:t>login</a:t>
            </a:r>
            <a:endParaRPr sz="800">
              <a:latin typeface="Calibri"/>
              <a:cs typeface="Calibri"/>
            </a:endParaRPr>
          </a:p>
          <a:p>
            <a:pPr marL="45085">
              <a:lnSpc>
                <a:spcPct val="100000"/>
              </a:lnSpc>
              <a:spcBef>
                <a:spcPts val="10"/>
              </a:spcBef>
            </a:pPr>
            <a:r>
              <a:rPr dirty="0" sz="800" spc="-10">
                <a:solidFill>
                  <a:srgbClr val="080808"/>
                </a:solidFill>
                <a:latin typeface="Calibri"/>
                <a:cs typeface="Calibri"/>
              </a:rPr>
              <a:t>.maxSessionsPreventsLogin(</a:t>
            </a:r>
            <a:r>
              <a:rPr dirty="0" sz="800" spc="-10">
                <a:solidFill>
                  <a:srgbClr val="0033B3"/>
                </a:solidFill>
                <a:latin typeface="Calibri"/>
                <a:cs typeface="Calibri"/>
              </a:rPr>
              <a:t>true</a:t>
            </a:r>
            <a:r>
              <a:rPr dirty="0" sz="800" spc="-10">
                <a:solidFill>
                  <a:srgbClr val="080808"/>
                </a:solidFill>
                <a:latin typeface="Calibri"/>
                <a:cs typeface="Calibri"/>
              </a:rPr>
              <a:t>)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-203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Vo Van Hai</dc:creator>
  <dc:title>PowerPoint Presentation</dc:title>
  <dcterms:created xsi:type="dcterms:W3CDTF">2023-12-21T16:08:09Z</dcterms:created>
  <dcterms:modified xsi:type="dcterms:W3CDTF">2023-12-21T16:08:09Z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2023-11-30T00:00:00Z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2023-12-21T00:00:00Z</vt:filetime>
  </property>
  <property fmtid="{D5CDD505-2E9C-101B-9397-08002B2CF9AE}" pid="5" name="Producer">
    <vt:lpwstr>Microsoft® PowerPoint® for Microsoft 365</vt:lpwstr>
  </property>
</Properties>
</file>