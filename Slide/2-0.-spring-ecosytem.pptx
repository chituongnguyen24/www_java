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4572000" cy="3632200"/>
  <p:notesSz cx="4572000" cy="3632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599" y="117093"/>
            <a:ext cx="227584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6752" y="2030476"/>
            <a:ext cx="3204845" cy="906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8917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57850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271" y="117093"/>
            <a:ext cx="4289806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599" y="625550"/>
            <a:ext cx="3879850" cy="2032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56639" y="3372040"/>
            <a:ext cx="1465072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8917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96412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vovanhai@iuh.edu.v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pring.io/projects" TargetMode="Externa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docs.spring.io/spring-framework/docs/6.0.6/reference/html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://www.springframework.org/schema/beans" TargetMode="External"/><Relationship Id="rId4" Type="http://schemas.openxmlformats.org/officeDocument/2006/relationships/hyperlink" Target="http://www.w3.org/2001/XMLSchema-instance" TargetMode="External"/><Relationship Id="rId5" Type="http://schemas.openxmlformats.org/officeDocument/2006/relationships/hyperlink" Target="http://www.springframework.org/schema/" TargetMode="External"/><Relationship Id="rId6" Type="http://schemas.openxmlformats.org/officeDocument/2006/relationships/hyperlink" Target="http://www.springframework.org/schema/beans/spring-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jpg"/><Relationship Id="rId7" Type="http://schemas.openxmlformats.org/officeDocument/2006/relationships/image" Target="../media/image30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588" y="1238250"/>
            <a:ext cx="276796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3A3A3A"/>
                </a:solidFill>
                <a:latin typeface="Calibri"/>
                <a:cs typeface="Calibri"/>
              </a:rPr>
              <a:t>Spring</a:t>
            </a:r>
            <a:r>
              <a:rPr dirty="0" sz="3000" spc="-35" b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3A3A3A"/>
                </a:solidFill>
                <a:latin typeface="Calibri"/>
                <a:cs typeface="Calibri"/>
              </a:rPr>
              <a:t>ecosystem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0580" y="1740292"/>
            <a:ext cx="1371600" cy="4794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Hai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vovanhai@iuh.edu.vn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7009" y="194817"/>
            <a:ext cx="3213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https://docs.spring.io/spring-framework/docs/6.0.6/reference/html/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Introduction</a:t>
            </a:r>
            <a:endParaRPr sz="22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925" rIns="0" bIns="0" rtlCol="0" vert="horz">
            <a:spAutoFit/>
          </a:bodyPr>
          <a:lstStyle/>
          <a:p>
            <a:pPr algn="just" marL="125730" marR="5080" indent="-113664">
              <a:lnSpc>
                <a:spcPct val="90000"/>
              </a:lnSpc>
              <a:spcBef>
                <a:spcPts val="275"/>
              </a:spcBef>
              <a:buFont typeface="Arial"/>
              <a:buChar char="•"/>
              <a:tabLst>
                <a:tab pos="127000" algn="l"/>
              </a:tabLst>
            </a:pPr>
            <a:r>
              <a:rPr dirty="0"/>
              <a:t>The</a:t>
            </a:r>
            <a:r>
              <a:rPr dirty="0" spc="310"/>
              <a:t> </a:t>
            </a:r>
            <a:r>
              <a:rPr dirty="0"/>
              <a:t>Spring</a:t>
            </a:r>
            <a:r>
              <a:rPr dirty="0" spc="320"/>
              <a:t> </a:t>
            </a:r>
            <a:r>
              <a:rPr dirty="0"/>
              <a:t>ecosystem</a:t>
            </a:r>
            <a:r>
              <a:rPr dirty="0" spc="315"/>
              <a:t> </a:t>
            </a:r>
            <a:r>
              <a:rPr dirty="0"/>
              <a:t>provides</a:t>
            </a:r>
            <a:r>
              <a:rPr dirty="0" spc="325"/>
              <a:t> </a:t>
            </a:r>
            <a:r>
              <a:rPr dirty="0"/>
              <a:t>a</a:t>
            </a:r>
            <a:r>
              <a:rPr dirty="0" spc="320"/>
              <a:t> </a:t>
            </a:r>
            <a:r>
              <a:rPr dirty="0" spc="-10"/>
              <a:t>comprehensive </a:t>
            </a:r>
            <a:r>
              <a:rPr dirty="0" spc="-10"/>
              <a:t>	</a:t>
            </a:r>
            <a:r>
              <a:rPr dirty="0"/>
              <a:t>programming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75"/>
              <a:t> </a:t>
            </a:r>
            <a:r>
              <a:rPr dirty="0"/>
              <a:t>configuration</a:t>
            </a:r>
            <a:r>
              <a:rPr dirty="0" spc="80"/>
              <a:t> </a:t>
            </a:r>
            <a:r>
              <a:rPr dirty="0"/>
              <a:t>model</a:t>
            </a:r>
            <a:r>
              <a:rPr dirty="0" spc="70"/>
              <a:t> </a:t>
            </a:r>
            <a:r>
              <a:rPr dirty="0"/>
              <a:t>for</a:t>
            </a:r>
            <a:r>
              <a:rPr dirty="0" spc="75"/>
              <a:t> </a:t>
            </a:r>
            <a:r>
              <a:rPr dirty="0" spc="-10"/>
              <a:t>modern </a:t>
            </a:r>
            <a:r>
              <a:rPr dirty="0" spc="-10"/>
              <a:t>	</a:t>
            </a:r>
            <a:r>
              <a:rPr dirty="0" spc="-25"/>
              <a:t>Java-</a:t>
            </a:r>
            <a:r>
              <a:rPr dirty="0"/>
              <a:t>based</a:t>
            </a:r>
            <a:r>
              <a:rPr dirty="0" spc="310"/>
              <a:t>  </a:t>
            </a:r>
            <a:r>
              <a:rPr dirty="0"/>
              <a:t>enterprise</a:t>
            </a:r>
            <a:r>
              <a:rPr dirty="0" spc="315"/>
              <a:t>  </a:t>
            </a:r>
            <a:r>
              <a:rPr dirty="0"/>
              <a:t>applications</a:t>
            </a:r>
            <a:r>
              <a:rPr dirty="0" spc="310"/>
              <a:t>  </a:t>
            </a:r>
            <a:r>
              <a:rPr dirty="0"/>
              <a:t>-</a:t>
            </a:r>
            <a:r>
              <a:rPr dirty="0" spc="315"/>
              <a:t>  </a:t>
            </a:r>
            <a:r>
              <a:rPr dirty="0"/>
              <a:t>on</a:t>
            </a:r>
            <a:r>
              <a:rPr dirty="0" spc="310"/>
              <a:t>  </a:t>
            </a:r>
            <a:r>
              <a:rPr dirty="0" spc="-25"/>
              <a:t>any </a:t>
            </a:r>
            <a:r>
              <a:rPr dirty="0" spc="-25"/>
              <a:t>	</a:t>
            </a:r>
            <a:r>
              <a:rPr dirty="0" spc="-10"/>
              <a:t>deployment platform.</a:t>
            </a:r>
          </a:p>
          <a:p>
            <a:pPr algn="just" marL="125730" marR="5080" indent="-113664">
              <a:lnSpc>
                <a:spcPts val="1510"/>
              </a:lnSpc>
              <a:spcBef>
                <a:spcPts val="525"/>
              </a:spcBef>
              <a:buFont typeface="Arial"/>
              <a:buChar char="•"/>
              <a:tabLst>
                <a:tab pos="127000" algn="l"/>
              </a:tabLst>
            </a:pPr>
            <a:r>
              <a:rPr dirty="0"/>
              <a:t>A</a:t>
            </a:r>
            <a:r>
              <a:rPr dirty="0" spc="-15"/>
              <a:t> </a:t>
            </a:r>
            <a:r>
              <a:rPr dirty="0"/>
              <a:t>key</a:t>
            </a:r>
            <a:r>
              <a:rPr dirty="0" spc="-15"/>
              <a:t> </a:t>
            </a:r>
            <a:r>
              <a:rPr dirty="0"/>
              <a:t>element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Spring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 spc="-10"/>
              <a:t>infrastructural</a:t>
            </a:r>
            <a:r>
              <a:rPr dirty="0" spc="-15"/>
              <a:t> </a:t>
            </a:r>
            <a:r>
              <a:rPr dirty="0"/>
              <a:t>support</a:t>
            </a:r>
            <a:r>
              <a:rPr dirty="0" spc="-20"/>
              <a:t> </a:t>
            </a:r>
            <a:r>
              <a:rPr dirty="0" spc="-25"/>
              <a:t>at </a:t>
            </a:r>
            <a:r>
              <a:rPr dirty="0" spc="-25"/>
              <a:t>	</a:t>
            </a:r>
            <a:r>
              <a:rPr dirty="0"/>
              <a:t>the</a:t>
            </a:r>
            <a:r>
              <a:rPr dirty="0" spc="229"/>
              <a:t>  </a:t>
            </a:r>
            <a:r>
              <a:rPr dirty="0"/>
              <a:t>application</a:t>
            </a:r>
            <a:r>
              <a:rPr dirty="0" spc="240"/>
              <a:t>  </a:t>
            </a:r>
            <a:r>
              <a:rPr dirty="0"/>
              <a:t>level:</a:t>
            </a:r>
            <a:r>
              <a:rPr dirty="0" spc="229"/>
              <a:t>  </a:t>
            </a:r>
            <a:r>
              <a:rPr dirty="0"/>
              <a:t>Spring</a:t>
            </a:r>
            <a:r>
              <a:rPr dirty="0" spc="229"/>
              <a:t>  </a:t>
            </a:r>
            <a:r>
              <a:rPr dirty="0"/>
              <a:t>focuses</a:t>
            </a:r>
            <a:r>
              <a:rPr dirty="0" spc="235"/>
              <a:t>  </a:t>
            </a:r>
            <a:r>
              <a:rPr dirty="0"/>
              <a:t>on</a:t>
            </a:r>
            <a:r>
              <a:rPr dirty="0" spc="235"/>
              <a:t>  </a:t>
            </a:r>
            <a:r>
              <a:rPr dirty="0" spc="-25"/>
              <a:t>the </a:t>
            </a:r>
            <a:r>
              <a:rPr dirty="0" spc="-25"/>
              <a:t>	</a:t>
            </a:r>
            <a:r>
              <a:rPr dirty="0" spc="-10"/>
              <a:t>"plumbing"</a:t>
            </a:r>
            <a:r>
              <a:rPr dirty="0" spc="-5"/>
              <a:t> </a:t>
            </a:r>
            <a:r>
              <a:rPr dirty="0"/>
              <a:t>of </a:t>
            </a:r>
            <a:r>
              <a:rPr dirty="0" spc="-10"/>
              <a:t>enterprise</a:t>
            </a:r>
            <a:r>
              <a:rPr dirty="0" spc="5"/>
              <a:t> </a:t>
            </a:r>
            <a:r>
              <a:rPr dirty="0" spc="-10"/>
              <a:t>applications</a:t>
            </a:r>
            <a:r>
              <a:rPr dirty="0"/>
              <a:t> so that</a:t>
            </a:r>
            <a:r>
              <a:rPr dirty="0" spc="-5"/>
              <a:t> </a:t>
            </a:r>
            <a:r>
              <a:rPr dirty="0" spc="-10"/>
              <a:t>teams </a:t>
            </a:r>
            <a:r>
              <a:rPr dirty="0" spc="-10"/>
              <a:t>	</a:t>
            </a:r>
            <a:r>
              <a:rPr dirty="0"/>
              <a:t>can</a:t>
            </a:r>
            <a:r>
              <a:rPr dirty="0" spc="235"/>
              <a:t>  </a:t>
            </a:r>
            <a:r>
              <a:rPr dirty="0"/>
              <a:t>focus</a:t>
            </a:r>
            <a:r>
              <a:rPr dirty="0" spc="229"/>
              <a:t>  </a:t>
            </a:r>
            <a:r>
              <a:rPr dirty="0"/>
              <a:t>on</a:t>
            </a:r>
            <a:r>
              <a:rPr dirty="0" spc="229"/>
              <a:t>  </a:t>
            </a:r>
            <a:r>
              <a:rPr dirty="0" spc="-10"/>
              <a:t>application-</a:t>
            </a:r>
            <a:r>
              <a:rPr dirty="0"/>
              <a:t>level</a:t>
            </a:r>
            <a:r>
              <a:rPr dirty="0" spc="235"/>
              <a:t>  </a:t>
            </a:r>
            <a:r>
              <a:rPr dirty="0"/>
              <a:t>business</a:t>
            </a:r>
            <a:r>
              <a:rPr dirty="0" spc="229"/>
              <a:t>  </a:t>
            </a:r>
            <a:r>
              <a:rPr dirty="0" spc="-10"/>
              <a:t>logic, </a:t>
            </a:r>
            <a:r>
              <a:rPr dirty="0" spc="-10"/>
              <a:t>	</a:t>
            </a:r>
            <a:r>
              <a:rPr dirty="0"/>
              <a:t>without</a:t>
            </a:r>
            <a:r>
              <a:rPr dirty="0" spc="340"/>
              <a:t> </a:t>
            </a:r>
            <a:r>
              <a:rPr dirty="0"/>
              <a:t>unnecessary</a:t>
            </a:r>
            <a:r>
              <a:rPr dirty="0" spc="335"/>
              <a:t> </a:t>
            </a:r>
            <a:r>
              <a:rPr dirty="0"/>
              <a:t>ties</a:t>
            </a:r>
            <a:r>
              <a:rPr dirty="0" spc="345"/>
              <a:t> </a:t>
            </a:r>
            <a:r>
              <a:rPr dirty="0"/>
              <a:t>to</a:t>
            </a:r>
            <a:r>
              <a:rPr dirty="0" spc="345"/>
              <a:t> </a:t>
            </a:r>
            <a:r>
              <a:rPr dirty="0"/>
              <a:t>specific</a:t>
            </a:r>
            <a:r>
              <a:rPr dirty="0" spc="345"/>
              <a:t> </a:t>
            </a:r>
            <a:r>
              <a:rPr dirty="0" spc="-10"/>
              <a:t>deployment 	environments.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40"/>
              <a:t> </a:t>
            </a:r>
            <a:r>
              <a:rPr dirty="0" sz="2200" spc="-10"/>
              <a:t>Projects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583533"/>
            <a:ext cx="2823845" cy="53721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430"/>
              </a:spcBef>
              <a:buClr>
                <a:srgbClr val="000000"/>
              </a:buClr>
              <a:buFont typeface="Arial"/>
              <a:buChar char="•"/>
              <a:tabLst>
                <a:tab pos="126364" algn="l"/>
              </a:tabLst>
            </a:pP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https://spring.io/projects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Consists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23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(March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2023):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4666" y="1231442"/>
              <a:ext cx="993108" cy="203445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079371" y="1206245"/>
              <a:ext cx="1542415" cy="2075814"/>
            </a:xfrm>
            <a:custGeom>
              <a:avLst/>
              <a:gdLst/>
              <a:ahLst/>
              <a:cxnLst/>
              <a:rect l="l" t="t" r="r" b="b"/>
              <a:pathLst>
                <a:path w="1542414" h="2075814">
                  <a:moveTo>
                    <a:pt x="0" y="2075814"/>
                  </a:moveTo>
                  <a:lnTo>
                    <a:pt x="1542415" y="2075814"/>
                  </a:lnTo>
                  <a:lnTo>
                    <a:pt x="1542415" y="0"/>
                  </a:lnTo>
                  <a:lnTo>
                    <a:pt x="0" y="0"/>
                  </a:lnTo>
                  <a:lnTo>
                    <a:pt x="0" y="207581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120139"/>
              <a:ext cx="1449324" cy="221740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78587" y="1117853"/>
              <a:ext cx="1454150" cy="2231390"/>
            </a:xfrm>
            <a:custGeom>
              <a:avLst/>
              <a:gdLst/>
              <a:ahLst/>
              <a:cxnLst/>
              <a:rect l="l" t="t" r="r" b="b"/>
              <a:pathLst>
                <a:path w="1454150" h="2231390">
                  <a:moveTo>
                    <a:pt x="0" y="2231262"/>
                  </a:moveTo>
                  <a:lnTo>
                    <a:pt x="1454023" y="2231262"/>
                  </a:lnTo>
                  <a:lnTo>
                    <a:pt x="1454023" y="0"/>
                  </a:lnTo>
                  <a:lnTo>
                    <a:pt x="0" y="0"/>
                  </a:lnTo>
                  <a:lnTo>
                    <a:pt x="0" y="223126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40"/>
              <a:t> </a:t>
            </a:r>
            <a:r>
              <a:rPr dirty="0" sz="2200" spc="-10"/>
              <a:t>History</a:t>
            </a:r>
            <a:endParaRPr sz="22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93624" y="1781428"/>
          <a:ext cx="4025900" cy="1461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/>
                <a:gridCol w="1314450"/>
                <a:gridCol w="1314450"/>
              </a:tblGrid>
              <a:tr h="1828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Version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00" spc="-20" b="1">
                          <a:latin typeface="Calibri"/>
                          <a:cs typeface="Calibri"/>
                        </a:rPr>
                        <a:t>Date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Notes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0.9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2003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1.0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March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24,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2004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First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production</a:t>
                      </a:r>
                      <a:r>
                        <a:rPr dirty="0" sz="9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release.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2.0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2006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3.0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2009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4.0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2013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5.0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2017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6.0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November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16,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2022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916" y="181355"/>
            <a:ext cx="1307591" cy="13091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47599" y="596011"/>
            <a:ext cx="2505075" cy="116014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Rod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Johnson</a:t>
            </a:r>
            <a:endParaRPr sz="1400">
              <a:latin typeface="Calibri"/>
              <a:cs typeface="Calibri"/>
            </a:endParaRPr>
          </a:p>
          <a:p>
            <a:pPr algn="just" lvl="1" marL="354330" marR="5080" indent="-113030">
              <a:lnSpc>
                <a:spcPts val="1080"/>
              </a:lnSpc>
              <a:spcBef>
                <a:spcPts val="3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000">
                <a:latin typeface="Calibri"/>
                <a:cs typeface="Calibri"/>
              </a:rPr>
              <a:t>“Expert</a:t>
            </a:r>
            <a:r>
              <a:rPr dirty="0" sz="1000" spc="4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One-on-</a:t>
            </a:r>
            <a:r>
              <a:rPr dirty="0" sz="1000">
                <a:latin typeface="Calibri"/>
                <a:cs typeface="Calibri"/>
              </a:rPr>
              <a:t>One</a:t>
            </a:r>
            <a:r>
              <a:rPr dirty="0" sz="1000" spc="4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J2EE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Design</a:t>
            </a:r>
            <a:r>
              <a:rPr dirty="0" sz="1000" spc="4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and</a:t>
            </a:r>
            <a:r>
              <a:rPr dirty="0" sz="1000">
                <a:latin typeface="Calibri"/>
                <a:cs typeface="Calibri"/>
              </a:rPr>
              <a:t> 	Development,”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Wrox.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ISBN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0-</a:t>
            </a:r>
            <a:r>
              <a:rPr dirty="0" sz="1000" spc="-20">
                <a:latin typeface="Calibri"/>
                <a:cs typeface="Calibri"/>
              </a:rPr>
              <a:t>7645-4385- </a:t>
            </a:r>
            <a:r>
              <a:rPr dirty="0" sz="1000" spc="-2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7,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2002</a:t>
            </a:r>
            <a:endParaRPr sz="1000">
              <a:latin typeface="Calibri"/>
              <a:cs typeface="Calibri"/>
            </a:endParaRPr>
          </a:p>
          <a:p>
            <a:pPr algn="just" lvl="1" marL="354330" marR="5715" indent="-113030">
              <a:lnSpc>
                <a:spcPts val="1080"/>
              </a:lnSpc>
              <a:spcBef>
                <a:spcPts val="25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000">
                <a:latin typeface="Calibri"/>
                <a:cs typeface="Calibri"/>
              </a:rPr>
              <a:t>“Expert</a:t>
            </a:r>
            <a:r>
              <a:rPr dirty="0" sz="1000" spc="2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One-on-</a:t>
            </a:r>
            <a:r>
              <a:rPr dirty="0" sz="1000">
                <a:latin typeface="Calibri"/>
                <a:cs typeface="Calibri"/>
              </a:rPr>
              <a:t>One</a:t>
            </a:r>
            <a:r>
              <a:rPr dirty="0" sz="1000" spc="2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J2EE</a:t>
            </a:r>
            <a:r>
              <a:rPr dirty="0" sz="1000" spc="2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Development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without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EJB,”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Wrox.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ISBN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0-</a:t>
            </a:r>
            <a:r>
              <a:rPr dirty="0" sz="1000" spc="-20">
                <a:latin typeface="Calibri"/>
                <a:cs typeface="Calibri"/>
              </a:rPr>
              <a:t>7645-</a:t>
            </a:r>
            <a:r>
              <a:rPr dirty="0" sz="1000" spc="-10">
                <a:latin typeface="Calibri"/>
                <a:cs typeface="Calibri"/>
              </a:rPr>
              <a:t>5831-</a:t>
            </a:r>
            <a:r>
              <a:rPr dirty="0" sz="1000" spc="-25">
                <a:latin typeface="Calibri"/>
                <a:cs typeface="Calibri"/>
              </a:rPr>
              <a:t>5,</a:t>
            </a:r>
            <a:r>
              <a:rPr dirty="0" sz="1000" spc="-20">
                <a:latin typeface="Calibri"/>
                <a:cs typeface="Calibri"/>
              </a:rPr>
              <a:t> 	2024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60"/>
              <a:t> </a:t>
            </a:r>
            <a:r>
              <a:rPr dirty="0" sz="2200" spc="-10"/>
              <a:t>Framework</a:t>
            </a:r>
            <a:r>
              <a:rPr dirty="0" sz="2200" spc="-45"/>
              <a:t> </a:t>
            </a:r>
            <a:r>
              <a:rPr dirty="0" sz="2200" spc="-10"/>
              <a:t>Overview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9215" cy="2456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6364" indent="-113664">
              <a:lnSpc>
                <a:spcPts val="1595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Although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0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2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ecosystem,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heart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all</a:t>
            </a:r>
            <a:endParaRPr sz="1400">
              <a:latin typeface="Calibri"/>
              <a:cs typeface="Calibri"/>
            </a:endParaRPr>
          </a:p>
          <a:p>
            <a:pPr algn="just" marL="127000">
              <a:lnSpc>
                <a:spcPts val="1595"/>
              </a:lnSpc>
            </a:pP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Framework.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53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4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makes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4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easy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45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create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Java</a:t>
            </a:r>
            <a:r>
              <a:rPr dirty="0" sz="1400" spc="4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enterprise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applications.</a:t>
            </a:r>
            <a:r>
              <a:rPr dirty="0" sz="1400" spc="3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3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provides</a:t>
            </a:r>
            <a:r>
              <a:rPr dirty="0" sz="1400" spc="3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everything</a:t>
            </a:r>
            <a:r>
              <a:rPr dirty="0" sz="1400" spc="3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3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embrace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1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Java</a:t>
            </a:r>
            <a:r>
              <a:rPr dirty="0" sz="1400" spc="21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language</a:t>
            </a:r>
            <a:r>
              <a:rPr dirty="0" sz="1400" spc="21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21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220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enterprise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environment,</a:t>
            </a:r>
            <a:r>
              <a:rPr dirty="0" sz="1400" spc="48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4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48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flexibility</a:t>
            </a:r>
            <a:r>
              <a:rPr dirty="0" sz="1400" spc="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create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many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kinds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architectures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depending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 spc="-25">
                <a:latin typeface="Calibri"/>
                <a:cs typeface="Calibri"/>
              </a:rPr>
              <a:t>an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application’s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needs.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51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Framework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6.0,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requires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Java 	17+.</a:t>
            </a:r>
            <a:endParaRPr sz="1400">
              <a:latin typeface="Calibri"/>
              <a:cs typeface="Calibri"/>
            </a:endParaRPr>
          </a:p>
          <a:p>
            <a:pPr algn="ctr" marL="131445">
              <a:lnSpc>
                <a:spcPct val="100000"/>
              </a:lnSpc>
              <a:spcBef>
                <a:spcPts val="1380"/>
              </a:spcBef>
            </a:pP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"Spring“:</a:t>
            </a:r>
            <a:r>
              <a:rPr dirty="0" sz="1200" spc="-5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different</a:t>
            </a:r>
            <a:r>
              <a:rPr dirty="0" sz="12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things</a:t>
            </a:r>
            <a:r>
              <a:rPr dirty="0" sz="12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12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alibri"/>
                <a:cs typeface="Calibri"/>
              </a:rPr>
              <a:t>different</a:t>
            </a:r>
            <a:r>
              <a:rPr dirty="0" sz="1200" spc="-4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Calibri"/>
                <a:cs typeface="Calibri"/>
              </a:rPr>
              <a:t>contexts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60"/>
              <a:t> </a:t>
            </a:r>
            <a:r>
              <a:rPr dirty="0" sz="2200" spc="-10"/>
              <a:t>Framework</a:t>
            </a:r>
            <a:r>
              <a:rPr dirty="0" sz="2200" spc="-45"/>
              <a:t> </a:t>
            </a:r>
            <a:r>
              <a:rPr dirty="0" sz="2200" spc="-10"/>
              <a:t>components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6219" y="778789"/>
              <a:ext cx="4195572" cy="214726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-12395" y="3079495"/>
            <a:ext cx="3783965" cy="553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https://docs.spring.io/spring-framework/docs/6.0.6/reference/html/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60"/>
              <a:t> </a:t>
            </a:r>
            <a:r>
              <a:rPr dirty="0" sz="2200" spc="-10"/>
              <a:t>Framework</a:t>
            </a:r>
            <a:r>
              <a:rPr dirty="0" sz="2200" spc="-45"/>
              <a:t> </a:t>
            </a:r>
            <a:r>
              <a:rPr dirty="0" sz="2200" spc="-20"/>
              <a:t>Core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583533"/>
            <a:ext cx="3878579" cy="985519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core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ecosystem.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developed.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ts val="1595"/>
              </a:lnSpc>
              <a:spcBef>
                <a:spcPts val="3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Foremost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amongst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these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Framework’s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 spc="-10">
                <a:latin typeface="Calibri"/>
                <a:cs typeface="Calibri"/>
              </a:rPr>
              <a:t>Inversion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Control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(IoC)</a:t>
            </a:r>
            <a:r>
              <a:rPr dirty="0" sz="1400" spc="-10">
                <a:latin typeface="Calibri"/>
                <a:cs typeface="Calibri"/>
              </a:rPr>
              <a:t> container.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Inversion</a:t>
            </a:r>
            <a:r>
              <a:rPr dirty="0" sz="2200" spc="-75"/>
              <a:t> </a:t>
            </a:r>
            <a:r>
              <a:rPr dirty="0" sz="2200"/>
              <a:t>of</a:t>
            </a:r>
            <a:r>
              <a:rPr dirty="0" sz="2200" spc="-95"/>
              <a:t> </a:t>
            </a:r>
            <a:r>
              <a:rPr dirty="0" sz="2200"/>
              <a:t>Control</a:t>
            </a:r>
            <a:r>
              <a:rPr dirty="0" sz="2200" spc="-55"/>
              <a:t> </a:t>
            </a:r>
            <a:r>
              <a:rPr dirty="0" sz="2200" spc="-10"/>
              <a:t>(IoC)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4" y="640079"/>
              <a:ext cx="3971544" cy="270967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Dependency</a:t>
            </a:r>
            <a:r>
              <a:rPr dirty="0" sz="2200" spc="-50"/>
              <a:t> </a:t>
            </a:r>
            <a:r>
              <a:rPr dirty="0" sz="2200"/>
              <a:t>injection</a:t>
            </a:r>
            <a:r>
              <a:rPr dirty="0" sz="2200" spc="-45"/>
              <a:t> </a:t>
            </a:r>
            <a:r>
              <a:rPr dirty="0" sz="2200" spc="-20"/>
              <a:t>(DI)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7945" cy="62420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Dependency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Inject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technique (a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 </a:t>
            </a:r>
            <a:r>
              <a:rPr dirty="0" sz="1400" spc="-10">
                <a:latin typeface="Calibri"/>
                <a:cs typeface="Calibri"/>
              </a:rPr>
              <a:t>pattern)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removes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hard-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1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dependencies</a:t>
            </a:r>
            <a:r>
              <a:rPr dirty="0" sz="1400" spc="1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1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makes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easier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extend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maintain.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728"/>
            <a:ext cx="125730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Without</a:t>
            </a:r>
            <a:r>
              <a:rPr dirty="0" sz="2200" spc="-40"/>
              <a:t> </a:t>
            </a:r>
            <a:r>
              <a:rPr dirty="0" sz="2200" spc="-25"/>
              <a:t>DI</a:t>
            </a:r>
            <a:endParaRPr sz="2200"/>
          </a:p>
        </p:txBody>
      </p:sp>
      <p:sp>
        <p:nvSpPr>
          <p:cNvPr id="3" name="object 3" descr=""/>
          <p:cNvSpPr/>
          <p:nvPr/>
        </p:nvSpPr>
        <p:spPr>
          <a:xfrm>
            <a:off x="179070" y="590549"/>
            <a:ext cx="2169160" cy="1277620"/>
          </a:xfrm>
          <a:custGeom>
            <a:avLst/>
            <a:gdLst/>
            <a:ahLst/>
            <a:cxnLst/>
            <a:rect l="l" t="t" r="r" b="b"/>
            <a:pathLst>
              <a:path w="2169160" h="1277620">
                <a:moveTo>
                  <a:pt x="0" y="1277111"/>
                </a:moveTo>
                <a:lnTo>
                  <a:pt x="2168652" y="1277111"/>
                </a:lnTo>
                <a:lnTo>
                  <a:pt x="2168652" y="0"/>
                </a:lnTo>
                <a:lnTo>
                  <a:pt x="0" y="0"/>
                </a:lnTo>
                <a:lnTo>
                  <a:pt x="0" y="1277111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11074" y="603249"/>
            <a:ext cx="119570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8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vvh.ioc.example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1074" y="847089"/>
            <a:ext cx="1504950" cy="391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ICEngine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127000" marR="508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8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float</a:t>
            </a:r>
            <a:r>
              <a:rPr dirty="0" sz="8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cylinder_capacity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8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String</a:t>
            </a:r>
            <a:r>
              <a:rPr dirty="0" sz="800" spc="-55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type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5374" y="1334769"/>
            <a:ext cx="187960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8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6179"/>
                </a:solidFill>
                <a:latin typeface="Arial"/>
                <a:cs typeface="Arial"/>
              </a:rPr>
              <a:t>start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800" spc="-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latin typeface="Arial"/>
                <a:cs typeface="Arial"/>
              </a:rPr>
              <a:t>System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"Engine</a:t>
            </a:r>
            <a:r>
              <a:rPr dirty="0" sz="800" spc="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is</a:t>
            </a:r>
            <a:r>
              <a:rPr dirty="0" sz="800" spc="6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started"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1074" y="1700910"/>
            <a:ext cx="596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492501" y="235457"/>
            <a:ext cx="1809114" cy="1431290"/>
          </a:xfrm>
          <a:custGeom>
            <a:avLst/>
            <a:gdLst/>
            <a:ahLst/>
            <a:cxnLst/>
            <a:rect l="l" t="t" r="r" b="b"/>
            <a:pathLst>
              <a:path w="1809114" h="1431289">
                <a:moveTo>
                  <a:pt x="0" y="1431036"/>
                </a:moveTo>
                <a:lnTo>
                  <a:pt x="1808988" y="1431036"/>
                </a:lnTo>
                <a:lnTo>
                  <a:pt x="1808988" y="0"/>
                </a:lnTo>
                <a:lnTo>
                  <a:pt x="0" y="0"/>
                </a:lnTo>
                <a:lnTo>
                  <a:pt x="0" y="1431036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526029" y="250063"/>
            <a:ext cx="1342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vvh.ioc.example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Car </a:t>
            </a: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52522" y="661542"/>
            <a:ext cx="12801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ICEngine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52522" y="935862"/>
            <a:ext cx="13036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9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06179"/>
                </a:solidFill>
                <a:latin typeface="Arial"/>
                <a:cs typeface="Arial"/>
              </a:rPr>
              <a:t>start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(){</a:t>
            </a:r>
            <a:r>
              <a:rPr dirty="0" sz="9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900" spc="-25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Engine(); </a:t>
            </a:r>
            <a:r>
              <a:rPr dirty="0" sz="900" spc="-1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.start();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26029" y="1484502"/>
            <a:ext cx="64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7650" y="2134361"/>
            <a:ext cx="1976755" cy="103187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204"/>
              </a:spcBef>
            </a:pP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8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vvh.ioc.example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MyApp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273050" marR="137160" indent="-11430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String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800" spc="-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args)</a:t>
            </a:r>
            <a:r>
              <a:rPr dirty="0" sz="8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Car</a:t>
            </a:r>
            <a:r>
              <a:rPr dirty="0" sz="800" spc="-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Car();</a:t>
            </a:r>
            <a:endParaRPr sz="800">
              <a:latin typeface="Arial"/>
              <a:cs typeface="Arial"/>
            </a:endParaRPr>
          </a:p>
          <a:p>
            <a:pPr marL="273050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c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.start();</a:t>
            </a:r>
            <a:endParaRPr sz="800">
              <a:latin typeface="Arial"/>
              <a:cs typeface="Arial"/>
            </a:endParaRPr>
          </a:p>
          <a:p>
            <a:pPr marL="15875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795017" y="641350"/>
            <a:ext cx="7575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0000"/>
                </a:solidFill>
                <a:latin typeface="Calibri"/>
                <a:cs typeface="Calibri"/>
              </a:rPr>
              <a:t>Tightly-coupled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393442" y="2403093"/>
            <a:ext cx="1862455" cy="360045"/>
          </a:xfrm>
          <a:custGeom>
            <a:avLst/>
            <a:gdLst/>
            <a:ahLst/>
            <a:cxnLst/>
            <a:rect l="l" t="t" r="r" b="b"/>
            <a:pathLst>
              <a:path w="1862454" h="360044">
                <a:moveTo>
                  <a:pt x="111252" y="274320"/>
                </a:moveTo>
                <a:lnTo>
                  <a:pt x="85344" y="274320"/>
                </a:lnTo>
                <a:lnTo>
                  <a:pt x="0" y="274320"/>
                </a:lnTo>
                <a:lnTo>
                  <a:pt x="0" y="359664"/>
                </a:lnTo>
                <a:lnTo>
                  <a:pt x="85344" y="359664"/>
                </a:lnTo>
                <a:lnTo>
                  <a:pt x="111252" y="359664"/>
                </a:lnTo>
                <a:lnTo>
                  <a:pt x="111252" y="274320"/>
                </a:lnTo>
                <a:close/>
              </a:path>
              <a:path w="1862454" h="360044">
                <a:moveTo>
                  <a:pt x="431279" y="0"/>
                </a:moveTo>
                <a:lnTo>
                  <a:pt x="304800" y="0"/>
                </a:lnTo>
                <a:lnTo>
                  <a:pt x="85344" y="0"/>
                </a:lnTo>
                <a:lnTo>
                  <a:pt x="85344" y="85344"/>
                </a:lnTo>
                <a:lnTo>
                  <a:pt x="304800" y="85344"/>
                </a:lnTo>
                <a:lnTo>
                  <a:pt x="431279" y="85344"/>
                </a:lnTo>
                <a:lnTo>
                  <a:pt x="431279" y="0"/>
                </a:lnTo>
                <a:close/>
              </a:path>
              <a:path w="1862454" h="360044">
                <a:moveTo>
                  <a:pt x="708660" y="182880"/>
                </a:moveTo>
                <a:lnTo>
                  <a:pt x="708660" y="182880"/>
                </a:lnTo>
                <a:lnTo>
                  <a:pt x="0" y="182880"/>
                </a:lnTo>
                <a:lnTo>
                  <a:pt x="0" y="268224"/>
                </a:lnTo>
                <a:lnTo>
                  <a:pt x="708660" y="268224"/>
                </a:lnTo>
                <a:lnTo>
                  <a:pt x="708660" y="182880"/>
                </a:lnTo>
                <a:close/>
              </a:path>
              <a:path w="1862454" h="360044">
                <a:moveTo>
                  <a:pt x="1588008" y="91440"/>
                </a:moveTo>
                <a:lnTo>
                  <a:pt x="1588008" y="91440"/>
                </a:lnTo>
                <a:lnTo>
                  <a:pt x="0" y="91440"/>
                </a:lnTo>
                <a:lnTo>
                  <a:pt x="0" y="176784"/>
                </a:lnTo>
                <a:lnTo>
                  <a:pt x="1588008" y="176784"/>
                </a:lnTo>
                <a:lnTo>
                  <a:pt x="1588008" y="91440"/>
                </a:lnTo>
                <a:close/>
              </a:path>
              <a:path w="1862454" h="360044">
                <a:moveTo>
                  <a:pt x="1645907" y="0"/>
                </a:moveTo>
                <a:lnTo>
                  <a:pt x="1645907" y="0"/>
                </a:lnTo>
                <a:lnTo>
                  <a:pt x="431292" y="0"/>
                </a:lnTo>
                <a:lnTo>
                  <a:pt x="431292" y="85344"/>
                </a:lnTo>
                <a:lnTo>
                  <a:pt x="1645907" y="85344"/>
                </a:lnTo>
                <a:lnTo>
                  <a:pt x="1645907" y="0"/>
                </a:lnTo>
                <a:close/>
              </a:path>
              <a:path w="1862454" h="360044">
                <a:moveTo>
                  <a:pt x="1862328" y="0"/>
                </a:moveTo>
                <a:lnTo>
                  <a:pt x="1645920" y="0"/>
                </a:lnTo>
                <a:lnTo>
                  <a:pt x="1645920" y="85344"/>
                </a:lnTo>
                <a:lnTo>
                  <a:pt x="1862328" y="85344"/>
                </a:lnTo>
                <a:lnTo>
                  <a:pt x="18623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347722" y="1910333"/>
            <a:ext cx="2016760" cy="133858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215"/>
              </a:spcBef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vvh.ioc.example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6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600" spc="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ICEngine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600">
              <a:latin typeface="Arial"/>
              <a:cs typeface="Arial"/>
            </a:endParaRPr>
          </a:p>
          <a:p>
            <a:pPr marL="131445" marR="854075">
              <a:lnSpc>
                <a:spcPct val="100000"/>
              </a:lnSpc>
            </a:pP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6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float</a:t>
            </a:r>
            <a:r>
              <a:rPr dirty="0" sz="6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860F93"/>
                </a:solidFill>
                <a:latin typeface="Arial"/>
                <a:cs typeface="Arial"/>
              </a:rPr>
              <a:t>cylinder_capacity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6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String</a:t>
            </a:r>
            <a:r>
              <a:rPr dirty="0" sz="600" spc="-35"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860F93"/>
                </a:solidFill>
                <a:latin typeface="Arial"/>
                <a:cs typeface="Arial"/>
              </a:rPr>
              <a:t>type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600">
              <a:latin typeface="Arial"/>
              <a:cs typeface="Arial"/>
            </a:endParaRPr>
          </a:p>
          <a:p>
            <a:pPr marL="218440" marR="99695" indent="-86995">
              <a:lnSpc>
                <a:spcPct val="100000"/>
              </a:lnSpc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6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06179"/>
                </a:solidFill>
                <a:latin typeface="Arial"/>
                <a:cs typeface="Arial"/>
              </a:rPr>
              <a:t>ICEngine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float</a:t>
            </a:r>
            <a:r>
              <a:rPr dirty="0" sz="6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cylinder_capacity,</a:t>
            </a:r>
            <a:r>
              <a:rPr dirty="0" sz="6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String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type)</a:t>
            </a:r>
            <a:r>
              <a:rPr dirty="0" sz="600" spc="2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600" spc="-10">
                <a:solidFill>
                  <a:srgbClr val="860F93"/>
                </a:solidFill>
                <a:latin typeface="Arial"/>
                <a:cs typeface="Arial"/>
              </a:rPr>
              <a:t>cylinder_capacity</a:t>
            </a:r>
            <a:r>
              <a:rPr dirty="0" sz="600" spc="15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600" spc="6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cylinder_capacity;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600">
                <a:solidFill>
                  <a:srgbClr val="860F93"/>
                </a:solidFill>
                <a:latin typeface="Arial"/>
                <a:cs typeface="Arial"/>
              </a:rPr>
              <a:t>type</a:t>
            </a:r>
            <a:r>
              <a:rPr dirty="0" sz="600" spc="-30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 type;</a:t>
            </a:r>
            <a:endParaRPr sz="6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6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6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6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6179"/>
                </a:solidFill>
                <a:latin typeface="Arial"/>
                <a:cs typeface="Arial"/>
              </a:rPr>
              <a:t>start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()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600"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  <a:spcBef>
                <a:spcPts val="5"/>
              </a:spcBef>
            </a:pPr>
            <a:r>
              <a:rPr dirty="0" sz="600" spc="-10">
                <a:latin typeface="Arial"/>
                <a:cs typeface="Arial"/>
              </a:rPr>
              <a:t>System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6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600" spc="-10">
                <a:solidFill>
                  <a:srgbClr val="057C17"/>
                </a:solidFill>
                <a:latin typeface="Arial"/>
                <a:cs typeface="Arial"/>
              </a:rPr>
              <a:t>"Engine</a:t>
            </a:r>
            <a:r>
              <a:rPr dirty="0" sz="600" spc="3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57C17"/>
                </a:solidFill>
                <a:latin typeface="Arial"/>
                <a:cs typeface="Arial"/>
              </a:rPr>
              <a:t>is</a:t>
            </a:r>
            <a:r>
              <a:rPr dirty="0" sz="600" spc="6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57C17"/>
                </a:solidFill>
                <a:latin typeface="Arial"/>
                <a:cs typeface="Arial"/>
              </a:rPr>
              <a:t>started"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6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81529" y="1700910"/>
            <a:ext cx="24618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dirty="0" sz="90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dirty="0" sz="9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happen</a:t>
            </a:r>
            <a:r>
              <a:rPr dirty="0" sz="900" spc="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dirty="0" sz="9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Engine</a:t>
            </a:r>
            <a:r>
              <a:rPr dirty="0" sz="9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r>
              <a:rPr dirty="0" sz="9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9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Calibri"/>
                <a:cs typeface="Calibri"/>
              </a:rPr>
              <a:t>changed?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With</a:t>
            </a:r>
            <a:r>
              <a:rPr dirty="0" sz="2200" spc="-30"/>
              <a:t> </a:t>
            </a:r>
            <a:r>
              <a:rPr dirty="0" sz="2200" spc="-25"/>
              <a:t>DI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147065" y="572261"/>
            <a:ext cx="2429510" cy="115379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44450" marR="1059815">
              <a:lnSpc>
                <a:spcPct val="100000"/>
              </a:lnSpc>
              <a:spcBef>
                <a:spcPts val="195"/>
              </a:spcBef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vvh.ioc.example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ICEngine</a:t>
            </a:r>
            <a:r>
              <a:rPr dirty="0" sz="900" spc="-10"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70815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9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float</a:t>
            </a:r>
            <a:r>
              <a:rPr dirty="0" sz="9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60F93"/>
                </a:solidFill>
                <a:latin typeface="Arial"/>
                <a:cs typeface="Arial"/>
              </a:rPr>
              <a:t>cylinder_capacity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70815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9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String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860F93"/>
                </a:solidFill>
                <a:latin typeface="Arial"/>
                <a:cs typeface="Arial"/>
              </a:rPr>
              <a:t>type</a:t>
            </a:r>
            <a:r>
              <a:rPr dirty="0" sz="900" spc="-2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9085" marR="165100" indent="-128270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9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6179"/>
                </a:solidFill>
                <a:latin typeface="Arial"/>
                <a:cs typeface="Arial"/>
              </a:rPr>
              <a:t>start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900" spc="-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System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9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"Engine</a:t>
            </a:r>
            <a:r>
              <a:rPr dirty="0" sz="900" spc="4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is</a:t>
            </a:r>
            <a:r>
              <a:rPr dirty="0" sz="900" spc="10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started"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900">
              <a:latin typeface="Arial"/>
              <a:cs typeface="Arial"/>
            </a:endParaRPr>
          </a:p>
          <a:p>
            <a:pPr marL="170815">
              <a:lnSpc>
                <a:spcPct val="100000"/>
              </a:lnSpc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663698" y="525525"/>
            <a:ext cx="1699895" cy="1527810"/>
            <a:chOff x="2663698" y="525525"/>
            <a:chExt cx="1699895" cy="1527810"/>
          </a:xfrm>
        </p:grpSpPr>
        <p:sp>
          <p:nvSpPr>
            <p:cNvPr id="5" name="object 5" descr=""/>
            <p:cNvSpPr/>
            <p:nvPr/>
          </p:nvSpPr>
          <p:spPr>
            <a:xfrm>
              <a:off x="2666238" y="528065"/>
              <a:ext cx="1694814" cy="1522730"/>
            </a:xfrm>
            <a:custGeom>
              <a:avLst/>
              <a:gdLst/>
              <a:ahLst/>
              <a:cxnLst/>
              <a:rect l="l" t="t" r="r" b="b"/>
              <a:pathLst>
                <a:path w="1694814" h="1522730">
                  <a:moveTo>
                    <a:pt x="0" y="1522476"/>
                  </a:moveTo>
                  <a:lnTo>
                    <a:pt x="1694688" y="1522476"/>
                  </a:lnTo>
                  <a:lnTo>
                    <a:pt x="1694688" y="0"/>
                  </a:lnTo>
                  <a:lnTo>
                    <a:pt x="0" y="0"/>
                  </a:lnTo>
                  <a:lnTo>
                    <a:pt x="0" y="152247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343529" y="1173987"/>
              <a:ext cx="722630" cy="114300"/>
            </a:xfrm>
            <a:custGeom>
              <a:avLst/>
              <a:gdLst/>
              <a:ahLst/>
              <a:cxnLst/>
              <a:rect l="l" t="t" r="r" b="b"/>
              <a:pathLst>
                <a:path w="722629" h="114300">
                  <a:moveTo>
                    <a:pt x="722376" y="0"/>
                  </a:moveTo>
                  <a:lnTo>
                    <a:pt x="417576" y="0"/>
                  </a:lnTo>
                  <a:lnTo>
                    <a:pt x="390144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390144" y="114300"/>
                  </a:lnTo>
                  <a:lnTo>
                    <a:pt x="417576" y="114300"/>
                  </a:lnTo>
                  <a:lnTo>
                    <a:pt x="722376" y="114300"/>
                  </a:lnTo>
                  <a:lnTo>
                    <a:pt x="7223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699385" y="541400"/>
            <a:ext cx="11957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8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vvh.ioc.example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Car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13685" y="907160"/>
            <a:ext cx="11379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8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ICEngine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13685" y="1151000"/>
            <a:ext cx="13633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Car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ICEngine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engine)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27985" y="1272920"/>
            <a:ext cx="9652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800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engine;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13685" y="1394840"/>
            <a:ext cx="596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813685" y="1516760"/>
            <a:ext cx="833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8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start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(){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engine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.start();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99385" y="1882520"/>
            <a:ext cx="5969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7065" y="1957577"/>
            <a:ext cx="2220595" cy="129413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204"/>
              </a:spcBef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package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vvh.ioc.example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9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MyApp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9085" marR="116205" indent="-128270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9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void </a:t>
            </a:r>
            <a:r>
              <a:rPr dirty="0" sz="90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900">
                <a:latin typeface="Arial"/>
                <a:cs typeface="Arial"/>
              </a:rPr>
              <a:t>String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900" spc="-4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args)</a:t>
            </a:r>
            <a:r>
              <a:rPr dirty="0" sz="9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 IC</a:t>
            </a:r>
            <a:r>
              <a:rPr dirty="0" sz="900">
                <a:latin typeface="Arial"/>
                <a:cs typeface="Arial"/>
              </a:rPr>
              <a:t>Engine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engine</a:t>
            </a:r>
            <a:r>
              <a:rPr dirty="0" sz="900" spc="-30"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900" spc="-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9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ICEngine(); </a:t>
            </a:r>
            <a:r>
              <a:rPr dirty="0" sz="900">
                <a:latin typeface="Arial"/>
                <a:cs typeface="Arial"/>
              </a:rPr>
              <a:t>Car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9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Car(</a:t>
            </a:r>
            <a:r>
              <a:rPr dirty="0" sz="900" spc="-10">
                <a:latin typeface="Arial"/>
                <a:cs typeface="Arial"/>
              </a:rPr>
              <a:t>engine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9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latin typeface="Arial"/>
                <a:cs typeface="Arial"/>
              </a:rPr>
              <a:t>c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.start();</a:t>
            </a:r>
            <a:endParaRPr sz="900">
              <a:latin typeface="Arial"/>
              <a:cs typeface="Arial"/>
            </a:endParaRPr>
          </a:p>
          <a:p>
            <a:pPr marL="170815">
              <a:lnSpc>
                <a:spcPct val="100000"/>
              </a:lnSpc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9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790317" y="1953640"/>
            <a:ext cx="1664970" cy="323850"/>
            <a:chOff x="2790317" y="1953640"/>
            <a:chExt cx="1664970" cy="323850"/>
          </a:xfrm>
        </p:grpSpPr>
        <p:sp>
          <p:nvSpPr>
            <p:cNvPr id="16" name="object 16" descr=""/>
            <p:cNvSpPr/>
            <p:nvPr/>
          </p:nvSpPr>
          <p:spPr>
            <a:xfrm>
              <a:off x="2793492" y="1956815"/>
              <a:ext cx="1658620" cy="317500"/>
            </a:xfrm>
            <a:custGeom>
              <a:avLst/>
              <a:gdLst/>
              <a:ahLst/>
              <a:cxnLst/>
              <a:rect l="l" t="t" r="r" b="b"/>
              <a:pathLst>
                <a:path w="1658620" h="317500">
                  <a:moveTo>
                    <a:pt x="1658112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1658112" y="316991"/>
                  </a:lnTo>
                  <a:lnTo>
                    <a:pt x="165811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793492" y="1956815"/>
              <a:ext cx="1658620" cy="317500"/>
            </a:xfrm>
            <a:custGeom>
              <a:avLst/>
              <a:gdLst/>
              <a:ahLst/>
              <a:cxnLst/>
              <a:rect l="l" t="t" r="r" b="b"/>
              <a:pathLst>
                <a:path w="1658620" h="317500">
                  <a:moveTo>
                    <a:pt x="0" y="316991"/>
                  </a:moveTo>
                  <a:lnTo>
                    <a:pt x="1658112" y="316991"/>
                  </a:lnTo>
                  <a:lnTo>
                    <a:pt x="1658112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635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877692" y="2027300"/>
            <a:ext cx="1491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Inject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FFFFFF"/>
                </a:solidFill>
                <a:latin typeface="Calibri"/>
                <a:cs typeface="Calibri"/>
              </a:rPr>
              <a:t>Car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 class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40304" y="2357119"/>
            <a:ext cx="2017395" cy="80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5565" marR="28194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Changes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Engine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class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will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25">
                <a:latin typeface="Calibri"/>
                <a:cs typeface="Calibri"/>
              </a:rPr>
              <a:t>not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affect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 Car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class.</a:t>
            </a:r>
            <a:endParaRPr sz="9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335"/>
              </a:spcBef>
            </a:pPr>
            <a:r>
              <a:rPr dirty="0" sz="1000">
                <a:latin typeface="Calibri"/>
                <a:cs typeface="Calibri"/>
              </a:rPr>
              <a:t>What</a:t>
            </a:r>
            <a:r>
              <a:rPr dirty="0" sz="1000" spc="4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will</a:t>
            </a:r>
            <a:r>
              <a:rPr dirty="0" sz="1000" spc="45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happen</a:t>
            </a:r>
            <a:r>
              <a:rPr dirty="0" sz="1000" spc="4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4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</a:t>
            </a:r>
            <a:r>
              <a:rPr dirty="0" sz="1000" spc="459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have </a:t>
            </a:r>
            <a:r>
              <a:rPr dirty="0" sz="1000">
                <a:latin typeface="Calibri"/>
                <a:cs typeface="Calibri"/>
              </a:rPr>
              <a:t>another</a:t>
            </a:r>
            <a:r>
              <a:rPr dirty="0" sz="1000" spc="4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engine</a:t>
            </a:r>
            <a:r>
              <a:rPr dirty="0" sz="1000" spc="4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type?</a:t>
            </a:r>
            <a:r>
              <a:rPr dirty="0" sz="1000" spc="4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(E.g.,</a:t>
            </a:r>
            <a:r>
              <a:rPr dirty="0" sz="1000" spc="4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Hybrid </a:t>
            </a:r>
            <a:r>
              <a:rPr dirty="0" sz="1000">
                <a:latin typeface="Calibri"/>
                <a:cs typeface="Calibri"/>
              </a:rPr>
              <a:t>Engine,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Electricity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Engine,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...)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Example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7761" y="794890"/>
              <a:ext cx="3436477" cy="207575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093"/>
            <a:ext cx="170624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Injection</a:t>
            </a:r>
            <a:r>
              <a:rPr dirty="0" sz="2200" spc="-20"/>
              <a:t> </a:t>
            </a:r>
            <a:r>
              <a:rPr dirty="0" sz="2200" spc="-10"/>
              <a:t>Types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1665605" cy="1262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Constructor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Injection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Property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Injection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Method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Injection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The</a:t>
            </a:r>
            <a:r>
              <a:rPr dirty="0" sz="2200" spc="-35"/>
              <a:t> </a:t>
            </a:r>
            <a:r>
              <a:rPr dirty="0" sz="2200"/>
              <a:t>Spring’s</a:t>
            </a:r>
            <a:r>
              <a:rPr dirty="0" sz="2200" spc="-30"/>
              <a:t> </a:t>
            </a:r>
            <a:r>
              <a:rPr dirty="0" sz="2200"/>
              <a:t>IOC</a:t>
            </a:r>
            <a:r>
              <a:rPr dirty="0" sz="2200" spc="-45"/>
              <a:t> </a:t>
            </a:r>
            <a:r>
              <a:rPr dirty="0" sz="2200" spc="-10"/>
              <a:t>Container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550"/>
            <a:ext cx="3878579" cy="81661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just" marL="125730" marR="5080" indent="-113664">
              <a:lnSpc>
                <a:spcPct val="90000"/>
              </a:lnSpc>
              <a:spcBef>
                <a:spcPts val="27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Remind: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IoC</a:t>
            </a:r>
            <a:r>
              <a:rPr dirty="0" sz="1400" spc="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is</a:t>
            </a:r>
            <a:r>
              <a:rPr dirty="0" sz="1400" spc="3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also</a:t>
            </a:r>
            <a:r>
              <a:rPr dirty="0" sz="1400" spc="4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known</a:t>
            </a:r>
            <a:r>
              <a:rPr dirty="0" sz="1400" spc="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as</a:t>
            </a:r>
            <a:r>
              <a:rPr dirty="0" sz="1400" spc="3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dependency</a:t>
            </a:r>
            <a:r>
              <a:rPr dirty="0" sz="1400" spc="5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injection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(DI)</a:t>
            </a:r>
            <a:r>
              <a:rPr dirty="0" sz="1400" spc="12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-</a:t>
            </a:r>
            <a:r>
              <a:rPr dirty="0" sz="1400" spc="13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a</a:t>
            </a:r>
            <a:r>
              <a:rPr dirty="0" sz="1400" spc="13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process</a:t>
            </a:r>
            <a:r>
              <a:rPr dirty="0" sz="1400" spc="13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whereby</a:t>
            </a:r>
            <a:r>
              <a:rPr dirty="0" sz="1400" spc="13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objects</a:t>
            </a:r>
            <a:r>
              <a:rPr dirty="0" sz="1400" spc="14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define</a:t>
            </a:r>
            <a:r>
              <a:rPr dirty="0" sz="1400" spc="12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their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dependencies</a:t>
            </a:r>
            <a:r>
              <a:rPr dirty="0" sz="1400" spc="29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through</a:t>
            </a:r>
            <a:r>
              <a:rPr dirty="0" sz="1400" spc="28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constructor</a:t>
            </a:r>
            <a:r>
              <a:rPr dirty="0" sz="1400" spc="29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arguments, 	arguments</a:t>
            </a:r>
            <a:r>
              <a:rPr dirty="0" sz="1400" spc="-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a</a:t>
            </a:r>
            <a:r>
              <a:rPr dirty="0" sz="1400" spc="-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factory</a:t>
            </a:r>
            <a:r>
              <a:rPr dirty="0" sz="1400" spc="-6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method,</a:t>
            </a:r>
            <a:r>
              <a:rPr dirty="0" sz="1400" spc="-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or</a:t>
            </a:r>
            <a:r>
              <a:rPr dirty="0" sz="1400" spc="-3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properties.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1458213"/>
            <a:ext cx="30035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  <a:tab pos="998855" algn="l"/>
              </a:tabLst>
            </a:pP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4471C4"/>
                </a:solidFill>
                <a:latin typeface="Calibri"/>
                <a:cs typeface="Calibri"/>
              </a:rPr>
              <a:t>org.springframework.beans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2152" y="1458213"/>
            <a:ext cx="3762375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 indent="3464560">
              <a:lnSpc>
                <a:spcPts val="1510"/>
              </a:lnSpc>
              <a:spcBef>
                <a:spcPts val="295"/>
              </a:spcBef>
              <a:tabLst>
                <a:tab pos="2279015" algn="l"/>
                <a:tab pos="3105150" algn="l"/>
                <a:tab pos="3507740" algn="l"/>
              </a:tabLst>
            </a:pP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4471C4"/>
                </a:solidFill>
                <a:latin typeface="Calibri"/>
                <a:cs typeface="Calibri"/>
              </a:rPr>
              <a:t>org.springframework.context</a:t>
            </a: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packages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	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are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	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7599" y="1800199"/>
            <a:ext cx="3879215" cy="11144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70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basis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for</a:t>
            </a:r>
            <a:r>
              <a:rPr dirty="0" sz="1400" spc="-3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Spring</a:t>
            </a:r>
            <a:r>
              <a:rPr dirty="0" sz="1400" spc="-3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Framework’s</a:t>
            </a:r>
            <a:r>
              <a:rPr dirty="0" sz="1400" spc="-6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IoC</a:t>
            </a:r>
            <a:r>
              <a:rPr dirty="0" sz="1400" spc="-3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container.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ct val="90100"/>
              </a:lnSpc>
              <a:spcBef>
                <a:spcPts val="50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BeanFactory</a:t>
            </a:r>
            <a:r>
              <a:rPr dirty="0" sz="1400" spc="9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provides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configuration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framework</a:t>
            </a:r>
            <a:r>
              <a:rPr dirty="0" sz="1400" spc="31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32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basic</a:t>
            </a:r>
            <a:r>
              <a:rPr dirty="0" sz="1400" spc="31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functionality,</a:t>
            </a:r>
            <a:r>
              <a:rPr dirty="0" sz="1400" spc="31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315">
                <a:latin typeface="Calibri"/>
                <a:cs typeface="Calibri"/>
              </a:rPr>
              <a:t> 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ApplicationContext</a:t>
            </a:r>
            <a:r>
              <a:rPr dirty="0" sz="1400" spc="34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</a:t>
            </a:r>
            <a:r>
              <a:rPr dirty="0" sz="1400" spc="3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adds</a:t>
            </a:r>
            <a:r>
              <a:rPr dirty="0" sz="1400" spc="3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enterprise-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functionality.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The</a:t>
            </a:r>
            <a:r>
              <a:rPr dirty="0" sz="2200" spc="-35"/>
              <a:t> </a:t>
            </a:r>
            <a:r>
              <a:rPr dirty="0" sz="2200"/>
              <a:t>Spring’s</a:t>
            </a:r>
            <a:r>
              <a:rPr dirty="0" sz="2200" spc="-30"/>
              <a:t> </a:t>
            </a:r>
            <a:r>
              <a:rPr dirty="0" sz="2200"/>
              <a:t>IOC</a:t>
            </a:r>
            <a:r>
              <a:rPr dirty="0" sz="2200" spc="-45"/>
              <a:t> </a:t>
            </a:r>
            <a:r>
              <a:rPr dirty="0" sz="2200" spc="-10"/>
              <a:t>Container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13028"/>
            <a:ext cx="2198370" cy="22523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0" marR="8255" indent="-114935">
              <a:lnSpc>
                <a:spcPct val="80000"/>
              </a:lnSpc>
              <a:spcBef>
                <a:spcPts val="4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In</a:t>
            </a:r>
            <a:r>
              <a:rPr dirty="0" sz="1300" spc="16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Spring,</a:t>
            </a:r>
            <a:r>
              <a:rPr dirty="0" sz="1300" spc="17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300" spc="16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objects</a:t>
            </a:r>
            <a:r>
              <a:rPr dirty="0" sz="1300" spc="16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 spc="-20">
                <a:solidFill>
                  <a:srgbClr val="181E1E"/>
                </a:solidFill>
                <a:latin typeface="Calibri"/>
                <a:cs typeface="Calibri"/>
              </a:rPr>
              <a:t>that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form</a:t>
            </a:r>
            <a:r>
              <a:rPr dirty="0" sz="1300" spc="48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300" spc="49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backbone</a:t>
            </a:r>
            <a:r>
              <a:rPr dirty="0" sz="1300" spc="10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of</a:t>
            </a:r>
            <a:r>
              <a:rPr dirty="0" sz="1300" spc="49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81E1E"/>
                </a:solidFill>
                <a:latin typeface="Calibri"/>
                <a:cs typeface="Calibri"/>
              </a:rPr>
              <a:t>your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application</a:t>
            </a:r>
            <a:r>
              <a:rPr dirty="0" sz="1300" spc="43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and</a:t>
            </a:r>
            <a:r>
              <a:rPr dirty="0" sz="1300" spc="434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that</a:t>
            </a:r>
            <a:r>
              <a:rPr dirty="0" sz="1300" spc="43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are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managed</a:t>
            </a:r>
            <a:r>
              <a:rPr dirty="0" sz="1300" spc="49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by</a:t>
            </a:r>
            <a:r>
              <a:rPr dirty="0" sz="1300" spc="484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300" spc="49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Spring</a:t>
            </a:r>
            <a:r>
              <a:rPr dirty="0" sz="1300" spc="49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IoC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container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are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called</a:t>
            </a:r>
            <a:r>
              <a:rPr dirty="0" sz="1300" spc="-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beans.</a:t>
            </a:r>
            <a:endParaRPr sz="1300">
              <a:latin typeface="Calibri"/>
              <a:cs typeface="Calibri"/>
            </a:endParaRPr>
          </a:p>
          <a:p>
            <a:pPr algn="just" marL="127000" marR="8255" indent="-114935">
              <a:lnSpc>
                <a:spcPts val="1250"/>
              </a:lnSpc>
              <a:spcBef>
                <a:spcPts val="4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</a:t>
            </a:r>
            <a:r>
              <a:rPr dirty="0" sz="1300" spc="409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bean</a:t>
            </a:r>
            <a:r>
              <a:rPr dirty="0" sz="1300" spc="434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is</a:t>
            </a:r>
            <a:r>
              <a:rPr dirty="0" sz="1300" spc="4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an</a:t>
            </a:r>
            <a:r>
              <a:rPr dirty="0" sz="1300" spc="43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object</a:t>
            </a:r>
            <a:r>
              <a:rPr dirty="0" sz="1300" spc="43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that</a:t>
            </a:r>
            <a:r>
              <a:rPr dirty="0" sz="1300" spc="4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is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instantiated,</a:t>
            </a:r>
            <a:r>
              <a:rPr dirty="0" sz="1300" spc="4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assembled,</a:t>
            </a:r>
            <a:r>
              <a:rPr dirty="0" sz="1300" spc="4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and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managed</a:t>
            </a:r>
            <a:r>
              <a:rPr dirty="0" sz="1300" spc="24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by</a:t>
            </a:r>
            <a:r>
              <a:rPr dirty="0" sz="1300" spc="24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</a:t>
            </a:r>
            <a:r>
              <a:rPr dirty="0" sz="1300" spc="24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Spring</a:t>
            </a:r>
            <a:r>
              <a:rPr dirty="0" sz="1300" spc="24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IoC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container.</a:t>
            </a:r>
            <a:endParaRPr sz="1300">
              <a:latin typeface="Calibri"/>
              <a:cs typeface="Calibri"/>
            </a:endParaRPr>
          </a:p>
          <a:p>
            <a:pPr algn="just" marL="127000" marR="5080" indent="-114935">
              <a:lnSpc>
                <a:spcPts val="1250"/>
              </a:lnSpc>
              <a:spcBef>
                <a:spcPts val="48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Beans,</a:t>
            </a:r>
            <a:r>
              <a:rPr dirty="0" sz="1300" spc="21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and</a:t>
            </a:r>
            <a:r>
              <a:rPr dirty="0" sz="1300" spc="2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300" spc="2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dependencies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among</a:t>
            </a:r>
            <a:r>
              <a:rPr dirty="0" sz="1300" spc="17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them,</a:t>
            </a:r>
            <a:r>
              <a:rPr dirty="0" sz="1300" spc="16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are</a:t>
            </a:r>
            <a:r>
              <a:rPr dirty="0" sz="1300" spc="16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reflected</a:t>
            </a:r>
            <a:r>
              <a:rPr dirty="0" sz="1300" spc="16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in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300" spc="245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configuration</a:t>
            </a:r>
            <a:r>
              <a:rPr dirty="0" sz="1300" spc="260">
                <a:solidFill>
                  <a:srgbClr val="181E1E"/>
                </a:solidFill>
                <a:latin typeface="Calibri"/>
                <a:cs typeface="Calibri"/>
              </a:rPr>
              <a:t> 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metadata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used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by</a:t>
            </a:r>
            <a:r>
              <a:rPr dirty="0" sz="1300" spc="-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81E1E"/>
                </a:solidFill>
                <a:latin typeface="Calibri"/>
                <a:cs typeface="Calibri"/>
              </a:rPr>
              <a:t>a</a:t>
            </a:r>
            <a:r>
              <a:rPr dirty="0" sz="13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81E1E"/>
                </a:solidFill>
                <a:latin typeface="Calibri"/>
                <a:cs typeface="Calibri"/>
              </a:rPr>
              <a:t>container.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2803" y="595883"/>
              <a:ext cx="1805577" cy="269595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The</a:t>
            </a:r>
            <a:r>
              <a:rPr dirty="0" sz="2200" spc="-45"/>
              <a:t> </a:t>
            </a:r>
            <a:r>
              <a:rPr dirty="0" sz="2200"/>
              <a:t>Spring’s</a:t>
            </a:r>
            <a:r>
              <a:rPr dirty="0" sz="2200" spc="-35"/>
              <a:t> </a:t>
            </a:r>
            <a:r>
              <a:rPr dirty="0" sz="2200"/>
              <a:t>IoC</a:t>
            </a:r>
            <a:r>
              <a:rPr dirty="0" sz="2200" spc="-40"/>
              <a:t> </a:t>
            </a:r>
            <a:r>
              <a:rPr dirty="0" sz="2200" spc="-10"/>
              <a:t>container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496443" y="706754"/>
            <a:ext cx="3579495" cy="2131695"/>
            <a:chOff x="496443" y="706754"/>
            <a:chExt cx="3579495" cy="21316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902" y="711707"/>
              <a:ext cx="3461701" cy="212140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8983" y="709294"/>
              <a:ext cx="3574415" cy="2126615"/>
            </a:xfrm>
            <a:custGeom>
              <a:avLst/>
              <a:gdLst/>
              <a:ahLst/>
              <a:cxnLst/>
              <a:rect l="l" t="t" r="r" b="b"/>
              <a:pathLst>
                <a:path w="3574415" h="2126615">
                  <a:moveTo>
                    <a:pt x="0" y="2126233"/>
                  </a:moveTo>
                  <a:lnTo>
                    <a:pt x="3573907" y="2126233"/>
                  </a:lnTo>
                  <a:lnTo>
                    <a:pt x="3573907" y="0"/>
                  </a:lnTo>
                  <a:lnTo>
                    <a:pt x="0" y="0"/>
                  </a:lnTo>
                  <a:lnTo>
                    <a:pt x="0" y="2126233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599" y="2913379"/>
            <a:ext cx="3245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primary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job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ApplicationContext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manage</a:t>
            </a:r>
            <a:r>
              <a:rPr dirty="0" sz="1000" spc="-10">
                <a:latin typeface="Calibri"/>
                <a:cs typeface="Calibri"/>
              </a:rPr>
              <a:t> beans.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40"/>
              <a:t> </a:t>
            </a:r>
            <a:r>
              <a:rPr dirty="0" sz="2200" spc="-20"/>
              <a:t>Bean</a:t>
            </a:r>
            <a:endParaRPr sz="22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6364" indent="-113664">
              <a:lnSpc>
                <a:spcPts val="1595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/>
              <a:t>In</a:t>
            </a:r>
            <a:r>
              <a:rPr dirty="0" spc="455"/>
              <a:t> </a:t>
            </a:r>
            <a:r>
              <a:rPr dirty="0"/>
              <a:t>Spring,</a:t>
            </a:r>
            <a:r>
              <a:rPr dirty="0" spc="450"/>
              <a:t> </a:t>
            </a:r>
            <a:r>
              <a:rPr dirty="0"/>
              <a:t>a</a:t>
            </a:r>
            <a:r>
              <a:rPr dirty="0" spc="475"/>
              <a:t> </a:t>
            </a:r>
            <a:r>
              <a:rPr dirty="0"/>
              <a:t>bean</a:t>
            </a:r>
            <a:r>
              <a:rPr dirty="0" spc="450"/>
              <a:t> </a:t>
            </a:r>
            <a:r>
              <a:rPr dirty="0"/>
              <a:t>is</a:t>
            </a:r>
            <a:r>
              <a:rPr dirty="0" spc="455"/>
              <a:t> </a:t>
            </a:r>
            <a:r>
              <a:rPr dirty="0"/>
              <a:t>an</a:t>
            </a:r>
            <a:r>
              <a:rPr dirty="0" spc="455"/>
              <a:t> </a:t>
            </a:r>
            <a:r>
              <a:rPr dirty="0"/>
              <a:t>object</a:t>
            </a:r>
            <a:r>
              <a:rPr dirty="0" spc="459"/>
              <a:t> </a:t>
            </a:r>
            <a:r>
              <a:rPr dirty="0"/>
              <a:t>that</a:t>
            </a:r>
            <a:r>
              <a:rPr dirty="0" spc="455"/>
              <a:t> </a:t>
            </a:r>
            <a:r>
              <a:rPr dirty="0"/>
              <a:t>the</a:t>
            </a:r>
            <a:r>
              <a:rPr dirty="0" spc="450"/>
              <a:t> </a:t>
            </a:r>
            <a:r>
              <a:rPr dirty="0" spc="-10"/>
              <a:t>Spring</a:t>
            </a:r>
          </a:p>
          <a:p>
            <a:pPr algn="just" marL="127000">
              <a:lnSpc>
                <a:spcPts val="1595"/>
              </a:lnSpc>
            </a:pPr>
            <a:r>
              <a:rPr dirty="0" spc="-10"/>
              <a:t>container</a:t>
            </a:r>
            <a:r>
              <a:rPr dirty="0" spc="-35"/>
              <a:t> </a:t>
            </a:r>
            <a:r>
              <a:rPr dirty="0" spc="-10"/>
              <a:t>instantiates,</a:t>
            </a:r>
            <a:r>
              <a:rPr dirty="0" spc="-40"/>
              <a:t> </a:t>
            </a:r>
            <a:r>
              <a:rPr dirty="0"/>
              <a:t>assembles,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manages.</a:t>
            </a:r>
          </a:p>
          <a:p>
            <a:pPr algn="just" marL="125730" marR="7620" indent="-113664">
              <a:lnSpc>
                <a:spcPts val="1510"/>
              </a:lnSpc>
              <a:spcBef>
                <a:spcPts val="535"/>
              </a:spcBef>
              <a:buFont typeface="Arial"/>
              <a:buChar char="•"/>
              <a:tabLst>
                <a:tab pos="127000" algn="l"/>
              </a:tabLst>
            </a:pPr>
            <a:r>
              <a:rPr dirty="0"/>
              <a:t>Any</a:t>
            </a:r>
            <a:r>
              <a:rPr dirty="0" spc="100"/>
              <a:t>  </a:t>
            </a:r>
            <a:r>
              <a:rPr dirty="0"/>
              <a:t>Java</a:t>
            </a:r>
            <a:r>
              <a:rPr dirty="0" spc="100"/>
              <a:t>  </a:t>
            </a:r>
            <a:r>
              <a:rPr dirty="0"/>
              <a:t>POJO</a:t>
            </a:r>
            <a:r>
              <a:rPr dirty="0" spc="105"/>
              <a:t>  </a:t>
            </a:r>
            <a:r>
              <a:rPr dirty="0"/>
              <a:t>class</a:t>
            </a:r>
            <a:r>
              <a:rPr dirty="0" spc="105"/>
              <a:t>  </a:t>
            </a:r>
            <a:r>
              <a:rPr dirty="0"/>
              <a:t>can</a:t>
            </a:r>
            <a:r>
              <a:rPr dirty="0" spc="105"/>
              <a:t>  </a:t>
            </a:r>
            <a:r>
              <a:rPr dirty="0"/>
              <a:t>be</a:t>
            </a:r>
            <a:r>
              <a:rPr dirty="0" spc="100"/>
              <a:t>  </a:t>
            </a:r>
            <a:r>
              <a:rPr dirty="0"/>
              <a:t>a</a:t>
            </a:r>
            <a:r>
              <a:rPr dirty="0" spc="110"/>
              <a:t>  </a:t>
            </a:r>
            <a:r>
              <a:rPr dirty="0"/>
              <a:t>Spring</a:t>
            </a:r>
            <a:r>
              <a:rPr dirty="0" spc="100"/>
              <a:t>  </a:t>
            </a:r>
            <a:r>
              <a:rPr dirty="0"/>
              <a:t>Bean</a:t>
            </a:r>
            <a:r>
              <a:rPr dirty="0" spc="100"/>
              <a:t>  </a:t>
            </a:r>
            <a:r>
              <a:rPr dirty="0" spc="-25"/>
              <a:t>if </a:t>
            </a:r>
            <a:r>
              <a:rPr dirty="0" spc="-25"/>
              <a:t>	</a:t>
            </a:r>
            <a:r>
              <a:rPr dirty="0"/>
              <a:t>configured</a:t>
            </a:r>
            <a:r>
              <a:rPr dirty="0" spc="2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initialized</a:t>
            </a:r>
            <a:r>
              <a:rPr dirty="0" spc="15"/>
              <a:t> </a:t>
            </a:r>
            <a:r>
              <a:rPr dirty="0"/>
              <a:t>through</a:t>
            </a:r>
            <a:r>
              <a:rPr dirty="0" spc="45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container</a:t>
            </a:r>
            <a:r>
              <a:rPr dirty="0" spc="35"/>
              <a:t> </a:t>
            </a:r>
            <a:r>
              <a:rPr dirty="0" spc="-25"/>
              <a:t>by </a:t>
            </a:r>
            <a:r>
              <a:rPr dirty="0" spc="-25"/>
              <a:t>	</a:t>
            </a:r>
            <a:r>
              <a:rPr dirty="0" spc="-10"/>
              <a:t>providing</a:t>
            </a:r>
            <a:r>
              <a:rPr dirty="0" spc="-20"/>
              <a:t> </a:t>
            </a:r>
            <a:r>
              <a:rPr dirty="0" spc="-10"/>
              <a:t>configuration</a:t>
            </a:r>
            <a:r>
              <a:rPr dirty="0" spc="-35"/>
              <a:t> </a:t>
            </a:r>
            <a:r>
              <a:rPr dirty="0" spc="-10"/>
              <a:t>information.</a:t>
            </a:r>
          </a:p>
          <a:p>
            <a:pPr algn="just" marL="125730" marR="5080" indent="-113664">
              <a:lnSpc>
                <a:spcPts val="1510"/>
              </a:lnSpc>
              <a:spcBef>
                <a:spcPts val="509"/>
              </a:spcBef>
              <a:buFont typeface="Arial"/>
              <a:buChar char="•"/>
              <a:tabLst>
                <a:tab pos="127000" algn="l"/>
              </a:tabLst>
            </a:pPr>
            <a:r>
              <a:rPr dirty="0"/>
              <a:t>We</a:t>
            </a:r>
            <a:r>
              <a:rPr dirty="0" spc="175"/>
              <a:t> </a:t>
            </a:r>
            <a:r>
              <a:rPr dirty="0"/>
              <a:t>should</a:t>
            </a:r>
            <a:r>
              <a:rPr dirty="0" spc="170"/>
              <a:t> </a:t>
            </a:r>
            <a:r>
              <a:rPr dirty="0"/>
              <a:t>define</a:t>
            </a:r>
            <a:r>
              <a:rPr dirty="0" spc="185"/>
              <a:t> </a:t>
            </a:r>
            <a:r>
              <a:rPr dirty="0"/>
              <a:t>beans</a:t>
            </a:r>
            <a:r>
              <a:rPr dirty="0" spc="180"/>
              <a:t> </a:t>
            </a:r>
            <a:r>
              <a:rPr dirty="0"/>
              <a:t>for</a:t>
            </a:r>
            <a:r>
              <a:rPr dirty="0" spc="180"/>
              <a:t> </a:t>
            </a:r>
            <a:r>
              <a:rPr dirty="0"/>
              <a:t>service</a:t>
            </a:r>
            <a:r>
              <a:rPr dirty="0" spc="180"/>
              <a:t> </a:t>
            </a:r>
            <a:r>
              <a:rPr dirty="0"/>
              <a:t>layer</a:t>
            </a:r>
            <a:r>
              <a:rPr dirty="0" spc="180"/>
              <a:t> </a:t>
            </a:r>
            <a:r>
              <a:rPr dirty="0" spc="-10"/>
              <a:t>objects, </a:t>
            </a:r>
            <a:r>
              <a:rPr dirty="0" spc="-10"/>
              <a:t>	</a:t>
            </a:r>
            <a:r>
              <a:rPr dirty="0"/>
              <a:t>data</a:t>
            </a:r>
            <a:r>
              <a:rPr dirty="0" spc="210"/>
              <a:t> </a:t>
            </a:r>
            <a:r>
              <a:rPr dirty="0"/>
              <a:t>access</a:t>
            </a:r>
            <a:r>
              <a:rPr dirty="0" spc="225"/>
              <a:t> </a:t>
            </a:r>
            <a:r>
              <a:rPr dirty="0"/>
              <a:t>objects</a:t>
            </a:r>
            <a:r>
              <a:rPr dirty="0" spc="240"/>
              <a:t> </a:t>
            </a:r>
            <a:r>
              <a:rPr dirty="0"/>
              <a:t>(DAOs),</a:t>
            </a:r>
            <a:r>
              <a:rPr dirty="0" spc="215"/>
              <a:t> </a:t>
            </a:r>
            <a:r>
              <a:rPr dirty="0"/>
              <a:t>presentation</a:t>
            </a:r>
            <a:r>
              <a:rPr dirty="0" spc="220"/>
              <a:t> </a:t>
            </a:r>
            <a:r>
              <a:rPr dirty="0" spc="-10"/>
              <a:t>objects, </a:t>
            </a:r>
            <a:r>
              <a:rPr dirty="0" spc="-10"/>
              <a:t>	</a:t>
            </a:r>
            <a:r>
              <a:rPr dirty="0"/>
              <a:t>infrastructure</a:t>
            </a:r>
            <a:r>
              <a:rPr dirty="0" spc="325"/>
              <a:t>   </a:t>
            </a:r>
            <a:r>
              <a:rPr dirty="0"/>
              <a:t>objects</a:t>
            </a:r>
            <a:r>
              <a:rPr dirty="0" spc="325"/>
              <a:t>   </a:t>
            </a:r>
            <a:r>
              <a:rPr dirty="0"/>
              <a:t>such</a:t>
            </a:r>
            <a:r>
              <a:rPr dirty="0" spc="325"/>
              <a:t>   </a:t>
            </a:r>
            <a:r>
              <a:rPr dirty="0"/>
              <a:t>as</a:t>
            </a:r>
            <a:r>
              <a:rPr dirty="0" spc="325"/>
              <a:t>   </a:t>
            </a:r>
            <a:r>
              <a:rPr dirty="0" spc="-10"/>
              <a:t>Hibernate 	SessionFactories,</a:t>
            </a:r>
            <a:r>
              <a:rPr dirty="0" spc="-45"/>
              <a:t> </a:t>
            </a:r>
            <a:r>
              <a:rPr dirty="0"/>
              <a:t>JMS</a:t>
            </a:r>
            <a:r>
              <a:rPr dirty="0" spc="-5"/>
              <a:t> </a:t>
            </a:r>
            <a:r>
              <a:rPr dirty="0"/>
              <a:t>Queues,</a:t>
            </a:r>
            <a:r>
              <a:rPr dirty="0" spc="-5"/>
              <a:t> </a:t>
            </a:r>
            <a:r>
              <a:rPr dirty="0"/>
              <a:t>and so</a:t>
            </a:r>
            <a:r>
              <a:rPr dirty="0" spc="-5"/>
              <a:t> </a:t>
            </a:r>
            <a:r>
              <a:rPr dirty="0" spc="-10"/>
              <a:t>forth.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</a:t>
            </a:r>
            <a:r>
              <a:rPr dirty="0" sz="2200" spc="-30"/>
              <a:t> </a:t>
            </a:r>
            <a:r>
              <a:rPr dirty="0" sz="2200"/>
              <a:t>Bean</a:t>
            </a:r>
            <a:r>
              <a:rPr dirty="0" sz="2200" spc="-30"/>
              <a:t> </a:t>
            </a:r>
            <a:r>
              <a:rPr dirty="0" sz="2200" spc="-10"/>
              <a:t>Scope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13663"/>
            <a:ext cx="3878579" cy="24428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0" marR="5715" indent="-114935">
              <a:lnSpc>
                <a:spcPct val="80100"/>
              </a:lnSpc>
              <a:spcBef>
                <a:spcPts val="4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 b="1">
                <a:latin typeface="Calibri"/>
                <a:cs typeface="Calibri"/>
              </a:rPr>
              <a:t>Singleton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8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(</a:t>
            </a:r>
            <a:r>
              <a:rPr dirty="0" sz="1300" i="1">
                <a:solidFill>
                  <a:srgbClr val="FF0000"/>
                </a:solidFill>
                <a:latin typeface="Calibri"/>
                <a:cs typeface="Calibri"/>
              </a:rPr>
              <a:t>default</a:t>
            </a:r>
            <a:r>
              <a:rPr dirty="0" sz="1300">
                <a:latin typeface="Calibri"/>
                <a:cs typeface="Calibri"/>
              </a:rPr>
              <a:t>)</a:t>
            </a:r>
            <a:r>
              <a:rPr dirty="0" sz="1300" spc="7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Only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one</a:t>
            </a:r>
            <a:r>
              <a:rPr dirty="0" sz="1300" spc="7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instance</a:t>
            </a:r>
            <a:r>
              <a:rPr dirty="0" sz="1300" spc="9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8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will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created</a:t>
            </a:r>
            <a:r>
              <a:rPr dirty="0" sz="1300" spc="1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per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container.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This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1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1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default</a:t>
            </a:r>
            <a:r>
              <a:rPr dirty="0" sz="1300" spc="10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scope</a:t>
            </a:r>
            <a:r>
              <a:rPr dirty="0" sz="1300" spc="11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for </a:t>
            </a: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bean.</a:t>
            </a:r>
            <a:endParaRPr sz="1300">
              <a:latin typeface="Calibri"/>
              <a:cs typeface="Calibri"/>
            </a:endParaRPr>
          </a:p>
          <a:p>
            <a:pPr algn="just" marL="127000" marR="5080" indent="-114935">
              <a:lnSpc>
                <a:spcPts val="1250"/>
              </a:lnSpc>
              <a:spcBef>
                <a:spcPts val="49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 b="1">
                <a:latin typeface="Calibri"/>
                <a:cs typeface="Calibri"/>
              </a:rPr>
              <a:t>Prototype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instance</a:t>
            </a:r>
            <a:r>
              <a:rPr dirty="0" sz="1300" spc="8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7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7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7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8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created</a:t>
            </a:r>
            <a:r>
              <a:rPr dirty="0" sz="1300" spc="8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for </a:t>
            </a:r>
            <a:r>
              <a:rPr dirty="0" sz="1300">
                <a:latin typeface="Calibri"/>
                <a:cs typeface="Calibri"/>
              </a:rPr>
              <a:t>each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request.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300" spc="-10">
                <a:solidFill>
                  <a:srgbClr val="C00000"/>
                </a:solidFill>
                <a:latin typeface="Calibri"/>
                <a:cs typeface="Calibri"/>
              </a:rPr>
              <a:t>WEB-CONTEXT</a:t>
            </a:r>
            <a:endParaRPr sz="1300">
              <a:latin typeface="Calibri"/>
              <a:cs typeface="Calibri"/>
            </a:endParaRPr>
          </a:p>
          <a:p>
            <a:pPr algn="just" marL="127000" marR="6985" indent="-114935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 b="1" i="1">
                <a:latin typeface="Calibri"/>
                <a:cs typeface="Calibri"/>
              </a:rPr>
              <a:t>Request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155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same</a:t>
            </a:r>
            <a:r>
              <a:rPr dirty="0" sz="1300" spc="155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as</a:t>
            </a:r>
            <a:r>
              <a:rPr dirty="0" sz="1300" spc="15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prototype</a:t>
            </a:r>
            <a:r>
              <a:rPr dirty="0" sz="1300" spc="16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scope,</a:t>
            </a:r>
            <a:r>
              <a:rPr dirty="0" sz="1300" spc="16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but</a:t>
            </a:r>
            <a:r>
              <a:rPr dirty="0" sz="1300" spc="16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160">
                <a:latin typeface="Calibri"/>
                <a:cs typeface="Calibri"/>
              </a:rPr>
              <a:t>  </a:t>
            </a:r>
            <a:r>
              <a:rPr dirty="0" sz="1300" spc="-25">
                <a:latin typeface="Calibri"/>
                <a:cs typeface="Calibri"/>
              </a:rPr>
              <a:t>web </a:t>
            </a:r>
            <a:r>
              <a:rPr dirty="0" sz="1300" spc="-10">
                <a:latin typeface="Calibri"/>
                <a:cs typeface="Calibri"/>
              </a:rPr>
              <a:t>application,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instance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created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each </a:t>
            </a:r>
            <a:r>
              <a:rPr dirty="0" sz="1300">
                <a:latin typeface="Calibri"/>
                <a:cs typeface="Calibri"/>
              </a:rPr>
              <a:t>HTTP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request.</a:t>
            </a:r>
            <a:endParaRPr sz="1300">
              <a:latin typeface="Calibri"/>
              <a:cs typeface="Calibri"/>
            </a:endParaRPr>
          </a:p>
          <a:p>
            <a:pPr algn="just" marL="127000" marR="5715" indent="-114935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 b="1" i="1">
                <a:latin typeface="Calibri"/>
                <a:cs typeface="Calibri"/>
              </a:rPr>
              <a:t>Session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2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Each</a:t>
            </a:r>
            <a:r>
              <a:rPr dirty="0" sz="1300" spc="2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</a:t>
            </a:r>
            <a:r>
              <a:rPr dirty="0" sz="1300" spc="2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instance</a:t>
            </a:r>
            <a:r>
              <a:rPr dirty="0" sz="1300" spc="2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2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2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created</a:t>
            </a:r>
            <a:r>
              <a:rPr dirty="0" sz="1300" spc="2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for</a:t>
            </a:r>
            <a:r>
              <a:rPr dirty="0" sz="1300" spc="220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each </a:t>
            </a:r>
            <a:r>
              <a:rPr dirty="0" sz="1300">
                <a:latin typeface="Calibri"/>
                <a:cs typeface="Calibri"/>
              </a:rPr>
              <a:t>HTTP</a:t>
            </a:r>
            <a:r>
              <a:rPr dirty="0" sz="1300" spc="-1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Session</a:t>
            </a:r>
            <a:endParaRPr sz="1300">
              <a:latin typeface="Calibri"/>
              <a:cs typeface="Calibri"/>
            </a:endParaRPr>
          </a:p>
          <a:p>
            <a:pPr marL="127000" indent="-114300">
              <a:lnSpc>
                <a:spcPts val="1405"/>
              </a:lnSpc>
              <a:spcBef>
                <a:spcPts val="18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 spc="-10" b="1" i="1">
                <a:latin typeface="Calibri"/>
                <a:cs typeface="Calibri"/>
              </a:rPr>
              <a:t>Global-</a:t>
            </a:r>
            <a:r>
              <a:rPr dirty="0" sz="1300" b="1" i="1">
                <a:latin typeface="Calibri"/>
                <a:cs typeface="Calibri"/>
              </a:rPr>
              <a:t>Session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Used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 create global</a:t>
            </a:r>
            <a:r>
              <a:rPr dirty="0" sz="1300" spc="1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session</a:t>
            </a:r>
            <a:r>
              <a:rPr dirty="0" sz="1300" spc="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beans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for</a:t>
            </a:r>
            <a:endParaRPr sz="1300">
              <a:latin typeface="Calibri"/>
              <a:cs typeface="Calibri"/>
            </a:endParaRPr>
          </a:p>
          <a:p>
            <a:pPr marL="127000">
              <a:lnSpc>
                <a:spcPts val="1405"/>
              </a:lnSpc>
            </a:pPr>
            <a:r>
              <a:rPr dirty="0" sz="1300">
                <a:latin typeface="Calibri"/>
                <a:cs typeface="Calibri"/>
              </a:rPr>
              <a:t>Portlet</a:t>
            </a:r>
            <a:r>
              <a:rPr dirty="0" sz="1300" spc="-7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applications.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dirty="0" spc="-25"/>
              <a:t> </a:t>
            </a:r>
            <a:r>
              <a:rPr dirty="0"/>
              <a:t>Beans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Container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8579" cy="62420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primary</a:t>
            </a:r>
            <a:r>
              <a:rPr dirty="0" sz="1400" spc="3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job</a:t>
            </a:r>
            <a:r>
              <a:rPr dirty="0" sz="1400" spc="3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3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ApplicationContext</a:t>
            </a:r>
            <a:r>
              <a:rPr dirty="0" sz="1400" spc="3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3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manage</a:t>
            </a:r>
            <a:r>
              <a:rPr dirty="0" sz="1400" spc="3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beans</a:t>
            </a:r>
            <a:r>
              <a:rPr dirty="0" sz="1400" spc="395">
                <a:latin typeface="Calibri"/>
                <a:cs typeface="Calibri"/>
              </a:rPr>
              <a:t> </a:t>
            </a:r>
            <a:r>
              <a:rPr dirty="0" sz="1400">
                <a:latin typeface="Wingdings"/>
                <a:cs typeface="Wingdings"/>
              </a:rPr>
              <a:t>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 spc="3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must</a:t>
            </a:r>
            <a:r>
              <a:rPr dirty="0" sz="1400" spc="3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</a:t>
            </a:r>
            <a:r>
              <a:rPr dirty="0" sz="1400" spc="38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bean</a:t>
            </a:r>
            <a:r>
              <a:rPr dirty="0" sz="1400" spc="27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configuration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ApplicationContext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1159611"/>
            <a:ext cx="2360930" cy="11283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434"/>
              </a:spcBef>
            </a:pPr>
            <a:r>
              <a:rPr dirty="0" sz="1400" spc="-10">
                <a:latin typeface="Calibri"/>
                <a:cs typeface="Calibri"/>
              </a:rPr>
              <a:t>container.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20">
                <a:latin typeface="Calibri"/>
                <a:cs typeface="Calibri"/>
              </a:rPr>
              <a:t>Type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configurations: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XML-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20">
                <a:latin typeface="Calibri"/>
                <a:cs typeface="Calibri"/>
              </a:rPr>
              <a:t>Java-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Annotation-Based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Configuration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8230" y="2364485"/>
            <a:ext cx="3134995" cy="18478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1460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15"/>
              </a:spcBef>
            </a:pP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implementation</a:t>
            </a:r>
            <a:r>
              <a:rPr dirty="0" sz="900" spc="13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'org.springframework:spring-context:6.0.6'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78230" y="2623565"/>
            <a:ext cx="3134995" cy="73787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65"/>
              </a:spcBef>
            </a:pP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&lt;dependency&gt;</a:t>
            </a:r>
            <a:endParaRPr sz="9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</a:pP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&lt;groupId&gt;</a:t>
            </a:r>
            <a:r>
              <a:rPr dirty="0" sz="900" spc="-10" b="1">
                <a:latin typeface="Courier New"/>
                <a:cs typeface="Courier New"/>
              </a:rPr>
              <a:t>org.springframework</a:t>
            </a: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&lt;/groupId&gt;</a:t>
            </a:r>
            <a:endParaRPr sz="9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</a:pP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&lt;artifactId&gt;</a:t>
            </a:r>
            <a:r>
              <a:rPr dirty="0" sz="900" spc="-10" b="1">
                <a:latin typeface="Courier New"/>
                <a:cs typeface="Courier New"/>
              </a:rPr>
              <a:t>spring-context</a:t>
            </a: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&lt;/artifactId&gt;</a:t>
            </a:r>
            <a:endParaRPr sz="9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</a:pP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&lt;version&gt;</a:t>
            </a:r>
            <a:r>
              <a:rPr dirty="0" sz="900" spc="-10" b="1">
                <a:latin typeface="Courier New"/>
                <a:cs typeface="Courier New"/>
              </a:rPr>
              <a:t>6.0.6</a:t>
            </a: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&lt;/version&gt;</a:t>
            </a:r>
            <a:endParaRPr sz="9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  <a:spcBef>
                <a:spcPts val="15"/>
              </a:spcBef>
            </a:pPr>
            <a:r>
              <a:rPr dirty="0" sz="900" spc="-10">
                <a:solidFill>
                  <a:srgbClr val="0000FF"/>
                </a:solidFill>
                <a:latin typeface="Courier New"/>
                <a:cs typeface="Courier New"/>
              </a:rPr>
              <a:t>&lt;/dependency&gt;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3405" y="2382392"/>
            <a:ext cx="3308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Gradle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6354" y="2717037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Maven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-2667"/>
            <a:ext cx="358076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Configuring</a:t>
            </a:r>
            <a:r>
              <a:rPr dirty="0" spc="-25"/>
              <a:t> </a:t>
            </a:r>
            <a:r>
              <a:rPr dirty="0"/>
              <a:t>Beans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Container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5052" y="323164"/>
            <a:ext cx="20847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0">
                <a:latin typeface="Calibri Light"/>
                <a:cs typeface="Calibri Light"/>
              </a:rPr>
              <a:t>XML-</a:t>
            </a:r>
            <a:r>
              <a:rPr dirty="0" sz="1600" b="0">
                <a:latin typeface="Calibri Light"/>
                <a:cs typeface="Calibri Light"/>
              </a:rPr>
              <a:t>Based</a:t>
            </a:r>
            <a:r>
              <a:rPr dirty="0" sz="1600" spc="-40" b="0">
                <a:latin typeface="Calibri Light"/>
                <a:cs typeface="Calibri Light"/>
              </a:rPr>
              <a:t> </a:t>
            </a:r>
            <a:r>
              <a:rPr dirty="0" sz="1600" spc="-10" b="0">
                <a:latin typeface="Calibri Light"/>
                <a:cs typeface="Calibri Light"/>
              </a:rPr>
              <a:t>Configuration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6321" y="671829"/>
            <a:ext cx="4479290" cy="1852295"/>
            <a:chOff x="36321" y="671829"/>
            <a:chExt cx="4479290" cy="18522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6327" y="696467"/>
              <a:ext cx="1129284" cy="15621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861" y="674369"/>
              <a:ext cx="3325495" cy="1847214"/>
            </a:xfrm>
            <a:custGeom>
              <a:avLst/>
              <a:gdLst/>
              <a:ahLst/>
              <a:cxnLst/>
              <a:rect l="l" t="t" r="r" b="b"/>
              <a:pathLst>
                <a:path w="3325495" h="1847214">
                  <a:moveTo>
                    <a:pt x="0" y="1847087"/>
                  </a:moveTo>
                  <a:lnTo>
                    <a:pt x="3325367" y="1847087"/>
                  </a:lnTo>
                  <a:lnTo>
                    <a:pt x="3325367" y="0"/>
                  </a:lnTo>
                  <a:lnTo>
                    <a:pt x="0" y="0"/>
                  </a:lnTo>
                  <a:lnTo>
                    <a:pt x="0" y="1847087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1119" y="690752"/>
            <a:ext cx="325818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080808"/>
                </a:solidFill>
                <a:latin typeface="Arial"/>
                <a:cs typeface="Arial"/>
              </a:rPr>
              <a:t>&lt;?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xml</a:t>
            </a:r>
            <a:r>
              <a:rPr dirty="0" sz="900" spc="35">
                <a:solidFill>
                  <a:srgbClr val="1749D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version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="1.0" 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encoding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="UTF-</a:t>
            </a:r>
            <a:r>
              <a:rPr dirty="0" sz="900" spc="-20">
                <a:solidFill>
                  <a:srgbClr val="057C17"/>
                </a:solidFill>
                <a:latin typeface="Arial"/>
                <a:cs typeface="Arial"/>
              </a:rPr>
              <a:t>8"</a:t>
            </a:r>
            <a:r>
              <a:rPr dirty="0" sz="900" spc="-20" i="1">
                <a:solidFill>
                  <a:srgbClr val="080808"/>
                </a:solidFill>
                <a:latin typeface="Arial"/>
                <a:cs typeface="Arial"/>
              </a:rPr>
              <a:t>?&gt;</a:t>
            </a:r>
            <a:endParaRPr sz="900">
              <a:latin typeface="Arial"/>
              <a:cs typeface="Arial"/>
            </a:endParaRPr>
          </a:p>
          <a:p>
            <a:pPr marL="234950" marR="5080" indent="-222885">
              <a:lnSpc>
                <a:spcPct val="100000"/>
              </a:lnSpc>
            </a:pP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&lt;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beans</a:t>
            </a:r>
            <a:r>
              <a:rPr dirty="0" sz="9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xmlns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  <a:hlinkClick r:id="rId3"/>
              </a:rPr>
              <a:t>http://www.springframework.org/schema/beans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" 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xmlns:</a:t>
            </a:r>
            <a:r>
              <a:rPr dirty="0" sz="900" spc="-10">
                <a:solidFill>
                  <a:srgbClr val="860F93"/>
                </a:solidFill>
                <a:latin typeface="Arial"/>
                <a:cs typeface="Arial"/>
              </a:rPr>
              <a:t>xsi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  <a:hlinkClick r:id="rId4"/>
              </a:rPr>
              <a:t>http://www.w3.org/2001/XMLSchema-instance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"</a:t>
            </a:r>
            <a:endParaRPr sz="900">
              <a:latin typeface="Arial"/>
              <a:cs typeface="Arial"/>
            </a:endParaRPr>
          </a:p>
          <a:p>
            <a:pPr marL="12700" marR="60325">
              <a:lnSpc>
                <a:spcPct val="100000"/>
              </a:lnSpc>
            </a:pPr>
            <a:r>
              <a:rPr dirty="0" sz="900" spc="-10">
                <a:solidFill>
                  <a:srgbClr val="860F93"/>
                </a:solidFill>
                <a:latin typeface="Arial"/>
                <a:cs typeface="Arial"/>
              </a:rPr>
              <a:t>xsi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:schemaLocation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  <a:hlinkClick r:id="rId5"/>
              </a:rPr>
              <a:t>http://www.springframework.org/schema/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beans</a:t>
            </a:r>
            <a:r>
              <a:rPr dirty="0" sz="900" spc="-2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  <a:hlinkClick r:id="rId6"/>
              </a:rPr>
              <a:t>http://www.springframework.org/schema/beans/spring-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119" y="1376552"/>
            <a:ext cx="6565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beans.xsd"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49908" y="1447799"/>
            <a:ext cx="923925" cy="184785"/>
          </a:xfrm>
          <a:prstGeom prst="rect">
            <a:avLst/>
          </a:prstGeom>
          <a:solidFill>
            <a:srgbClr val="EC7C30"/>
          </a:solidFill>
        </p:spPr>
        <p:txBody>
          <a:bodyPr wrap="square" lIns="0" tIns="1587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25"/>
              </a:spcBef>
            </a:pPr>
            <a:r>
              <a:rPr dirty="0" sz="900" spc="-10">
                <a:latin typeface="Calibri"/>
                <a:cs typeface="Calibri"/>
              </a:rPr>
              <a:t>Beans.xml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sp>
          <p:nvSpPr>
            <p:cNvPr id="11" name="object 11" descr=""/>
            <p:cNvSpPr/>
            <p:nvPr/>
          </p:nvSpPr>
          <p:spPr>
            <a:xfrm>
              <a:off x="573786" y="2228849"/>
              <a:ext cx="3999229" cy="1153795"/>
            </a:xfrm>
            <a:custGeom>
              <a:avLst/>
              <a:gdLst/>
              <a:ahLst/>
              <a:cxnLst/>
              <a:rect l="l" t="t" r="r" b="b"/>
              <a:pathLst>
                <a:path w="3999229" h="1153795">
                  <a:moveTo>
                    <a:pt x="3998976" y="0"/>
                  </a:moveTo>
                  <a:lnTo>
                    <a:pt x="0" y="0"/>
                  </a:lnTo>
                  <a:lnTo>
                    <a:pt x="0" y="1153668"/>
                  </a:lnTo>
                  <a:lnTo>
                    <a:pt x="3998976" y="1153668"/>
                  </a:lnTo>
                  <a:lnTo>
                    <a:pt x="3998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3786" y="2228849"/>
              <a:ext cx="3999229" cy="1153795"/>
            </a:xfrm>
            <a:custGeom>
              <a:avLst/>
              <a:gdLst/>
              <a:ahLst/>
              <a:cxnLst/>
              <a:rect l="l" t="t" r="r" b="b"/>
              <a:pathLst>
                <a:path w="3999229" h="1153795">
                  <a:moveTo>
                    <a:pt x="0" y="1153668"/>
                  </a:moveTo>
                  <a:lnTo>
                    <a:pt x="3998976" y="1153668"/>
                  </a:lnTo>
                  <a:lnTo>
                    <a:pt x="3998976" y="0"/>
                  </a:lnTo>
                  <a:lnTo>
                    <a:pt x="0" y="0"/>
                  </a:lnTo>
                  <a:lnTo>
                    <a:pt x="0" y="115366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-30480" y="1650872"/>
            <a:ext cx="4585970" cy="198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&lt;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bean</a:t>
            </a:r>
            <a:r>
              <a:rPr dirty="0" sz="9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id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="st1"</a:t>
            </a:r>
            <a:r>
              <a:rPr dirty="0" sz="900" spc="-3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class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="org.example.Student"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&gt;</a:t>
            </a:r>
            <a:endParaRPr sz="9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&lt;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property</a:t>
            </a:r>
            <a:r>
              <a:rPr dirty="0" sz="9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name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="id"</a:t>
            </a:r>
            <a:r>
              <a:rPr dirty="0" sz="900" spc="-4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749D3"/>
                </a:solidFill>
                <a:latin typeface="Arial"/>
                <a:cs typeface="Arial"/>
              </a:rPr>
              <a:t>value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="001"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/&gt;</a:t>
            </a:r>
            <a:endParaRPr sz="900">
              <a:latin typeface="Arial"/>
              <a:cs typeface="Arial"/>
            </a:endParaRPr>
          </a:p>
          <a:p>
            <a:pPr marL="368300">
              <a:lnSpc>
                <a:spcPct val="100000"/>
              </a:lnSpc>
            </a:pP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&lt;</a:t>
            </a:r>
            <a:r>
              <a:rPr dirty="0" sz="900">
                <a:solidFill>
                  <a:srgbClr val="0033B3"/>
                </a:solidFill>
                <a:latin typeface="Arial"/>
                <a:cs typeface="Arial"/>
              </a:rPr>
              <a:t>property</a:t>
            </a:r>
            <a:r>
              <a:rPr dirty="0" sz="9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name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="name"</a:t>
            </a:r>
            <a:r>
              <a:rPr dirty="0" sz="900" spc="-5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749D3"/>
                </a:solidFill>
                <a:latin typeface="Arial"/>
                <a:cs typeface="Arial"/>
              </a:rPr>
              <a:t>value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="than</a:t>
            </a:r>
            <a:r>
              <a:rPr dirty="0" sz="900" spc="-4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057C17"/>
                </a:solidFill>
                <a:latin typeface="Arial"/>
                <a:cs typeface="Arial"/>
              </a:rPr>
              <a:t>thi</a:t>
            </a:r>
            <a:r>
              <a:rPr dirty="0" sz="900" spc="-2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det"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/&gt;</a:t>
            </a:r>
            <a:endParaRPr sz="9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</a:pP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&lt;/</a:t>
            </a:r>
            <a:r>
              <a:rPr dirty="0" sz="900" spc="-10">
                <a:solidFill>
                  <a:srgbClr val="0033B3"/>
                </a:solidFill>
                <a:latin typeface="Arial"/>
                <a:cs typeface="Arial"/>
              </a:rPr>
              <a:t>bean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&gt;</a:t>
            </a:r>
            <a:endParaRPr sz="900">
              <a:latin typeface="Arial"/>
              <a:cs typeface="Arial"/>
            </a:endParaRPr>
          </a:p>
          <a:p>
            <a:pPr marL="649605">
              <a:lnSpc>
                <a:spcPts val="910"/>
              </a:lnSpc>
              <a:spcBef>
                <a:spcPts val="340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8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org.springframework.context.ApplicationContext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  <a:p>
            <a:pPr marL="649605" marR="424180" indent="-535940">
              <a:lnSpc>
                <a:spcPts val="960"/>
              </a:lnSpc>
              <a:spcBef>
                <a:spcPts val="80"/>
              </a:spcBef>
            </a:pPr>
            <a:r>
              <a:rPr dirty="0" baseline="6172" sz="1350">
                <a:solidFill>
                  <a:srgbClr val="080808"/>
                </a:solidFill>
                <a:latin typeface="Arial"/>
                <a:cs typeface="Arial"/>
              </a:rPr>
              <a:t>&lt;/</a:t>
            </a:r>
            <a:r>
              <a:rPr dirty="0" baseline="6172" sz="1350">
                <a:solidFill>
                  <a:srgbClr val="0033B3"/>
                </a:solidFill>
                <a:latin typeface="Arial"/>
                <a:cs typeface="Arial"/>
              </a:rPr>
              <a:t>beans</a:t>
            </a:r>
            <a:r>
              <a:rPr dirty="0" baseline="6172" sz="1350">
                <a:solidFill>
                  <a:srgbClr val="080808"/>
                </a:solidFill>
                <a:latin typeface="Arial"/>
                <a:cs typeface="Arial"/>
              </a:rPr>
              <a:t>&gt;</a:t>
            </a:r>
            <a:r>
              <a:rPr dirty="0" baseline="6172" sz="1350" spc="277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org.springframework.context.support.ClassPathXmlApplicationContext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Main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763905">
              <a:lnSpc>
                <a:spcPts val="93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8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String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800" spc="-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args)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878205" marR="55880" indent="-6350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ApplicationContext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context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8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ClassPathXmlApplicationContext(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"beans.xml"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 </a:t>
            </a:r>
            <a:r>
              <a:rPr dirty="0" sz="800" spc="-10">
                <a:latin typeface="Arial"/>
                <a:cs typeface="Arial"/>
              </a:rPr>
              <a:t>Student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st1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3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context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.getBean(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"st1"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,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Student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  <a:p>
            <a:pPr marL="878205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System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800" spc="-10">
                <a:latin typeface="Arial"/>
                <a:cs typeface="Arial"/>
              </a:rPr>
              <a:t>st1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  <a:p>
            <a:pPr marL="763905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  <a:p>
            <a:pPr marL="649605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910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7599" y="171957"/>
            <a:ext cx="1324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0">
                <a:latin typeface="Calibri Light"/>
                <a:cs typeface="Calibri Light"/>
              </a:rPr>
              <a:t>Object</a:t>
            </a:r>
            <a:r>
              <a:rPr dirty="0" sz="1600" spc="-20" b="0">
                <a:latin typeface="Calibri Light"/>
                <a:cs typeface="Calibri Light"/>
              </a:rPr>
              <a:t> </a:t>
            </a:r>
            <a:r>
              <a:rPr dirty="0" sz="1600" spc="-10" b="0">
                <a:latin typeface="Calibri Light"/>
                <a:cs typeface="Calibri Light"/>
              </a:rPr>
              <a:t>Injection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3943" y="9156"/>
              <a:ext cx="1290780" cy="341526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" y="2200655"/>
              <a:ext cx="3150094" cy="106373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8585" y="2198306"/>
              <a:ext cx="3164205" cy="1073150"/>
            </a:xfrm>
            <a:custGeom>
              <a:avLst/>
              <a:gdLst/>
              <a:ahLst/>
              <a:cxnLst/>
              <a:rect l="l" t="t" r="r" b="b"/>
              <a:pathLst>
                <a:path w="3164205" h="1073150">
                  <a:moveTo>
                    <a:pt x="0" y="1073086"/>
                  </a:moveTo>
                  <a:lnTo>
                    <a:pt x="3163951" y="1073086"/>
                  </a:lnTo>
                  <a:lnTo>
                    <a:pt x="3163951" y="0"/>
                  </a:lnTo>
                  <a:lnTo>
                    <a:pt x="0" y="0"/>
                  </a:lnTo>
                  <a:lnTo>
                    <a:pt x="0" y="107308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" y="464819"/>
              <a:ext cx="3022091" cy="168249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Object</a:t>
            </a:r>
            <a:r>
              <a:rPr dirty="0" sz="2200" spc="-25"/>
              <a:t> </a:t>
            </a:r>
            <a:r>
              <a:rPr dirty="0" sz="2200"/>
              <a:t>Injection </a:t>
            </a:r>
            <a:r>
              <a:rPr dirty="0" sz="2200" spc="-10"/>
              <a:t>(cont.)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310" y="640103"/>
              <a:ext cx="3207956" cy="26197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45286" y="624039"/>
              <a:ext cx="3281679" cy="2656840"/>
            </a:xfrm>
            <a:custGeom>
              <a:avLst/>
              <a:gdLst/>
              <a:ahLst/>
              <a:cxnLst/>
              <a:rect l="l" t="t" r="r" b="b"/>
              <a:pathLst>
                <a:path w="3281679" h="2656840">
                  <a:moveTo>
                    <a:pt x="0" y="2656459"/>
                  </a:moveTo>
                  <a:lnTo>
                    <a:pt x="3281299" y="2656459"/>
                  </a:lnTo>
                  <a:lnTo>
                    <a:pt x="3281299" y="0"/>
                  </a:lnTo>
                  <a:lnTo>
                    <a:pt x="0" y="0"/>
                  </a:lnTo>
                  <a:lnTo>
                    <a:pt x="0" y="265645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349" y="137286"/>
            <a:ext cx="1800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0">
                <a:latin typeface="Calibri Light"/>
                <a:cs typeface="Calibri Light"/>
              </a:rPr>
              <a:t>Collection</a:t>
            </a:r>
            <a:r>
              <a:rPr dirty="0" sz="1800" spc="-10" b="0">
                <a:latin typeface="Calibri Light"/>
                <a:cs typeface="Calibri Light"/>
              </a:rPr>
              <a:t> Injection</a:t>
            </a:r>
            <a:endParaRPr sz="1800">
              <a:latin typeface="Calibri Light"/>
              <a:cs typeface="Calibri 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416" y="813815"/>
              <a:ext cx="1502645" cy="219607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7316" y="7619"/>
              <a:ext cx="2424684" cy="334822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33019"/>
            <a:ext cx="232346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Literal</a:t>
            </a:r>
            <a:r>
              <a:rPr dirty="0" spc="-80"/>
              <a:t> </a:t>
            </a:r>
            <a:r>
              <a:rPr dirty="0" spc="-10"/>
              <a:t>Values</a:t>
            </a:r>
            <a:r>
              <a:rPr dirty="0" spc="-80"/>
              <a:t> </a:t>
            </a:r>
            <a:r>
              <a:rPr dirty="0" spc="-10"/>
              <a:t>Injection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1051" y="2574035"/>
              <a:ext cx="1824227" cy="30632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318638" y="2571686"/>
              <a:ext cx="1829435" cy="311150"/>
            </a:xfrm>
            <a:custGeom>
              <a:avLst/>
              <a:gdLst/>
              <a:ahLst/>
              <a:cxnLst/>
              <a:rect l="l" t="t" r="r" b="b"/>
              <a:pathLst>
                <a:path w="1829435" h="311150">
                  <a:moveTo>
                    <a:pt x="0" y="311086"/>
                  </a:moveTo>
                  <a:lnTo>
                    <a:pt x="1828927" y="311086"/>
                  </a:lnTo>
                  <a:lnTo>
                    <a:pt x="1828927" y="0"/>
                  </a:lnTo>
                  <a:lnTo>
                    <a:pt x="0" y="0"/>
                  </a:lnTo>
                  <a:lnTo>
                    <a:pt x="0" y="311086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330" y="445031"/>
              <a:ext cx="3994376" cy="198573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58191" y="410717"/>
              <a:ext cx="4036060" cy="2036445"/>
            </a:xfrm>
            <a:custGeom>
              <a:avLst/>
              <a:gdLst/>
              <a:ahLst/>
              <a:cxnLst/>
              <a:rect l="l" t="t" r="r" b="b"/>
              <a:pathLst>
                <a:path w="4036060" h="2036445">
                  <a:moveTo>
                    <a:pt x="0" y="2036191"/>
                  </a:moveTo>
                  <a:lnTo>
                    <a:pt x="4035679" y="2036191"/>
                  </a:lnTo>
                  <a:lnTo>
                    <a:pt x="4035679" y="0"/>
                  </a:lnTo>
                  <a:lnTo>
                    <a:pt x="0" y="0"/>
                  </a:lnTo>
                  <a:lnTo>
                    <a:pt x="0" y="2036191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880" y="2515838"/>
              <a:ext cx="1652016" cy="85652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0466" y="2484780"/>
              <a:ext cx="1656714" cy="922655"/>
            </a:xfrm>
            <a:custGeom>
              <a:avLst/>
              <a:gdLst/>
              <a:ahLst/>
              <a:cxnLst/>
              <a:rect l="l" t="t" r="r" b="b"/>
              <a:pathLst>
                <a:path w="1656714" h="922654">
                  <a:moveTo>
                    <a:pt x="0" y="922210"/>
                  </a:moveTo>
                  <a:lnTo>
                    <a:pt x="1656714" y="922210"/>
                  </a:lnTo>
                  <a:lnTo>
                    <a:pt x="1656714" y="0"/>
                  </a:lnTo>
                  <a:lnTo>
                    <a:pt x="0" y="0"/>
                  </a:lnTo>
                  <a:lnTo>
                    <a:pt x="0" y="92221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Spring’s</a:t>
            </a:r>
            <a:r>
              <a:rPr dirty="0" sz="2200" spc="-65"/>
              <a:t> </a:t>
            </a:r>
            <a:r>
              <a:rPr dirty="0" sz="2200" spc="-20"/>
              <a:t>Auto-</a:t>
            </a:r>
            <a:r>
              <a:rPr dirty="0" sz="2200" spc="-10"/>
              <a:t>wiring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6932"/>
            <a:ext cx="388048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095" indent="-112395">
              <a:lnSpc>
                <a:spcPts val="1120"/>
              </a:lnSpc>
              <a:spcBef>
                <a:spcPts val="100"/>
              </a:spcBef>
              <a:buFont typeface="Arial"/>
              <a:buChar char="•"/>
              <a:tabLst>
                <a:tab pos="125095" algn="l"/>
              </a:tabLst>
            </a:pPr>
            <a:r>
              <a:rPr dirty="0" sz="1100">
                <a:latin typeface="Calibri"/>
                <a:cs typeface="Calibri"/>
              </a:rPr>
              <a:t>Autowiring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feature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spring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framework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enables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inject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  <a:p>
            <a:pPr marL="127000" marR="5080">
              <a:lnSpc>
                <a:spcPct val="70000"/>
              </a:lnSpc>
              <a:spcBef>
                <a:spcPts val="200"/>
              </a:spcBef>
            </a:pP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dependency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implicitly.</a:t>
            </a:r>
            <a:r>
              <a:rPr dirty="0" sz="1100" spc="19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internally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uses</a:t>
            </a:r>
            <a:r>
              <a:rPr dirty="0" sz="1100" spc="19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setter</a:t>
            </a:r>
            <a:r>
              <a:rPr dirty="0" sz="1100" spc="200">
                <a:latin typeface="Calibri"/>
                <a:cs typeface="Calibri"/>
              </a:rPr>
              <a:t>  </a:t>
            </a:r>
            <a:r>
              <a:rPr dirty="0" sz="1100" spc="-25">
                <a:latin typeface="Calibri"/>
                <a:cs typeface="Calibri"/>
              </a:rPr>
              <a:t>or </a:t>
            </a:r>
            <a:r>
              <a:rPr dirty="0" sz="1100" spc="-10">
                <a:latin typeface="Calibri"/>
                <a:cs typeface="Calibri"/>
              </a:rPr>
              <a:t>constructor</a:t>
            </a:r>
            <a:r>
              <a:rPr dirty="0" sz="1100" spc="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injection.</a:t>
            </a:r>
            <a:endParaRPr sz="1100">
              <a:latin typeface="Calibri"/>
              <a:cs typeface="Calibri"/>
            </a:endParaRPr>
          </a:p>
          <a:p>
            <a:pPr marL="124460" marR="6350" indent="-112395">
              <a:lnSpc>
                <a:spcPct val="70000"/>
              </a:lnSpc>
              <a:spcBef>
                <a:spcPts val="4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100">
                <a:latin typeface="Calibri"/>
                <a:cs typeface="Calibri"/>
              </a:rPr>
              <a:t>Autowiring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can't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inject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primitive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string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values.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It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works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only.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11150" y="1416176"/>
          <a:ext cx="4025900" cy="182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820"/>
                <a:gridCol w="721995"/>
                <a:gridCol w="3011805"/>
              </a:tblGrid>
              <a:tr h="146685"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dirty="0" sz="900" spc="-25">
                          <a:latin typeface="Calibri"/>
                          <a:cs typeface="Calibri"/>
                        </a:rPr>
                        <a:t>No.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Mode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06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Description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060"/>
                        </a:lnSpc>
                      </a:pP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3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900" spc="3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autowiring</a:t>
                      </a:r>
                      <a:r>
                        <a:rPr dirty="0" sz="900" spc="32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mode.</a:t>
                      </a:r>
                      <a:r>
                        <a:rPr dirty="0" sz="900" spc="3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3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means</a:t>
                      </a:r>
                      <a:r>
                        <a:rPr dirty="0" sz="900" spc="3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900" spc="3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auto-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wiring</a:t>
                      </a:r>
                      <a:r>
                        <a:rPr dirty="0" sz="900" spc="3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by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3175">
                        <a:lnSpc>
                          <a:spcPts val="1050"/>
                        </a:lnSpc>
                      </a:pPr>
                      <a:r>
                        <a:rPr dirty="0" sz="900" spc="-1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byName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175">
                        <a:lnSpc>
                          <a:spcPts val="1080"/>
                        </a:lnSpc>
                      </a:pP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byName</a:t>
                      </a:r>
                      <a:r>
                        <a:rPr dirty="0" sz="900" spc="75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r>
                        <a:rPr dirty="0" sz="900" spc="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injects</a:t>
                      </a:r>
                      <a:r>
                        <a:rPr dirty="0" sz="900" spc="7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object</a:t>
                      </a:r>
                      <a:r>
                        <a:rPr dirty="0" sz="900" spc="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dependency</a:t>
                      </a:r>
                      <a:r>
                        <a:rPr dirty="0" sz="900" spc="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according</a:t>
                      </a:r>
                      <a:r>
                        <a:rPr dirty="0" sz="900" spc="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bean.</a:t>
                      </a:r>
                      <a:r>
                        <a:rPr dirty="0" sz="900" spc="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such</a:t>
                      </a:r>
                      <a:r>
                        <a:rPr dirty="0" sz="900" spc="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case,</a:t>
                      </a:r>
                      <a:r>
                        <a:rPr dirty="0" sz="900" spc="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property</a:t>
                      </a:r>
                      <a:r>
                        <a:rPr dirty="0" sz="900" spc="4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bean</a:t>
                      </a:r>
                      <a:r>
                        <a:rPr dirty="0" sz="900" spc="3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must</a:t>
                      </a:r>
                      <a:r>
                        <a:rPr dirty="0" sz="9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same.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-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internally</a:t>
                      </a:r>
                      <a:r>
                        <a:rPr dirty="0" sz="900" spc="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calls</a:t>
                      </a:r>
                      <a:r>
                        <a:rPr dirty="0" sz="9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setter</a:t>
                      </a:r>
                      <a:r>
                        <a:rPr dirty="0" sz="9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method.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byType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175">
                        <a:lnSpc>
                          <a:spcPts val="1080"/>
                        </a:lnSpc>
                      </a:pP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byType</a:t>
                      </a:r>
                      <a:r>
                        <a:rPr dirty="0" sz="900" spc="13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r>
                        <a:rPr dirty="0" sz="900" spc="1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injects</a:t>
                      </a:r>
                      <a:r>
                        <a:rPr dirty="0" sz="900" spc="1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object</a:t>
                      </a:r>
                      <a:r>
                        <a:rPr dirty="0" sz="900" spc="1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dependency</a:t>
                      </a:r>
                      <a:r>
                        <a:rPr dirty="0" sz="900" spc="13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according</a:t>
                      </a:r>
                      <a:r>
                        <a:rPr dirty="0" sz="900" spc="14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type.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900" spc="2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property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1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bean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00" spc="1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different.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internally</a:t>
                      </a:r>
                      <a:r>
                        <a:rPr dirty="0" sz="900" spc="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calls</a:t>
                      </a:r>
                      <a:r>
                        <a:rPr dirty="0" sz="9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setter</a:t>
                      </a:r>
                      <a:r>
                        <a:rPr dirty="0" sz="900" spc="-1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method.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constructor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3175">
                        <a:lnSpc>
                          <a:spcPts val="1080"/>
                        </a:lnSpc>
                      </a:pP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constructor</a:t>
                      </a:r>
                      <a:r>
                        <a:rPr dirty="0" sz="900" spc="195" i="1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r>
                        <a:rPr dirty="0" sz="900" spc="1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injects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dependency</a:t>
                      </a:r>
                      <a:r>
                        <a:rPr dirty="0" sz="900" spc="19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900" spc="1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calling</a:t>
                      </a:r>
                      <a:r>
                        <a:rPr dirty="0" sz="900" spc="1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constructor</a:t>
                      </a:r>
                      <a:r>
                        <a:rPr dirty="0" sz="900" spc="1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class.</a:t>
                      </a:r>
                      <a:r>
                        <a:rPr dirty="0" sz="900" spc="1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calls</a:t>
                      </a:r>
                      <a:r>
                        <a:rPr dirty="0" sz="900" spc="17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19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constructor</a:t>
                      </a:r>
                      <a:r>
                        <a:rPr dirty="0" sz="900" spc="18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having</a:t>
                      </a:r>
                      <a:r>
                        <a:rPr dirty="0" sz="900" spc="18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r>
                        <a:rPr dirty="0" sz="900" spc="5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900" spc="-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25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parameters.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900" spc="-50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35"/>
                        </a:lnSpc>
                      </a:pPr>
                      <a:r>
                        <a:rPr dirty="0" sz="900" spc="-10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autodetect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035"/>
                        </a:lnSpc>
                      </a:pPr>
                      <a:r>
                        <a:rPr dirty="0" sz="900" spc="-10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deprecated</a:t>
                      </a:r>
                      <a:r>
                        <a:rPr dirty="0" sz="900" spc="15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since</a:t>
                      </a:r>
                      <a:r>
                        <a:rPr dirty="0" sz="900" spc="-15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Spring</a:t>
                      </a:r>
                      <a:r>
                        <a:rPr dirty="0" sz="900" spc="5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strike="sngStrike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654810" y="3228212"/>
            <a:ext cx="11849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Table:</a:t>
            </a:r>
            <a:r>
              <a:rPr dirty="0" sz="900" spc="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Autowiring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 spc="-20">
                <a:latin typeface="Calibri"/>
                <a:cs typeface="Calibri"/>
              </a:rPr>
              <a:t>Modes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Spring’s</a:t>
            </a:r>
            <a:r>
              <a:rPr dirty="0" sz="2200" spc="-65"/>
              <a:t> </a:t>
            </a:r>
            <a:r>
              <a:rPr dirty="0" sz="2200" spc="-20"/>
              <a:t>Auto-</a:t>
            </a:r>
            <a:r>
              <a:rPr dirty="0" sz="2200" spc="-10"/>
              <a:t>wiring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43" y="2124455"/>
            <a:ext cx="4152900" cy="10622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11531" y="2122068"/>
            <a:ext cx="4157979" cy="108077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marL="1523365">
              <a:lnSpc>
                <a:spcPct val="100000"/>
              </a:lnSpc>
            </a:pP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bean</a:t>
            </a:r>
            <a:r>
              <a:rPr dirty="0" sz="900" spc="-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900" spc="-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id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 “faculty”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548" y="573023"/>
            <a:ext cx="3880051" cy="121310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1531" y="570674"/>
            <a:ext cx="3953510" cy="121793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900">
              <a:latin typeface="Times New Roman"/>
              <a:cs typeface="Times New Roman"/>
            </a:endParaRPr>
          </a:p>
          <a:p>
            <a:pPr algn="ctr" marR="523240">
              <a:lnSpc>
                <a:spcPct val="100000"/>
              </a:lnSpc>
            </a:pP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explicit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Calibri"/>
              <a:cs typeface="Calibri"/>
            </a:endParaRPr>
          </a:p>
          <a:p>
            <a:pPr algn="r" marR="86360">
              <a:lnSpc>
                <a:spcPct val="100000"/>
              </a:lnSpc>
            </a:pPr>
            <a:r>
              <a:rPr dirty="0" sz="90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dirty="0" sz="9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dirty="0" sz="900" spc="-10">
                <a:solidFill>
                  <a:srgbClr val="C00000"/>
                </a:solidFill>
                <a:latin typeface="Calibri"/>
                <a:cs typeface="Calibri"/>
              </a:rPr>
              <a:t> omitted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Spring’s</a:t>
            </a:r>
            <a:r>
              <a:rPr dirty="0" sz="2200" spc="-65"/>
              <a:t> </a:t>
            </a:r>
            <a:r>
              <a:rPr dirty="0" sz="2200" spc="-20"/>
              <a:t>Auto-</a:t>
            </a:r>
            <a:r>
              <a:rPr dirty="0" sz="2200" spc="-10"/>
              <a:t>wiring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308990" y="572706"/>
            <a:ext cx="3954145" cy="1127125"/>
            <a:chOff x="308990" y="572706"/>
            <a:chExt cx="3954145" cy="11271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3" y="582173"/>
              <a:ext cx="3939536" cy="109877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1530" y="575246"/>
              <a:ext cx="3949065" cy="1122045"/>
            </a:xfrm>
            <a:custGeom>
              <a:avLst/>
              <a:gdLst/>
              <a:ahLst/>
              <a:cxnLst/>
              <a:rect l="l" t="t" r="r" b="b"/>
              <a:pathLst>
                <a:path w="3949065" h="1122045">
                  <a:moveTo>
                    <a:pt x="0" y="1121854"/>
                  </a:moveTo>
                  <a:lnTo>
                    <a:pt x="3948811" y="1121854"/>
                  </a:lnTo>
                  <a:lnTo>
                    <a:pt x="3948811" y="0"/>
                  </a:lnTo>
                  <a:lnTo>
                    <a:pt x="0" y="0"/>
                  </a:lnTo>
                  <a:lnTo>
                    <a:pt x="0" y="112185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95805" y="921511"/>
            <a:ext cx="15709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bean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900" spc="-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“Faculty”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31850" y="1729485"/>
            <a:ext cx="3583940" cy="1682114"/>
            <a:chOff x="331850" y="1729485"/>
            <a:chExt cx="3583940" cy="1682114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803" y="1734311"/>
              <a:ext cx="3573779" cy="167182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34390" y="1732025"/>
              <a:ext cx="3578860" cy="1677035"/>
            </a:xfrm>
            <a:custGeom>
              <a:avLst/>
              <a:gdLst/>
              <a:ahLst/>
              <a:cxnLst/>
              <a:rect l="l" t="t" r="r" b="b"/>
              <a:pathLst>
                <a:path w="3578860" h="1677035">
                  <a:moveTo>
                    <a:pt x="0" y="1676527"/>
                  </a:moveTo>
                  <a:lnTo>
                    <a:pt x="3578479" y="1676527"/>
                  </a:lnTo>
                  <a:lnTo>
                    <a:pt x="3578479" y="0"/>
                  </a:lnTo>
                  <a:lnTo>
                    <a:pt x="0" y="0"/>
                  </a:lnTo>
                  <a:lnTo>
                    <a:pt x="0" y="1676527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870075" y="2084958"/>
            <a:ext cx="15709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bean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900" spc="-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dirty="0" sz="900" spc="-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“Faculty”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2765" y="2274569"/>
            <a:ext cx="4173220" cy="1123315"/>
          </a:xfrm>
          <a:custGeom>
            <a:avLst/>
            <a:gdLst/>
            <a:ahLst/>
            <a:cxnLst/>
            <a:rect l="l" t="t" r="r" b="b"/>
            <a:pathLst>
              <a:path w="4173220" h="1123314">
                <a:moveTo>
                  <a:pt x="0" y="1123188"/>
                </a:moveTo>
                <a:lnTo>
                  <a:pt x="4172712" y="1123188"/>
                </a:lnTo>
                <a:lnTo>
                  <a:pt x="4172712" y="0"/>
                </a:lnTo>
                <a:lnTo>
                  <a:pt x="0" y="0"/>
                </a:lnTo>
                <a:lnTo>
                  <a:pt x="0" y="1123188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599" y="-2667"/>
            <a:ext cx="358076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Configuring</a:t>
            </a:r>
            <a:r>
              <a:rPr dirty="0" spc="-25"/>
              <a:t> </a:t>
            </a:r>
            <a:r>
              <a:rPr dirty="0"/>
              <a:t>Beans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Container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5052" y="323164"/>
            <a:ext cx="20662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0">
                <a:latin typeface="Calibri Light"/>
                <a:cs typeface="Calibri Light"/>
              </a:rPr>
              <a:t>Java-</a:t>
            </a:r>
            <a:r>
              <a:rPr dirty="0" sz="1600" b="0">
                <a:latin typeface="Calibri Light"/>
                <a:cs typeface="Calibri Light"/>
              </a:rPr>
              <a:t>Based</a:t>
            </a:r>
            <a:r>
              <a:rPr dirty="0" sz="1600" spc="-35" b="0">
                <a:latin typeface="Calibri Light"/>
                <a:cs typeface="Calibri Light"/>
              </a:rPr>
              <a:t> </a:t>
            </a:r>
            <a:r>
              <a:rPr dirty="0" sz="1600" spc="-10" b="0">
                <a:latin typeface="Calibri Light"/>
                <a:cs typeface="Calibri Light"/>
              </a:rPr>
              <a:t>Configuration</a:t>
            </a:r>
            <a:endParaRPr sz="1600">
              <a:latin typeface="Calibri Light"/>
              <a:cs typeface="Calibri Ligh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sp>
          <p:nvSpPr>
            <p:cNvPr id="6" name="object 6" descr=""/>
            <p:cNvSpPr/>
            <p:nvPr/>
          </p:nvSpPr>
          <p:spPr>
            <a:xfrm>
              <a:off x="32766" y="735329"/>
              <a:ext cx="2623185" cy="1553210"/>
            </a:xfrm>
            <a:custGeom>
              <a:avLst/>
              <a:gdLst/>
              <a:ahLst/>
              <a:cxnLst/>
              <a:rect l="l" t="t" r="r" b="b"/>
              <a:pathLst>
                <a:path w="2623185" h="1553210">
                  <a:moveTo>
                    <a:pt x="2622804" y="0"/>
                  </a:moveTo>
                  <a:lnTo>
                    <a:pt x="0" y="0"/>
                  </a:lnTo>
                  <a:lnTo>
                    <a:pt x="0" y="1552956"/>
                  </a:lnTo>
                  <a:lnTo>
                    <a:pt x="2622804" y="1552956"/>
                  </a:lnTo>
                  <a:lnTo>
                    <a:pt x="2622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766" y="735329"/>
              <a:ext cx="2623185" cy="1553210"/>
            </a:xfrm>
            <a:custGeom>
              <a:avLst/>
              <a:gdLst/>
              <a:ahLst/>
              <a:cxnLst/>
              <a:rect l="l" t="t" r="r" b="b"/>
              <a:pathLst>
                <a:path w="2623185" h="1553210">
                  <a:moveTo>
                    <a:pt x="0" y="1552956"/>
                  </a:moveTo>
                  <a:lnTo>
                    <a:pt x="2622804" y="1552956"/>
                  </a:lnTo>
                  <a:lnTo>
                    <a:pt x="2622804" y="0"/>
                  </a:lnTo>
                  <a:lnTo>
                    <a:pt x="0" y="0"/>
                  </a:lnTo>
                  <a:lnTo>
                    <a:pt x="0" y="155295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6228" y="647699"/>
              <a:ext cx="1953768" cy="17906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583815" y="645286"/>
              <a:ext cx="1958975" cy="1795780"/>
            </a:xfrm>
            <a:custGeom>
              <a:avLst/>
              <a:gdLst/>
              <a:ahLst/>
              <a:cxnLst/>
              <a:rect l="l" t="t" r="r" b="b"/>
              <a:pathLst>
                <a:path w="1958975" h="1795780">
                  <a:moveTo>
                    <a:pt x="0" y="1795526"/>
                  </a:moveTo>
                  <a:lnTo>
                    <a:pt x="1958593" y="1795526"/>
                  </a:lnTo>
                  <a:lnTo>
                    <a:pt x="1958593" y="0"/>
                  </a:lnTo>
                  <a:lnTo>
                    <a:pt x="0" y="0"/>
                  </a:lnTo>
                  <a:lnTo>
                    <a:pt x="0" y="179552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750519"/>
            <a:ext cx="3394075" cy="2882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7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org.springframework.context.annotation.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Bean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7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org.springframework.context.annotation.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Configuration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@Configuration</a:t>
            </a:r>
            <a:endParaRPr sz="700">
              <a:latin typeface="Arial"/>
              <a:cs typeface="Arial"/>
            </a:endParaRPr>
          </a:p>
          <a:p>
            <a:pPr marL="189865" marR="2228215" indent="-9906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UserServices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@Bean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Group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groupService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 spc="2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7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7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Group(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"Admin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Group"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@Bean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 </a:t>
            </a:r>
            <a:r>
              <a:rPr dirty="0" sz="700">
                <a:latin typeface="Arial"/>
                <a:cs typeface="Arial"/>
              </a:rPr>
              <a:t>User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userService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 spc="2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7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User(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"teo"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,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"123"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,</a:t>
            </a:r>
            <a:r>
              <a:rPr dirty="0" sz="700" spc="-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groupService());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7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org.springframework.context.ApplicationContext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  <a:p>
            <a:pPr marL="90805" marR="508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import</a:t>
            </a:r>
            <a:r>
              <a:rPr dirty="0" sz="7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org.springframework.context.annotation.AnnotationConfigApplicationContext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Main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282575" marR="1737995" indent="-9334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latin typeface="Arial"/>
                <a:cs typeface="Arial"/>
              </a:rPr>
              <a:t>String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 args)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ApplicationContext</a:t>
            </a:r>
            <a:r>
              <a:rPr dirty="0" sz="700" spc="8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ctx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=</a:t>
            </a:r>
            <a:endParaRPr sz="700">
              <a:latin typeface="Arial"/>
              <a:cs typeface="Arial"/>
            </a:endParaRPr>
          </a:p>
          <a:p>
            <a:pPr marL="287020" marR="467359" indent="19621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700" spc="-4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AnnotationConfigApplicationContext(</a:t>
            </a:r>
            <a:r>
              <a:rPr dirty="0" sz="700" spc="-10">
                <a:latin typeface="Arial"/>
                <a:cs typeface="Arial"/>
              </a:rPr>
              <a:t>UserServices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User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u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7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ctx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.getBean(</a:t>
            </a:r>
            <a:r>
              <a:rPr dirty="0" sz="700" spc="-10">
                <a:latin typeface="Arial"/>
                <a:cs typeface="Arial"/>
              </a:rPr>
              <a:t>User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7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dirty="0" sz="700" spc="-10">
                <a:latin typeface="Arial"/>
                <a:cs typeface="Arial"/>
              </a:rPr>
              <a:t>System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700" spc="-10">
                <a:latin typeface="Arial"/>
                <a:cs typeface="Arial"/>
              </a:rPr>
              <a:t>u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70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-29327"/>
            <a:ext cx="3580765" cy="621030"/>
          </a:xfrm>
          <a:prstGeom prst="rect"/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/>
              <a:t>Configuring</a:t>
            </a:r>
            <a:r>
              <a:rPr dirty="0" spc="-25"/>
              <a:t> </a:t>
            </a:r>
            <a:r>
              <a:rPr dirty="0"/>
              <a:t>Beans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 spc="-10"/>
              <a:t>Container</a:t>
            </a:r>
          </a:p>
          <a:p>
            <a:pPr algn="ctr" marR="16510">
              <a:lnSpc>
                <a:spcPct val="100000"/>
              </a:lnSpc>
              <a:spcBef>
                <a:spcPts val="160"/>
              </a:spcBef>
            </a:pPr>
            <a:r>
              <a:rPr dirty="0" sz="1600" spc="-20"/>
              <a:t>Annotation-</a:t>
            </a:r>
            <a:r>
              <a:rPr dirty="0" sz="1600"/>
              <a:t>Based</a:t>
            </a:r>
            <a:r>
              <a:rPr dirty="0" sz="1600" spc="80"/>
              <a:t> </a:t>
            </a:r>
            <a:r>
              <a:rPr dirty="0" sz="1600" spc="-10"/>
              <a:t>Configuration</a:t>
            </a:r>
            <a:endParaRPr sz="1600"/>
          </a:p>
        </p:txBody>
      </p:sp>
      <p:sp>
        <p:nvSpPr>
          <p:cNvPr id="3" name="object 3" descr=""/>
          <p:cNvSpPr txBox="1"/>
          <p:nvPr/>
        </p:nvSpPr>
        <p:spPr>
          <a:xfrm>
            <a:off x="299974" y="2334259"/>
            <a:ext cx="3879215" cy="35496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385"/>
              </a:spcBef>
            </a:pPr>
            <a:r>
              <a:rPr dirty="0" sz="1200" spc="-10">
                <a:latin typeface="Calibri"/>
                <a:cs typeface="Calibri"/>
              </a:rPr>
              <a:t>&lt;context:annotation-</a:t>
            </a:r>
            <a:r>
              <a:rPr dirty="0" sz="1200">
                <a:latin typeface="Calibri"/>
                <a:cs typeface="Calibri"/>
              </a:rPr>
              <a:t>config/&gt;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2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looks</a:t>
            </a:r>
            <a:r>
              <a:rPr dirty="0" sz="1200" spc="2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annotations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beans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defined.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08990" y="621537"/>
            <a:ext cx="3493770" cy="1724660"/>
            <a:chOff x="308990" y="621537"/>
            <a:chExt cx="3493770" cy="17246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3" y="626363"/>
              <a:ext cx="3483863" cy="17145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11530" y="624077"/>
              <a:ext cx="3488690" cy="1719580"/>
            </a:xfrm>
            <a:custGeom>
              <a:avLst/>
              <a:gdLst/>
              <a:ahLst/>
              <a:cxnLst/>
              <a:rect l="l" t="t" r="r" b="b"/>
              <a:pathLst>
                <a:path w="3488690" h="1719580">
                  <a:moveTo>
                    <a:pt x="0" y="1719199"/>
                  </a:moveTo>
                  <a:lnTo>
                    <a:pt x="3488563" y="1719199"/>
                  </a:lnTo>
                  <a:lnTo>
                    <a:pt x="3488563" y="0"/>
                  </a:lnTo>
                  <a:lnTo>
                    <a:pt x="0" y="0"/>
                  </a:lnTo>
                  <a:lnTo>
                    <a:pt x="0" y="1719199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090166" y="2724149"/>
            <a:ext cx="2304415" cy="66167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46355" marR="644525">
              <a:lnSpc>
                <a:spcPct val="100000"/>
              </a:lnSpc>
              <a:spcBef>
                <a:spcPts val="180"/>
              </a:spcBef>
            </a:pPr>
            <a:r>
              <a:rPr dirty="0" sz="800" spc="-10">
                <a:solidFill>
                  <a:srgbClr val="9E870D"/>
                </a:solidFill>
                <a:latin typeface="Arial"/>
                <a:cs typeface="Arial"/>
              </a:rPr>
              <a:t>@Configuration @ComponentScan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“your.package"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5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AppConfig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</a:pPr>
            <a:r>
              <a:rPr dirty="0" sz="800" spc="-10" i="1">
                <a:solidFill>
                  <a:srgbClr val="8B8B8B"/>
                </a:solidFill>
                <a:latin typeface="Arial"/>
                <a:cs typeface="Arial"/>
              </a:rPr>
              <a:t>//no-</a:t>
            </a:r>
            <a:r>
              <a:rPr dirty="0" sz="800" spc="-25" i="1">
                <a:solidFill>
                  <a:srgbClr val="8B8B8B"/>
                </a:solidFill>
                <a:latin typeface="Arial"/>
                <a:cs typeface="Arial"/>
              </a:rPr>
              <a:t>op</a:t>
            </a:r>
            <a:endParaRPr sz="8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6430" y="2726181"/>
            <a:ext cx="180848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Calibri"/>
                <a:cs typeface="Calibri"/>
              </a:rPr>
              <a:t>You </a:t>
            </a:r>
            <a:r>
              <a:rPr dirty="0" sz="1000">
                <a:latin typeface="Calibri"/>
                <a:cs typeface="Calibri"/>
              </a:rPr>
              <a:t>can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also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00000"/>
                </a:solidFill>
                <a:latin typeface="Calibri"/>
                <a:cs typeface="Calibri"/>
              </a:rPr>
              <a:t>@Configuration </a:t>
            </a:r>
            <a:r>
              <a:rPr dirty="0" sz="1000" spc="-10">
                <a:latin typeface="Calibri"/>
                <a:cs typeface="Calibri"/>
              </a:rPr>
              <a:t>annotation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purpose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The</a:t>
            </a:r>
            <a:r>
              <a:rPr dirty="0" sz="2200" spc="-75"/>
              <a:t> </a:t>
            </a:r>
            <a:r>
              <a:rPr dirty="0" sz="2200"/>
              <a:t>@Autowired</a:t>
            </a:r>
            <a:r>
              <a:rPr dirty="0" sz="2200" spc="-40"/>
              <a:t> </a:t>
            </a:r>
            <a:r>
              <a:rPr dirty="0" sz="2200" spc="-10"/>
              <a:t>annotation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550"/>
            <a:ext cx="3877945" cy="62420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00">
                <a:latin typeface="Calibri"/>
                <a:cs typeface="Calibri"/>
              </a:rPr>
              <a:t>  </a:t>
            </a:r>
            <a:r>
              <a:rPr dirty="0" sz="1400" i="1">
                <a:solidFill>
                  <a:srgbClr val="C00000"/>
                </a:solidFill>
                <a:latin typeface="Calibri"/>
                <a:cs typeface="Calibri"/>
              </a:rPr>
              <a:t>@Autowired</a:t>
            </a:r>
            <a:r>
              <a:rPr dirty="0" sz="1400" spc="204" i="1">
                <a:solidFill>
                  <a:srgbClr val="C00000"/>
                </a:solidFill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annotation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allows</a:t>
            </a:r>
            <a:r>
              <a:rPr dirty="0" sz="1400" spc="20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resolve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inject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collaborating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beans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another 	bean.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6495" y="650588"/>
            <a:ext cx="2586990" cy="1005205"/>
            <a:chOff x="106495" y="650588"/>
            <a:chExt cx="2586990" cy="10052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1" y="655319"/>
              <a:ext cx="2563351" cy="99517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08877" y="652970"/>
              <a:ext cx="2581910" cy="1000125"/>
            </a:xfrm>
            <a:custGeom>
              <a:avLst/>
              <a:gdLst/>
              <a:ahLst/>
              <a:cxnLst/>
              <a:rect l="l" t="t" r="r" b="b"/>
              <a:pathLst>
                <a:path w="2581910" h="1000125">
                  <a:moveTo>
                    <a:pt x="0" y="999934"/>
                  </a:moveTo>
                  <a:lnTo>
                    <a:pt x="2581783" y="999934"/>
                  </a:lnTo>
                  <a:lnTo>
                    <a:pt x="2581783" y="0"/>
                  </a:lnTo>
                  <a:lnTo>
                    <a:pt x="0" y="0"/>
                  </a:lnTo>
                  <a:lnTo>
                    <a:pt x="0" y="99993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08077" y="1743328"/>
            <a:ext cx="4412615" cy="675640"/>
            <a:chOff x="108077" y="1743328"/>
            <a:chExt cx="4412615" cy="675640"/>
          </a:xfrm>
        </p:grpSpPr>
        <p:sp>
          <p:nvSpPr>
            <p:cNvPr id="6" name="object 6" descr=""/>
            <p:cNvSpPr/>
            <p:nvPr/>
          </p:nvSpPr>
          <p:spPr>
            <a:xfrm>
              <a:off x="111252" y="1746503"/>
              <a:ext cx="4406265" cy="669290"/>
            </a:xfrm>
            <a:custGeom>
              <a:avLst/>
              <a:gdLst/>
              <a:ahLst/>
              <a:cxnLst/>
              <a:rect l="l" t="t" r="r" b="b"/>
              <a:pathLst>
                <a:path w="4406265" h="669289">
                  <a:moveTo>
                    <a:pt x="0" y="669035"/>
                  </a:moveTo>
                  <a:lnTo>
                    <a:pt x="4405884" y="669035"/>
                  </a:lnTo>
                  <a:lnTo>
                    <a:pt x="4405884" y="0"/>
                  </a:lnTo>
                  <a:lnTo>
                    <a:pt x="0" y="0"/>
                  </a:lnTo>
                  <a:lnTo>
                    <a:pt x="0" y="669035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" y="1926335"/>
              <a:ext cx="1121664" cy="32766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48463" y="1923986"/>
              <a:ext cx="1126490" cy="332740"/>
            </a:xfrm>
            <a:custGeom>
              <a:avLst/>
              <a:gdLst/>
              <a:ahLst/>
              <a:cxnLst/>
              <a:rect l="l" t="t" r="r" b="b"/>
              <a:pathLst>
                <a:path w="1126490" h="332739">
                  <a:moveTo>
                    <a:pt x="0" y="332422"/>
                  </a:moveTo>
                  <a:lnTo>
                    <a:pt x="1126426" y="332422"/>
                  </a:lnTo>
                  <a:lnTo>
                    <a:pt x="1126426" y="0"/>
                  </a:lnTo>
                  <a:lnTo>
                    <a:pt x="0" y="0"/>
                  </a:lnTo>
                  <a:lnTo>
                    <a:pt x="0" y="33242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5691" y="1795271"/>
              <a:ext cx="1484376" cy="5821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6456" y="1840991"/>
              <a:ext cx="1610868" cy="49377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884043" y="1838642"/>
              <a:ext cx="1616075" cy="499109"/>
            </a:xfrm>
            <a:custGeom>
              <a:avLst/>
              <a:gdLst/>
              <a:ahLst/>
              <a:cxnLst/>
              <a:rect l="l" t="t" r="r" b="b"/>
              <a:pathLst>
                <a:path w="1616075" h="499110">
                  <a:moveTo>
                    <a:pt x="0" y="498538"/>
                  </a:moveTo>
                  <a:lnTo>
                    <a:pt x="1615566" y="498538"/>
                  </a:lnTo>
                  <a:lnTo>
                    <a:pt x="1615566" y="0"/>
                  </a:lnTo>
                  <a:lnTo>
                    <a:pt x="0" y="0"/>
                  </a:lnTo>
                  <a:lnTo>
                    <a:pt x="0" y="49853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09473" y="114045"/>
            <a:ext cx="4432300" cy="3317875"/>
            <a:chOff x="109473" y="114045"/>
            <a:chExt cx="4432300" cy="3317875"/>
          </a:xfrm>
        </p:grpSpPr>
        <p:sp>
          <p:nvSpPr>
            <p:cNvPr id="13" name="object 13" descr=""/>
            <p:cNvSpPr/>
            <p:nvPr/>
          </p:nvSpPr>
          <p:spPr>
            <a:xfrm>
              <a:off x="112013" y="2545841"/>
              <a:ext cx="3743325" cy="883285"/>
            </a:xfrm>
            <a:custGeom>
              <a:avLst/>
              <a:gdLst/>
              <a:ahLst/>
              <a:cxnLst/>
              <a:rect l="l" t="t" r="r" b="b"/>
              <a:pathLst>
                <a:path w="3743325" h="883285">
                  <a:moveTo>
                    <a:pt x="3742944" y="883157"/>
                  </a:moveTo>
                  <a:lnTo>
                    <a:pt x="3742944" y="0"/>
                  </a:lnTo>
                  <a:lnTo>
                    <a:pt x="0" y="0"/>
                  </a:lnTo>
                  <a:lnTo>
                    <a:pt x="0" y="883157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5768" y="118871"/>
              <a:ext cx="1821180" cy="156972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713354" y="116585"/>
              <a:ext cx="1826260" cy="1574800"/>
            </a:xfrm>
            <a:custGeom>
              <a:avLst/>
              <a:gdLst/>
              <a:ahLst/>
              <a:cxnLst/>
              <a:rect l="l" t="t" r="r" b="b"/>
              <a:pathLst>
                <a:path w="1826260" h="1574800">
                  <a:moveTo>
                    <a:pt x="0" y="1574419"/>
                  </a:moveTo>
                  <a:lnTo>
                    <a:pt x="1825878" y="1574419"/>
                  </a:lnTo>
                  <a:lnTo>
                    <a:pt x="1825878" y="0"/>
                  </a:lnTo>
                  <a:lnTo>
                    <a:pt x="0" y="0"/>
                  </a:lnTo>
                  <a:lnTo>
                    <a:pt x="0" y="1574419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88213" y="1708149"/>
            <a:ext cx="2432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Field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43278" y="1792922"/>
            <a:ext cx="1489075" cy="58737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13410">
              <a:lnSpc>
                <a:spcPts val="730"/>
              </a:lnSpc>
            </a:pP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Constructor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687571" y="1770125"/>
            <a:ext cx="2990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C00000"/>
                </a:solidFill>
                <a:latin typeface="Calibri"/>
                <a:cs typeface="Calibri"/>
              </a:rPr>
              <a:t>Setter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2519" y="1085087"/>
            <a:ext cx="894588" cy="13563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@Autowired</a:t>
            </a:r>
            <a:r>
              <a:rPr dirty="0" sz="2200" spc="-15"/>
              <a:t> </a:t>
            </a:r>
            <a:r>
              <a:rPr dirty="0" sz="2200"/>
              <a:t>xml</a:t>
            </a:r>
            <a:r>
              <a:rPr dirty="0" sz="2200" spc="-60"/>
              <a:t> </a:t>
            </a:r>
            <a:r>
              <a:rPr dirty="0" sz="2200" spc="-10"/>
              <a:t>config</a:t>
            </a:r>
            <a:endParaRPr sz="2200"/>
          </a:p>
        </p:txBody>
      </p:sp>
      <p:sp>
        <p:nvSpPr>
          <p:cNvPr id="21" name="object 21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-12395" y="2556509"/>
            <a:ext cx="3414395" cy="1075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7495" marR="1564005" indent="-108585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String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800" spc="-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args)</a:t>
            </a:r>
            <a:r>
              <a:rPr dirty="0" sz="8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ApplicationContext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ctx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=</a:t>
            </a:r>
            <a:endParaRPr sz="800">
              <a:latin typeface="Arial"/>
              <a:cs typeface="Arial"/>
            </a:endParaRPr>
          </a:p>
          <a:p>
            <a:pPr marL="283210" marR="5080" indent="22860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8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ClassPathXmlApplicationContext(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"applicationContext.xml"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 </a:t>
            </a:r>
            <a:r>
              <a:rPr dirty="0" sz="800">
                <a:latin typeface="Arial"/>
                <a:cs typeface="Arial"/>
              </a:rPr>
              <a:t>User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us</a:t>
            </a:r>
            <a:r>
              <a:rPr dirty="0" sz="800" spc="-1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-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>
                <a:latin typeface="Arial"/>
                <a:cs typeface="Arial"/>
              </a:rPr>
              <a:t>User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ctx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.getBean(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"user"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  <a:p>
            <a:pPr marL="283210" marR="2100580">
              <a:lnSpc>
                <a:spcPct val="100000"/>
              </a:lnSpc>
            </a:pPr>
            <a:r>
              <a:rPr dirty="0" sz="800" spc="-10">
                <a:latin typeface="Arial"/>
                <a:cs typeface="Arial"/>
              </a:rPr>
              <a:t>us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.doFoo(); </a:t>
            </a:r>
            <a:r>
              <a:rPr dirty="0" sz="800" spc="-10">
                <a:latin typeface="Arial"/>
                <a:cs typeface="Arial"/>
              </a:rPr>
              <a:t>System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800" spc="-10">
                <a:latin typeface="Arial"/>
                <a:cs typeface="Arial"/>
              </a:rPr>
              <a:t>us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@Autowired</a:t>
            </a:r>
            <a:r>
              <a:rPr dirty="0" sz="2200" spc="-55"/>
              <a:t> </a:t>
            </a:r>
            <a:r>
              <a:rPr dirty="0" sz="2200" spc="-35"/>
              <a:t>Java-</a:t>
            </a:r>
            <a:r>
              <a:rPr dirty="0" sz="2200"/>
              <a:t>based</a:t>
            </a:r>
            <a:r>
              <a:rPr dirty="0" sz="2200" spc="-65"/>
              <a:t> </a:t>
            </a:r>
            <a:r>
              <a:rPr dirty="0" sz="2200" spc="-10"/>
              <a:t>config</a:t>
            </a:r>
            <a:endParaRPr sz="2200"/>
          </a:p>
        </p:txBody>
      </p:sp>
      <p:sp>
        <p:nvSpPr>
          <p:cNvPr id="3" name="object 3" descr=""/>
          <p:cNvSpPr/>
          <p:nvPr/>
        </p:nvSpPr>
        <p:spPr>
          <a:xfrm>
            <a:off x="163829" y="509777"/>
            <a:ext cx="1892935" cy="692150"/>
          </a:xfrm>
          <a:custGeom>
            <a:avLst/>
            <a:gdLst/>
            <a:ahLst/>
            <a:cxnLst/>
            <a:rect l="l" t="t" r="r" b="b"/>
            <a:pathLst>
              <a:path w="1892935" h="692150">
                <a:moveTo>
                  <a:pt x="0" y="691895"/>
                </a:moveTo>
                <a:lnTo>
                  <a:pt x="1892808" y="691895"/>
                </a:lnTo>
                <a:lnTo>
                  <a:pt x="1892808" y="0"/>
                </a:lnTo>
                <a:lnTo>
                  <a:pt x="0" y="0"/>
                </a:lnTo>
                <a:lnTo>
                  <a:pt x="0" y="691895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96722" y="521588"/>
            <a:ext cx="180784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@Component</a:t>
            </a:r>
            <a:endParaRPr sz="700">
              <a:latin typeface="Arial"/>
              <a:cs typeface="Arial"/>
            </a:endParaRPr>
          </a:p>
          <a:p>
            <a:pPr marL="111760" marR="219710" indent="-9906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MyNumberFormatter</a:t>
            </a:r>
            <a:r>
              <a:rPr dirty="0" sz="700" spc="35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String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format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double</a:t>
            </a:r>
            <a:r>
              <a:rPr dirty="0" sz="7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number)</a:t>
            </a:r>
            <a:r>
              <a:rPr dirty="0" sz="7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7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"My</a:t>
            </a:r>
            <a:r>
              <a:rPr dirty="0" sz="700" spc="-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Number</a:t>
            </a:r>
            <a:r>
              <a:rPr dirty="0" sz="700" spc="-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Format</a:t>
            </a:r>
            <a:r>
              <a:rPr dirty="0" sz="700" spc="-2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-</a:t>
            </a:r>
            <a:r>
              <a:rPr dirty="0" sz="700" spc="-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57C17"/>
                </a:solidFill>
                <a:latin typeface="Arial"/>
                <a:cs typeface="Arial"/>
              </a:rPr>
              <a:t>"</a:t>
            </a:r>
            <a:r>
              <a:rPr dirty="0" sz="700" spc="-3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+</a:t>
            </a:r>
            <a:r>
              <a:rPr dirty="0" sz="700" spc="-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number;</a:t>
            </a: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63829" y="1224533"/>
            <a:ext cx="3234055" cy="1338580"/>
          </a:xfrm>
          <a:custGeom>
            <a:avLst/>
            <a:gdLst/>
            <a:ahLst/>
            <a:cxnLst/>
            <a:rect l="l" t="t" r="r" b="b"/>
            <a:pathLst>
              <a:path w="3234054" h="1338580">
                <a:moveTo>
                  <a:pt x="0" y="1338072"/>
                </a:moveTo>
                <a:lnTo>
                  <a:pt x="3233927" y="1338072"/>
                </a:lnTo>
                <a:lnTo>
                  <a:pt x="3233927" y="0"/>
                </a:lnTo>
                <a:lnTo>
                  <a:pt x="0" y="0"/>
                </a:lnTo>
                <a:lnTo>
                  <a:pt x="0" y="1338072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96722" y="1239392"/>
            <a:ext cx="316166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@Component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MyNumberFormatService</a:t>
            </a:r>
            <a:r>
              <a:rPr dirty="0" sz="700" spc="60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7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final </a:t>
            </a:r>
            <a:r>
              <a:rPr dirty="0" sz="700" spc="-10">
                <a:latin typeface="Arial"/>
                <a:cs typeface="Arial"/>
              </a:rPr>
              <a:t>MyNumberFormatter</a:t>
            </a:r>
            <a:r>
              <a:rPr dirty="0" sz="700" spc="40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myNumberFormatter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dirty="0" sz="700" spc="-10" i="1">
                <a:solidFill>
                  <a:srgbClr val="8B8B8B"/>
                </a:solidFill>
                <a:latin typeface="Arial"/>
                <a:cs typeface="Arial"/>
              </a:rPr>
              <a:t>//@Autowired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 -</a:t>
            </a:r>
            <a:r>
              <a:rPr dirty="0" sz="700" spc="-1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not</a:t>
            </a:r>
            <a:r>
              <a:rPr dirty="0" sz="700" spc="-1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B8B8B"/>
                </a:solidFill>
                <a:latin typeface="Arial"/>
                <a:cs typeface="Arial"/>
              </a:rPr>
              <a:t>required.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 SpringFX</a:t>
            </a:r>
            <a:r>
              <a:rPr dirty="0" sz="700" spc="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is</a:t>
            </a:r>
            <a:r>
              <a:rPr dirty="0" sz="700" spc="-2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smart</a:t>
            </a:r>
            <a:r>
              <a:rPr dirty="0" sz="700" spc="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enough</a:t>
            </a:r>
            <a:r>
              <a:rPr dirty="0" sz="700" spc="-1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to</a:t>
            </a:r>
            <a:r>
              <a:rPr dirty="0" sz="700" spc="-20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B8B8B"/>
                </a:solidFill>
                <a:latin typeface="Arial"/>
                <a:cs typeface="Arial"/>
              </a:rPr>
              <a:t>have</a:t>
            </a:r>
            <a:r>
              <a:rPr dirty="0" sz="700" spc="-15" i="1">
                <a:solidFill>
                  <a:srgbClr val="8B8B8B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B8B8B"/>
                </a:solidFill>
                <a:latin typeface="Arial"/>
                <a:cs typeface="Arial"/>
              </a:rPr>
              <a:t>known.</a:t>
            </a:r>
            <a:endParaRPr sz="700">
              <a:latin typeface="Arial"/>
              <a:cs typeface="Arial"/>
            </a:endParaRPr>
          </a:p>
          <a:p>
            <a:pPr marL="208915" marR="5080" indent="-9779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MyNumberFormatService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latin typeface="Arial"/>
                <a:cs typeface="Arial"/>
              </a:rPr>
              <a:t>MyNumberFormatter</a:t>
            </a:r>
            <a:r>
              <a:rPr dirty="0" sz="700" spc="75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myNumberFormatter)</a:t>
            </a:r>
            <a:r>
              <a:rPr dirty="0" sz="700" spc="6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myNumberFormatter</a:t>
            </a:r>
            <a:r>
              <a:rPr dirty="0" sz="700" spc="60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7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myNumberFormatter;</a:t>
            </a: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208915" marR="712470" indent="-9779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 void</a:t>
            </a:r>
            <a:r>
              <a:rPr dirty="0" sz="7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printFormat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double</a:t>
            </a:r>
            <a:r>
              <a:rPr dirty="0" sz="700" spc="4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number)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System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myNumberFormatter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.format(number));</a:t>
            </a: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26742" y="573785"/>
            <a:ext cx="1621790" cy="509270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4130" rIns="0" bIns="0" rtlCol="0" vert="horz">
            <a:spAutoFit/>
          </a:bodyPr>
          <a:lstStyle/>
          <a:p>
            <a:pPr marL="44450" marR="49530">
              <a:lnSpc>
                <a:spcPct val="100000"/>
              </a:lnSpc>
              <a:spcBef>
                <a:spcPts val="190"/>
              </a:spcBef>
            </a:pPr>
            <a:r>
              <a:rPr dirty="0" sz="600" spc="-10">
                <a:solidFill>
                  <a:srgbClr val="9E870D"/>
                </a:solidFill>
                <a:latin typeface="Arial"/>
                <a:cs typeface="Arial"/>
              </a:rPr>
              <a:t>@Configuration</a:t>
            </a:r>
            <a:r>
              <a:rPr dirty="0" sz="600" spc="500">
                <a:solidFill>
                  <a:srgbClr val="9E870D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9E870D"/>
                </a:solidFill>
                <a:latin typeface="Arial"/>
                <a:cs typeface="Arial"/>
              </a:rPr>
              <a:t>@ComponentScan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600" spc="-10">
                <a:solidFill>
                  <a:srgbClr val="057C17"/>
                </a:solidFill>
                <a:latin typeface="Arial"/>
                <a:cs typeface="Arial"/>
              </a:rPr>
              <a:t>"org.example.autowired"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6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AppConfig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 spc="-6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600">
              <a:latin typeface="Arial"/>
              <a:cs typeface="Arial"/>
            </a:endParaRPr>
          </a:p>
          <a:p>
            <a:pPr marL="130175">
              <a:lnSpc>
                <a:spcPct val="100000"/>
              </a:lnSpc>
            </a:pPr>
            <a:r>
              <a:rPr dirty="0" sz="600" spc="-10" i="1">
                <a:solidFill>
                  <a:srgbClr val="8B8B8B"/>
                </a:solidFill>
                <a:latin typeface="Arial"/>
                <a:cs typeface="Arial"/>
              </a:rPr>
              <a:t>//no-</a:t>
            </a:r>
            <a:r>
              <a:rPr dirty="0" sz="600" spc="-25" i="1">
                <a:solidFill>
                  <a:srgbClr val="8B8B8B"/>
                </a:solidFill>
                <a:latin typeface="Arial"/>
                <a:cs typeface="Arial"/>
              </a:rPr>
              <a:t>op</a:t>
            </a:r>
            <a:endParaRPr sz="6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" y="2589292"/>
              <a:ext cx="3611856" cy="80616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49046" y="2577744"/>
              <a:ext cx="3635375" cy="829310"/>
            </a:xfrm>
            <a:custGeom>
              <a:avLst/>
              <a:gdLst/>
              <a:ahLst/>
              <a:cxnLst/>
              <a:rect l="l" t="t" r="r" b="b"/>
              <a:pathLst>
                <a:path w="3635375" h="829310">
                  <a:moveTo>
                    <a:pt x="0" y="829246"/>
                  </a:moveTo>
                  <a:lnTo>
                    <a:pt x="3634866" y="829246"/>
                  </a:lnTo>
                  <a:lnTo>
                    <a:pt x="3634866" y="0"/>
                  </a:lnTo>
                  <a:lnTo>
                    <a:pt x="0" y="0"/>
                  </a:lnTo>
                  <a:lnTo>
                    <a:pt x="0" y="82924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4239" y="1176591"/>
              <a:ext cx="1103376" cy="63071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441827" y="1165034"/>
              <a:ext cx="1108710" cy="668020"/>
            </a:xfrm>
            <a:custGeom>
              <a:avLst/>
              <a:gdLst/>
              <a:ahLst/>
              <a:cxnLst/>
              <a:rect l="l" t="t" r="r" b="b"/>
              <a:pathLst>
                <a:path w="1108710" h="668019">
                  <a:moveTo>
                    <a:pt x="0" y="667702"/>
                  </a:moveTo>
                  <a:lnTo>
                    <a:pt x="1108138" y="667702"/>
                  </a:lnTo>
                  <a:lnTo>
                    <a:pt x="1108138" y="0"/>
                  </a:lnTo>
                  <a:lnTo>
                    <a:pt x="0" y="0"/>
                  </a:lnTo>
                  <a:lnTo>
                    <a:pt x="0" y="667702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@Autowire</a:t>
            </a:r>
            <a:r>
              <a:rPr dirty="0" sz="2200" spc="-40"/>
              <a:t> </a:t>
            </a:r>
            <a:r>
              <a:rPr dirty="0" sz="2200" spc="-10"/>
              <a:t>Disambiguation</a:t>
            </a:r>
            <a:endParaRPr sz="2200"/>
          </a:p>
        </p:txBody>
      </p:sp>
      <p:grpSp>
        <p:nvGrpSpPr>
          <p:cNvPr id="3" name="object 3" descr=""/>
          <p:cNvGrpSpPr/>
          <p:nvPr/>
        </p:nvGrpSpPr>
        <p:grpSpPr>
          <a:xfrm>
            <a:off x="63753" y="534606"/>
            <a:ext cx="4199255" cy="2651125"/>
            <a:chOff x="63753" y="534606"/>
            <a:chExt cx="4199255" cy="26511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821" y="557855"/>
              <a:ext cx="3907507" cy="114746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1531" y="537146"/>
              <a:ext cx="3949065" cy="1179830"/>
            </a:xfrm>
            <a:custGeom>
              <a:avLst/>
              <a:gdLst/>
              <a:ahLst/>
              <a:cxnLst/>
              <a:rect l="l" t="t" r="r" b="b"/>
              <a:pathLst>
                <a:path w="3949065" h="1179830">
                  <a:moveTo>
                    <a:pt x="0" y="1179766"/>
                  </a:moveTo>
                  <a:lnTo>
                    <a:pt x="3948811" y="1179766"/>
                  </a:lnTo>
                  <a:lnTo>
                    <a:pt x="3948811" y="0"/>
                  </a:lnTo>
                  <a:lnTo>
                    <a:pt x="0" y="0"/>
                  </a:lnTo>
                  <a:lnTo>
                    <a:pt x="0" y="117976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293" y="1736597"/>
              <a:ext cx="2220595" cy="1446530"/>
            </a:xfrm>
            <a:custGeom>
              <a:avLst/>
              <a:gdLst/>
              <a:ahLst/>
              <a:cxnLst/>
              <a:rect l="l" t="t" r="r" b="b"/>
              <a:pathLst>
                <a:path w="2220595" h="1446530">
                  <a:moveTo>
                    <a:pt x="0" y="1446276"/>
                  </a:moveTo>
                  <a:lnTo>
                    <a:pt x="2220468" y="1446276"/>
                  </a:lnTo>
                  <a:lnTo>
                    <a:pt x="2220468" y="0"/>
                  </a:lnTo>
                  <a:lnTo>
                    <a:pt x="0" y="0"/>
                  </a:lnTo>
                  <a:lnTo>
                    <a:pt x="0" y="144627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8552" y="1751202"/>
            <a:ext cx="5715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@Component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552" y="1857882"/>
            <a:ext cx="12579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 </a:t>
            </a:r>
            <a:r>
              <a:rPr dirty="0" sz="700" spc="-10">
                <a:latin typeface="Arial"/>
                <a:cs typeface="Arial"/>
              </a:rPr>
              <a:t>MyFormatService</a:t>
            </a:r>
            <a:r>
              <a:rPr dirty="0" sz="700" spc="45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8552" y="2071242"/>
            <a:ext cx="2068830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7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MyFormatter</a:t>
            </a:r>
            <a:r>
              <a:rPr dirty="0" sz="700" spc="25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formatter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208915" marR="5080" indent="-9779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MyFormatService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latin typeface="Arial"/>
                <a:cs typeface="Arial"/>
              </a:rPr>
              <a:t>MyFormatter</a:t>
            </a:r>
            <a:r>
              <a:rPr dirty="0" sz="700" spc="60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formatter)</a:t>
            </a:r>
            <a:r>
              <a:rPr dirty="0" sz="700" spc="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formatter</a:t>
            </a:r>
            <a:r>
              <a:rPr dirty="0" sz="700" spc="20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7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formatter;</a:t>
            </a:r>
            <a:endParaRPr sz="7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>
              <a:latin typeface="Arial"/>
              <a:cs typeface="Arial"/>
            </a:endParaRPr>
          </a:p>
          <a:p>
            <a:pPr marL="208915" marR="381635" indent="-9779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7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printFormat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System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formatter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.format());</a:t>
            </a:r>
            <a:endParaRPr sz="7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665604" y="1793620"/>
            <a:ext cx="2846070" cy="1379855"/>
            <a:chOff x="1665604" y="1793620"/>
            <a:chExt cx="2846070" cy="137985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0467" y="1810511"/>
              <a:ext cx="2286000" cy="58521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218054" y="1808162"/>
              <a:ext cx="2291080" cy="590550"/>
            </a:xfrm>
            <a:custGeom>
              <a:avLst/>
              <a:gdLst/>
              <a:ahLst/>
              <a:cxnLst/>
              <a:rect l="l" t="t" r="r" b="b"/>
              <a:pathLst>
                <a:path w="2291079" h="590550">
                  <a:moveTo>
                    <a:pt x="0" y="589978"/>
                  </a:moveTo>
                  <a:lnTo>
                    <a:pt x="2290826" y="589978"/>
                  </a:lnTo>
                  <a:lnTo>
                    <a:pt x="2290826" y="0"/>
                  </a:lnTo>
                  <a:lnTo>
                    <a:pt x="0" y="0"/>
                  </a:lnTo>
                  <a:lnTo>
                    <a:pt x="0" y="58997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2139" y="2519171"/>
              <a:ext cx="2624328" cy="64922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879726" y="2516822"/>
              <a:ext cx="2629535" cy="654050"/>
            </a:xfrm>
            <a:custGeom>
              <a:avLst/>
              <a:gdLst/>
              <a:ahLst/>
              <a:cxnLst/>
              <a:rect l="l" t="t" r="r" b="b"/>
              <a:pathLst>
                <a:path w="2629535" h="654050">
                  <a:moveTo>
                    <a:pt x="0" y="653986"/>
                  </a:moveTo>
                  <a:lnTo>
                    <a:pt x="2629027" y="653986"/>
                  </a:lnTo>
                  <a:lnTo>
                    <a:pt x="2629027" y="0"/>
                  </a:lnTo>
                  <a:lnTo>
                    <a:pt x="0" y="0"/>
                  </a:lnTo>
                  <a:lnTo>
                    <a:pt x="0" y="65398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68779" y="1796795"/>
              <a:ext cx="425450" cy="370840"/>
            </a:xfrm>
            <a:custGeom>
              <a:avLst/>
              <a:gdLst/>
              <a:ahLst/>
              <a:cxnLst/>
              <a:rect l="l" t="t" r="r" b="b"/>
              <a:pathLst>
                <a:path w="425450" h="370839">
                  <a:moveTo>
                    <a:pt x="285876" y="0"/>
                  </a:moveTo>
                  <a:lnTo>
                    <a:pt x="212597" y="99440"/>
                  </a:lnTo>
                  <a:lnTo>
                    <a:pt x="164464" y="39370"/>
                  </a:lnTo>
                  <a:lnTo>
                    <a:pt x="143890" y="108331"/>
                  </a:lnTo>
                  <a:lnTo>
                    <a:pt x="7238" y="39370"/>
                  </a:lnTo>
                  <a:lnTo>
                    <a:pt x="91058" y="130556"/>
                  </a:lnTo>
                  <a:lnTo>
                    <a:pt x="0" y="147700"/>
                  </a:lnTo>
                  <a:lnTo>
                    <a:pt x="73278" y="201929"/>
                  </a:lnTo>
                  <a:lnTo>
                    <a:pt x="2667" y="250062"/>
                  </a:lnTo>
                  <a:lnTo>
                    <a:pt x="111506" y="238887"/>
                  </a:lnTo>
                  <a:lnTo>
                    <a:pt x="93725" y="302006"/>
                  </a:lnTo>
                  <a:lnTo>
                    <a:pt x="151892" y="267970"/>
                  </a:lnTo>
                  <a:lnTo>
                    <a:pt x="167005" y="370332"/>
                  </a:lnTo>
                  <a:lnTo>
                    <a:pt x="207263" y="256032"/>
                  </a:lnTo>
                  <a:lnTo>
                    <a:pt x="260731" y="338327"/>
                  </a:lnTo>
                  <a:lnTo>
                    <a:pt x="275970" y="247903"/>
                  </a:lnTo>
                  <a:lnTo>
                    <a:pt x="357124" y="310261"/>
                  </a:lnTo>
                  <a:lnTo>
                    <a:pt x="331469" y="221869"/>
                  </a:lnTo>
                  <a:lnTo>
                    <a:pt x="425195" y="227837"/>
                  </a:lnTo>
                  <a:lnTo>
                    <a:pt x="346582" y="179577"/>
                  </a:lnTo>
                  <a:lnTo>
                    <a:pt x="415289" y="139446"/>
                  </a:lnTo>
                  <a:lnTo>
                    <a:pt x="328802" y="125475"/>
                  </a:lnTo>
                  <a:lnTo>
                    <a:pt x="361822" y="76453"/>
                  </a:lnTo>
                  <a:lnTo>
                    <a:pt x="278638" y="91312"/>
                  </a:lnTo>
                  <a:lnTo>
                    <a:pt x="28587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68779" y="1796795"/>
              <a:ext cx="425450" cy="370840"/>
            </a:xfrm>
            <a:custGeom>
              <a:avLst/>
              <a:gdLst/>
              <a:ahLst/>
              <a:cxnLst/>
              <a:rect l="l" t="t" r="r" b="b"/>
              <a:pathLst>
                <a:path w="425450" h="370839">
                  <a:moveTo>
                    <a:pt x="212597" y="99440"/>
                  </a:moveTo>
                  <a:lnTo>
                    <a:pt x="285876" y="0"/>
                  </a:lnTo>
                  <a:lnTo>
                    <a:pt x="278638" y="91312"/>
                  </a:lnTo>
                  <a:lnTo>
                    <a:pt x="361822" y="76453"/>
                  </a:lnTo>
                  <a:lnTo>
                    <a:pt x="328802" y="125475"/>
                  </a:lnTo>
                  <a:lnTo>
                    <a:pt x="415289" y="139446"/>
                  </a:lnTo>
                  <a:lnTo>
                    <a:pt x="346582" y="179577"/>
                  </a:lnTo>
                  <a:lnTo>
                    <a:pt x="425195" y="227837"/>
                  </a:lnTo>
                  <a:lnTo>
                    <a:pt x="331469" y="221869"/>
                  </a:lnTo>
                  <a:lnTo>
                    <a:pt x="357124" y="310261"/>
                  </a:lnTo>
                  <a:lnTo>
                    <a:pt x="275970" y="247903"/>
                  </a:lnTo>
                  <a:lnTo>
                    <a:pt x="260731" y="338327"/>
                  </a:lnTo>
                  <a:lnTo>
                    <a:pt x="207263" y="256032"/>
                  </a:lnTo>
                  <a:lnTo>
                    <a:pt x="167005" y="370332"/>
                  </a:lnTo>
                  <a:lnTo>
                    <a:pt x="151892" y="267970"/>
                  </a:lnTo>
                  <a:lnTo>
                    <a:pt x="93725" y="302006"/>
                  </a:lnTo>
                  <a:lnTo>
                    <a:pt x="111506" y="238887"/>
                  </a:lnTo>
                  <a:lnTo>
                    <a:pt x="2667" y="250062"/>
                  </a:lnTo>
                  <a:lnTo>
                    <a:pt x="73278" y="201929"/>
                  </a:lnTo>
                  <a:lnTo>
                    <a:pt x="0" y="147700"/>
                  </a:lnTo>
                  <a:lnTo>
                    <a:pt x="91058" y="130556"/>
                  </a:lnTo>
                  <a:lnTo>
                    <a:pt x="7238" y="39370"/>
                  </a:lnTo>
                  <a:lnTo>
                    <a:pt x="143890" y="108331"/>
                  </a:lnTo>
                  <a:lnTo>
                    <a:pt x="164464" y="39370"/>
                  </a:lnTo>
                  <a:lnTo>
                    <a:pt x="212597" y="99440"/>
                  </a:lnTo>
                  <a:close/>
                </a:path>
              </a:pathLst>
            </a:custGeom>
            <a:ln w="635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798701" y="1913381"/>
            <a:ext cx="161925" cy="106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" spc="-10">
                <a:solidFill>
                  <a:srgbClr val="C00000"/>
                </a:solidFill>
                <a:latin typeface="Calibri"/>
                <a:cs typeface="Calibri"/>
              </a:rPr>
              <a:t>Error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05"/>
              </a:spcBef>
            </a:pPr>
            <a:r>
              <a:rPr dirty="0"/>
              <a:t>Disambiguation</a:t>
            </a:r>
            <a:r>
              <a:rPr dirty="0" spc="-35"/>
              <a:t> </a:t>
            </a:r>
            <a:r>
              <a:rPr dirty="0"/>
              <a:t>solution:</a:t>
            </a:r>
            <a:r>
              <a:rPr dirty="0" spc="-30"/>
              <a:t> </a:t>
            </a:r>
            <a:r>
              <a:rPr dirty="0" spc="-10"/>
              <a:t>@Qualifier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" y="637049"/>
              <a:ext cx="2231136" cy="78937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7437" y="630110"/>
              <a:ext cx="2235835" cy="808355"/>
            </a:xfrm>
            <a:custGeom>
              <a:avLst/>
              <a:gdLst/>
              <a:ahLst/>
              <a:cxnLst/>
              <a:rect l="l" t="t" r="r" b="b"/>
              <a:pathLst>
                <a:path w="2235835" h="808355">
                  <a:moveTo>
                    <a:pt x="0" y="807910"/>
                  </a:moveTo>
                  <a:lnTo>
                    <a:pt x="2235835" y="807910"/>
                  </a:lnTo>
                  <a:lnTo>
                    <a:pt x="2235835" y="0"/>
                  </a:lnTo>
                  <a:lnTo>
                    <a:pt x="0" y="0"/>
                  </a:lnTo>
                  <a:lnTo>
                    <a:pt x="0" y="80791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0947" y="632459"/>
              <a:ext cx="2246376" cy="80314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48534" y="630110"/>
              <a:ext cx="2251710" cy="808355"/>
            </a:xfrm>
            <a:custGeom>
              <a:avLst/>
              <a:gdLst/>
              <a:ahLst/>
              <a:cxnLst/>
              <a:rect l="l" t="t" r="r" b="b"/>
              <a:pathLst>
                <a:path w="2251710" h="808355">
                  <a:moveTo>
                    <a:pt x="0" y="807910"/>
                  </a:moveTo>
                  <a:lnTo>
                    <a:pt x="2251202" y="807910"/>
                  </a:lnTo>
                  <a:lnTo>
                    <a:pt x="2251202" y="0"/>
                  </a:lnTo>
                  <a:lnTo>
                    <a:pt x="0" y="0"/>
                  </a:lnTo>
                  <a:lnTo>
                    <a:pt x="0" y="80791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691" y="1493519"/>
              <a:ext cx="4186428" cy="154381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12395" y="3042615"/>
            <a:ext cx="4257040" cy="5905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219710" marR="5080">
              <a:lnSpc>
                <a:spcPts val="1070"/>
              </a:lnSpc>
              <a:spcBef>
                <a:spcPts val="140"/>
              </a:spcBef>
            </a:pPr>
            <a:r>
              <a:rPr dirty="0" sz="900">
                <a:latin typeface="Calibri"/>
                <a:cs typeface="Calibri"/>
              </a:rPr>
              <a:t>When</a:t>
            </a:r>
            <a:r>
              <a:rPr dirty="0" sz="900" spc="-4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there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are</a:t>
            </a:r>
            <a:r>
              <a:rPr dirty="0" sz="900" spc="-10">
                <a:latin typeface="Calibri"/>
                <a:cs typeface="Calibri"/>
              </a:rPr>
              <a:t> multiple </a:t>
            </a:r>
            <a:r>
              <a:rPr dirty="0" sz="900">
                <a:latin typeface="Calibri"/>
                <a:cs typeface="Calibri"/>
              </a:rPr>
              <a:t>beans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of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same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type </a:t>
            </a:r>
            <a:r>
              <a:rPr dirty="0" sz="900" spc="-95">
                <a:latin typeface="Wingdings"/>
                <a:cs typeface="Wingdings"/>
              </a:rPr>
              <a:t>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Calibri"/>
                <a:cs typeface="Calibri"/>
              </a:rPr>
              <a:t>use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00000"/>
                </a:solidFill>
                <a:latin typeface="Calibri"/>
                <a:cs typeface="Calibri"/>
              </a:rPr>
              <a:t>@Qualifier</a:t>
            </a:r>
            <a:r>
              <a:rPr dirty="0" sz="90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to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avoid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ambiguity.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Spring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uses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the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bean's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name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as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a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default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qualifier</a:t>
            </a:r>
            <a:r>
              <a:rPr dirty="0" sz="900" spc="-10">
                <a:latin typeface="Calibri"/>
                <a:cs typeface="Calibri"/>
              </a:rPr>
              <a:t> value.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00"/>
              </a:spcBef>
            </a:pPr>
            <a:r>
              <a:rPr dirty="0"/>
              <a:t>Disambiguation</a:t>
            </a:r>
            <a:r>
              <a:rPr dirty="0" spc="-35"/>
              <a:t> </a:t>
            </a:r>
            <a:r>
              <a:rPr dirty="0"/>
              <a:t>solution:</a:t>
            </a:r>
            <a:r>
              <a:rPr dirty="0" spc="-30"/>
              <a:t> </a:t>
            </a:r>
            <a:r>
              <a:rPr dirty="0" spc="-10"/>
              <a:t>@Primary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>
                <a:solidFill>
                  <a:srgbClr val="C00000"/>
                </a:solidFill>
              </a:rPr>
              <a:t>@Primary</a:t>
            </a:r>
            <a:r>
              <a:rPr dirty="0" spc="200">
                <a:solidFill>
                  <a:srgbClr val="C00000"/>
                </a:solidFill>
              </a:rPr>
              <a:t> </a:t>
            </a:r>
            <a:r>
              <a:rPr dirty="0"/>
              <a:t>indicates</a:t>
            </a:r>
            <a:r>
              <a:rPr dirty="0" spc="204"/>
              <a:t> </a:t>
            </a:r>
            <a:r>
              <a:rPr dirty="0"/>
              <a:t>that</a:t>
            </a:r>
            <a:r>
              <a:rPr dirty="0" spc="204"/>
              <a:t> </a:t>
            </a:r>
            <a:r>
              <a:rPr dirty="0"/>
              <a:t>a</a:t>
            </a:r>
            <a:r>
              <a:rPr dirty="0" spc="210"/>
              <a:t> </a:t>
            </a:r>
            <a:r>
              <a:rPr dirty="0"/>
              <a:t>particular</a:t>
            </a:r>
            <a:r>
              <a:rPr dirty="0" spc="215"/>
              <a:t> </a:t>
            </a:r>
            <a:r>
              <a:rPr dirty="0"/>
              <a:t>bean</a:t>
            </a:r>
            <a:r>
              <a:rPr dirty="0" spc="200"/>
              <a:t> </a:t>
            </a:r>
            <a:r>
              <a:rPr dirty="0" spc="-10"/>
              <a:t>should </a:t>
            </a:r>
            <a:r>
              <a:rPr dirty="0" spc="-10"/>
              <a:t>	</a:t>
            </a:r>
            <a:r>
              <a:rPr dirty="0"/>
              <a:t>be</a:t>
            </a:r>
            <a:r>
              <a:rPr dirty="0" spc="120"/>
              <a:t>  </a:t>
            </a:r>
            <a:r>
              <a:rPr dirty="0"/>
              <a:t>given</a:t>
            </a:r>
            <a:r>
              <a:rPr dirty="0" spc="125"/>
              <a:t>  </a:t>
            </a:r>
            <a:r>
              <a:rPr dirty="0"/>
              <a:t>preference</a:t>
            </a:r>
            <a:r>
              <a:rPr dirty="0" spc="125"/>
              <a:t>  </a:t>
            </a:r>
            <a:r>
              <a:rPr dirty="0"/>
              <a:t>when</a:t>
            </a:r>
            <a:r>
              <a:rPr dirty="0" spc="125"/>
              <a:t>  </a:t>
            </a:r>
            <a:r>
              <a:rPr dirty="0"/>
              <a:t>multiple</a:t>
            </a:r>
            <a:r>
              <a:rPr dirty="0" spc="130"/>
              <a:t>  </a:t>
            </a:r>
            <a:r>
              <a:rPr dirty="0"/>
              <a:t>beans</a:t>
            </a:r>
            <a:r>
              <a:rPr dirty="0" spc="125"/>
              <a:t>  </a:t>
            </a:r>
            <a:r>
              <a:rPr dirty="0" spc="-25"/>
              <a:t>are </a:t>
            </a:r>
            <a:r>
              <a:rPr dirty="0" spc="-25"/>
              <a:t>	</a:t>
            </a:r>
            <a:r>
              <a:rPr dirty="0"/>
              <a:t>candidates</a:t>
            </a:r>
            <a:r>
              <a:rPr dirty="0" spc="114"/>
              <a:t>  </a:t>
            </a:r>
            <a:r>
              <a:rPr dirty="0"/>
              <a:t>to</a:t>
            </a:r>
            <a:r>
              <a:rPr dirty="0" spc="114"/>
              <a:t>  </a:t>
            </a:r>
            <a:r>
              <a:rPr dirty="0"/>
              <a:t>be</a:t>
            </a:r>
            <a:r>
              <a:rPr dirty="0" spc="120"/>
              <a:t>  </a:t>
            </a:r>
            <a:r>
              <a:rPr dirty="0"/>
              <a:t>autowired</a:t>
            </a:r>
            <a:r>
              <a:rPr dirty="0" spc="114"/>
              <a:t>  </a:t>
            </a:r>
            <a:r>
              <a:rPr dirty="0"/>
              <a:t>to</a:t>
            </a:r>
            <a:r>
              <a:rPr dirty="0" spc="114"/>
              <a:t>  </a:t>
            </a:r>
            <a:r>
              <a:rPr dirty="0"/>
              <a:t>a</a:t>
            </a:r>
            <a:r>
              <a:rPr dirty="0" spc="114"/>
              <a:t>  </a:t>
            </a:r>
            <a:r>
              <a:rPr dirty="0" spc="-10"/>
              <a:t>single-valued 	dependency.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10909" y="1479486"/>
            <a:ext cx="4350385" cy="1689735"/>
            <a:chOff x="110909" y="1479486"/>
            <a:chExt cx="4350385" cy="16897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23" y="1507354"/>
              <a:ext cx="2095490" cy="85482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3449" y="1482026"/>
              <a:ext cx="2113915" cy="887730"/>
            </a:xfrm>
            <a:custGeom>
              <a:avLst/>
              <a:gdLst/>
              <a:ahLst/>
              <a:cxnLst/>
              <a:rect l="l" t="t" r="r" b="b"/>
              <a:pathLst>
                <a:path w="2113915" h="887730">
                  <a:moveTo>
                    <a:pt x="0" y="887158"/>
                  </a:moveTo>
                  <a:lnTo>
                    <a:pt x="2113915" y="887158"/>
                  </a:lnTo>
                  <a:lnTo>
                    <a:pt x="2113915" y="0"/>
                  </a:lnTo>
                  <a:lnTo>
                    <a:pt x="0" y="0"/>
                  </a:lnTo>
                  <a:lnTo>
                    <a:pt x="0" y="88715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999" y="1520981"/>
              <a:ext cx="2170176" cy="139290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283586" y="1504949"/>
              <a:ext cx="2174875" cy="1411605"/>
            </a:xfrm>
            <a:custGeom>
              <a:avLst/>
              <a:gdLst/>
              <a:ahLst/>
              <a:cxnLst/>
              <a:rect l="l" t="t" r="r" b="b"/>
              <a:pathLst>
                <a:path w="2174875" h="1411605">
                  <a:moveTo>
                    <a:pt x="0" y="1411351"/>
                  </a:moveTo>
                  <a:lnTo>
                    <a:pt x="2174875" y="1411351"/>
                  </a:lnTo>
                  <a:lnTo>
                    <a:pt x="2174875" y="0"/>
                  </a:lnTo>
                  <a:lnTo>
                    <a:pt x="0" y="0"/>
                  </a:lnTo>
                  <a:lnTo>
                    <a:pt x="0" y="1411351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15" y="2459852"/>
              <a:ext cx="2087866" cy="70397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5641" y="2439098"/>
              <a:ext cx="2101850" cy="727710"/>
            </a:xfrm>
            <a:custGeom>
              <a:avLst/>
              <a:gdLst/>
              <a:ahLst/>
              <a:cxnLst/>
              <a:rect l="l" t="t" r="r" b="b"/>
              <a:pathLst>
                <a:path w="2101850" h="727710">
                  <a:moveTo>
                    <a:pt x="0" y="727138"/>
                  </a:moveTo>
                  <a:lnTo>
                    <a:pt x="2101723" y="727138"/>
                  </a:lnTo>
                  <a:lnTo>
                    <a:pt x="2101723" y="0"/>
                  </a:lnTo>
                  <a:lnTo>
                    <a:pt x="0" y="0"/>
                  </a:lnTo>
                  <a:lnTo>
                    <a:pt x="0" y="72713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402839" y="2984753"/>
            <a:ext cx="1713864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Automatically</a:t>
            </a:r>
            <a:r>
              <a:rPr dirty="0" sz="70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select</a:t>
            </a:r>
            <a:r>
              <a:rPr dirty="0" sz="7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MyNumberFormater</a:t>
            </a:r>
            <a:r>
              <a:rPr dirty="0" sz="70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C00000"/>
                </a:solidFill>
                <a:latin typeface="Calibri"/>
                <a:cs typeface="Calibri"/>
              </a:rPr>
              <a:t>class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9252"/>
            <a:ext cx="331724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0">
                <a:latin typeface="Times New Roman"/>
                <a:cs typeface="Times New Roman"/>
              </a:rPr>
              <a:t>Inject</a:t>
            </a:r>
            <a:r>
              <a:rPr dirty="0" sz="2200" spc="-45" b="0">
                <a:latin typeface="Times New Roman"/>
                <a:cs typeface="Times New Roman"/>
              </a:rPr>
              <a:t> </a:t>
            </a:r>
            <a:r>
              <a:rPr dirty="0" sz="2200"/>
              <a:t>r</a:t>
            </a:r>
            <a:r>
              <a:rPr dirty="0" sz="2200" b="0">
                <a:latin typeface="Times New Roman"/>
                <a:cs typeface="Times New Roman"/>
              </a:rPr>
              <a:t>esource</a:t>
            </a:r>
            <a:r>
              <a:rPr dirty="0" sz="2200"/>
              <a:t>s</a:t>
            </a:r>
            <a:r>
              <a:rPr dirty="0" sz="2200" spc="10"/>
              <a:t> </a:t>
            </a:r>
            <a:r>
              <a:rPr dirty="0" sz="2200" b="0">
                <a:latin typeface="Times New Roman"/>
                <a:cs typeface="Times New Roman"/>
              </a:rPr>
              <a:t>with</a:t>
            </a:r>
            <a:r>
              <a:rPr dirty="0" sz="2200" spc="-45" b="0">
                <a:latin typeface="Times New Roman"/>
                <a:cs typeface="Times New Roman"/>
              </a:rPr>
              <a:t> </a:t>
            </a:r>
            <a:r>
              <a:rPr dirty="0" sz="2200" spc="-20" b="0">
                <a:latin typeface="Times New Roman"/>
                <a:cs typeface="Times New Roman"/>
              </a:rPr>
              <a:t>@Value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6482" y="557021"/>
            <a:ext cx="2182495" cy="1015365"/>
          </a:xfrm>
          <a:prstGeom prst="rect">
            <a:avLst/>
          </a:prstGeom>
          <a:ln w="4762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4450" marR="66675">
              <a:lnSpc>
                <a:spcPct val="100000"/>
              </a:lnSpc>
              <a:spcBef>
                <a:spcPts val="200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@Configuration</a:t>
            </a:r>
            <a:r>
              <a:rPr dirty="0" sz="700" spc="500">
                <a:solidFill>
                  <a:srgbClr val="9E870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@ComponentScan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"org.example.resources"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@PropertySource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"classpath:application.properties"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4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AppConfig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@Bean</a:t>
            </a:r>
            <a:endParaRPr sz="700">
              <a:latin typeface="Arial"/>
              <a:cs typeface="Arial"/>
            </a:endParaRPr>
          </a:p>
          <a:p>
            <a:pPr marL="241300" marR="789305" indent="-9779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ClientBean</a:t>
            </a:r>
            <a:r>
              <a:rPr dirty="0" sz="700" spc="15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clientBean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7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ClientBean();</a:t>
            </a:r>
            <a:endParaRPr sz="7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4445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286761" y="500633"/>
            <a:ext cx="2268220" cy="1663064"/>
          </a:xfrm>
          <a:custGeom>
            <a:avLst/>
            <a:gdLst/>
            <a:ahLst/>
            <a:cxnLst/>
            <a:rect l="l" t="t" r="r" b="b"/>
            <a:pathLst>
              <a:path w="2268220" h="1663064">
                <a:moveTo>
                  <a:pt x="0" y="1662684"/>
                </a:moveTo>
                <a:lnTo>
                  <a:pt x="2267712" y="1662684"/>
                </a:lnTo>
                <a:lnTo>
                  <a:pt x="2267712" y="0"/>
                </a:lnTo>
                <a:lnTo>
                  <a:pt x="0" y="0"/>
                </a:lnTo>
                <a:lnTo>
                  <a:pt x="0" y="1662684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319908" y="517905"/>
            <a:ext cx="1353820" cy="345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1760" marR="5080" indent="-9906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ClientBean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@Value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"classpath:beans.xml"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Resource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myResource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18969" y="944625"/>
            <a:ext cx="113728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@Value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"${foo.permission}"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7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String</a:t>
            </a:r>
            <a:r>
              <a:rPr dirty="0" sz="700" spc="-30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permission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19908" y="1264665"/>
            <a:ext cx="199707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8915" marR="5080" indent="-9779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700" spc="-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doSomething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throws</a:t>
            </a:r>
            <a:r>
              <a:rPr dirty="0" sz="700" spc="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IOException</a:t>
            </a:r>
            <a:r>
              <a:rPr dirty="0" sz="700" spc="25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File</a:t>
            </a:r>
            <a:r>
              <a:rPr dirty="0" sz="700" spc="-1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file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7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myResource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.getFile();</a:t>
            </a:r>
            <a:endParaRPr sz="70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</a:pPr>
            <a:r>
              <a:rPr dirty="0" sz="700">
                <a:latin typeface="Arial"/>
                <a:cs typeface="Arial"/>
              </a:rPr>
              <a:t>String</a:t>
            </a:r>
            <a:r>
              <a:rPr dirty="0" sz="700" spc="-1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</a:t>
            </a:r>
            <a:r>
              <a:rPr dirty="0" sz="700" spc="-5"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7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new</a:t>
            </a:r>
            <a:endParaRPr sz="700">
              <a:latin typeface="Arial"/>
              <a:cs typeface="Arial"/>
            </a:endParaRPr>
          </a:p>
          <a:p>
            <a:pPr marL="208915" marR="445770" indent="-196850">
              <a:lnSpc>
                <a:spcPct val="100000"/>
              </a:lnSpc>
            </a:pP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String(</a:t>
            </a:r>
            <a:r>
              <a:rPr dirty="0" sz="700" spc="-10">
                <a:latin typeface="Arial"/>
                <a:cs typeface="Arial"/>
              </a:rPr>
              <a:t>Files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080808"/>
                </a:solidFill>
                <a:latin typeface="Arial"/>
                <a:cs typeface="Arial"/>
              </a:rPr>
              <a:t>readAllBytes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latin typeface="Arial"/>
                <a:cs typeface="Arial"/>
              </a:rPr>
              <a:t>file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.toPath()));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System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700" spc="-10"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System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700" spc="-10">
                <a:solidFill>
                  <a:srgbClr val="860F93"/>
                </a:solidFill>
                <a:latin typeface="Arial"/>
                <a:cs typeface="Arial"/>
              </a:rPr>
              <a:t>permission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70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0865" y="2337053"/>
            <a:ext cx="2131060" cy="876300"/>
          </a:xfrm>
          <a:custGeom>
            <a:avLst/>
            <a:gdLst/>
            <a:ahLst/>
            <a:cxnLst/>
            <a:rect l="l" t="t" r="r" b="b"/>
            <a:pathLst>
              <a:path w="2131060" h="876300">
                <a:moveTo>
                  <a:pt x="0" y="876300"/>
                </a:moveTo>
                <a:lnTo>
                  <a:pt x="2130552" y="876300"/>
                </a:lnTo>
                <a:lnTo>
                  <a:pt x="2130552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4038" y="2349753"/>
            <a:ext cx="204343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6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600" spc="-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Main</a:t>
            </a:r>
            <a:r>
              <a:rPr dirty="0" sz="600" spc="-5"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600">
              <a:latin typeface="Arial"/>
              <a:cs typeface="Arial"/>
            </a:endParaRPr>
          </a:p>
          <a:p>
            <a:pPr marL="179705" marR="5080" indent="-82550">
              <a:lnSpc>
                <a:spcPct val="100000"/>
              </a:lnSpc>
            </a:pP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6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static</a:t>
            </a:r>
            <a:r>
              <a:rPr dirty="0" sz="6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6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006179"/>
                </a:solidFill>
                <a:latin typeface="Arial"/>
                <a:cs typeface="Arial"/>
              </a:rPr>
              <a:t>main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600" spc="-10">
                <a:latin typeface="Arial"/>
                <a:cs typeface="Arial"/>
              </a:rPr>
              <a:t>String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[]</a:t>
            </a:r>
            <a:r>
              <a:rPr dirty="0" sz="600" spc="-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args) </a:t>
            </a:r>
            <a:r>
              <a:rPr dirty="0" sz="600">
                <a:solidFill>
                  <a:srgbClr val="0033B3"/>
                </a:solidFill>
                <a:latin typeface="Arial"/>
                <a:cs typeface="Arial"/>
              </a:rPr>
              <a:t>throws</a:t>
            </a:r>
            <a:r>
              <a:rPr dirty="0" sz="600" spc="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IOException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AnnotationConfigApplicationContext</a:t>
            </a:r>
            <a:r>
              <a:rPr dirty="0" sz="600" spc="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context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=</a:t>
            </a:r>
            <a:endParaRPr sz="6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dirty="0" sz="600" spc="-25">
                <a:solidFill>
                  <a:srgbClr val="0033B3"/>
                </a:solidFill>
                <a:latin typeface="Arial"/>
                <a:cs typeface="Arial"/>
              </a:rPr>
              <a:t>new</a:t>
            </a:r>
            <a:endParaRPr sz="600">
              <a:latin typeface="Arial"/>
              <a:cs typeface="Arial"/>
            </a:endParaRPr>
          </a:p>
          <a:p>
            <a:pPr marL="184785" marR="11430" indent="-172720">
              <a:lnSpc>
                <a:spcPct val="100000"/>
              </a:lnSpc>
            </a:pP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AnnotationConfigApplicationContext(</a:t>
            </a:r>
            <a:r>
              <a:rPr dirty="0" sz="600" spc="-10">
                <a:latin typeface="Arial"/>
                <a:cs typeface="Arial"/>
              </a:rPr>
              <a:t>AppConfig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ClientBean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bean</a:t>
            </a:r>
            <a:r>
              <a:rPr dirty="0" sz="600">
                <a:latin typeface="Arial"/>
                <a:cs typeface="Arial"/>
              </a:rPr>
              <a:t> </a:t>
            </a:r>
            <a:r>
              <a:rPr dirty="0" sz="6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600" spc="3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context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.getBean(</a:t>
            </a:r>
            <a:r>
              <a:rPr dirty="0" sz="600" spc="-10">
                <a:latin typeface="Arial"/>
                <a:cs typeface="Arial"/>
              </a:rPr>
              <a:t>ClientBean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6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r>
              <a:rPr dirty="0" sz="6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bean</a:t>
            </a:r>
            <a:r>
              <a:rPr dirty="0" sz="600" spc="-10">
                <a:solidFill>
                  <a:srgbClr val="080808"/>
                </a:solidFill>
                <a:latin typeface="Arial"/>
                <a:cs typeface="Arial"/>
              </a:rPr>
              <a:t>.doSomething();</a:t>
            </a:r>
            <a:endParaRPr sz="6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6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5189" y="1709610"/>
            <a:ext cx="4422140" cy="1508125"/>
            <a:chOff x="65189" y="1709610"/>
            <a:chExt cx="4422140" cy="150812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03" y="1714499"/>
              <a:ext cx="2066544" cy="26517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7729" y="1712150"/>
              <a:ext cx="2071370" cy="270510"/>
            </a:xfrm>
            <a:custGeom>
              <a:avLst/>
              <a:gdLst/>
              <a:ahLst/>
              <a:cxnLst/>
              <a:rect l="l" t="t" r="r" b="b"/>
              <a:pathLst>
                <a:path w="2071370" h="270510">
                  <a:moveTo>
                    <a:pt x="0" y="269938"/>
                  </a:moveTo>
                  <a:lnTo>
                    <a:pt x="2071243" y="269938"/>
                  </a:lnTo>
                  <a:lnTo>
                    <a:pt x="2071243" y="0"/>
                  </a:lnTo>
                  <a:lnTo>
                    <a:pt x="0" y="0"/>
                  </a:lnTo>
                  <a:lnTo>
                    <a:pt x="0" y="26993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02001" y="2199893"/>
              <a:ext cx="2182495" cy="1015365"/>
            </a:xfrm>
            <a:custGeom>
              <a:avLst/>
              <a:gdLst/>
              <a:ahLst/>
              <a:cxnLst/>
              <a:rect l="l" t="t" r="r" b="b"/>
              <a:pathLst>
                <a:path w="2182495" h="1015364">
                  <a:moveTo>
                    <a:pt x="0" y="1014984"/>
                  </a:moveTo>
                  <a:lnTo>
                    <a:pt x="2182368" y="1014984"/>
                  </a:lnTo>
                  <a:lnTo>
                    <a:pt x="2182368" y="0"/>
                  </a:lnTo>
                  <a:lnTo>
                    <a:pt x="0" y="0"/>
                  </a:lnTo>
                  <a:lnTo>
                    <a:pt x="0" y="101498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334895" y="2213609"/>
            <a:ext cx="2088514" cy="984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@Configuration</a:t>
            </a:r>
            <a:r>
              <a:rPr dirty="0" sz="700" spc="500">
                <a:solidFill>
                  <a:srgbClr val="9E870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@ComponentScan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"org.example.resources"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@PropertySource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700" spc="-10">
                <a:solidFill>
                  <a:srgbClr val="057C17"/>
                </a:solidFill>
                <a:latin typeface="Arial"/>
                <a:cs typeface="Arial"/>
              </a:rPr>
              <a:t>"classpath:application.properties"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700" spc="-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700" spc="-5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AppConfig</a:t>
            </a:r>
            <a:r>
              <a:rPr dirty="0" sz="700" spc="-20"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dirty="0" sz="700" spc="-10">
                <a:solidFill>
                  <a:srgbClr val="9E870D"/>
                </a:solidFill>
                <a:latin typeface="Arial"/>
                <a:cs typeface="Arial"/>
              </a:rPr>
              <a:t>@Bean</a:t>
            </a:r>
            <a:endParaRPr sz="700">
              <a:latin typeface="Arial"/>
              <a:cs typeface="Arial"/>
            </a:endParaRPr>
          </a:p>
          <a:p>
            <a:pPr marL="208915" marR="727710" indent="-9779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public </a:t>
            </a:r>
            <a:r>
              <a:rPr dirty="0" sz="700">
                <a:latin typeface="Arial"/>
                <a:cs typeface="Arial"/>
              </a:rPr>
              <a:t>ClientBean</a:t>
            </a:r>
            <a:r>
              <a:rPr dirty="0" sz="700" spc="10"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06179"/>
                </a:solidFill>
                <a:latin typeface="Arial"/>
                <a:cs typeface="Arial"/>
              </a:rPr>
              <a:t>clientBean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()</a:t>
            </a:r>
            <a:r>
              <a:rPr dirty="0" sz="700" spc="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700" spc="-2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7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Arial"/>
                <a:cs typeface="Arial"/>
              </a:rPr>
              <a:t>ClientBean();</a:t>
            </a:r>
            <a:endParaRPr sz="700">
              <a:latin typeface="Arial"/>
              <a:cs typeface="Arial"/>
            </a:endParaRPr>
          </a:p>
          <a:p>
            <a:pPr marL="11112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485" y="0"/>
              <a:ext cx="3880357" cy="3428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6904" y="586739"/>
              <a:ext cx="2257044" cy="225551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Võ Văn Hải</dc:creator>
  <dc:title>PowerPoint Presentation</dc:title>
  <dcterms:created xsi:type="dcterms:W3CDTF">2023-09-18T09:14:58Z</dcterms:created>
  <dcterms:modified xsi:type="dcterms:W3CDTF">2023-09-18T09:14:58Z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2023-09-18T00:00:00Z</vt:filetime>
  </property>
  <property fmtid="{D5CDD505-2E9C-101B-9397-08002B2CF9AE}" pid="5" name="Producer">
    <vt:lpwstr>Microsoft® PowerPoint® for Microsoft 365</vt:lpwstr>
  </property>
</Properties>
</file>