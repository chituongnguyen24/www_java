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2832100" cy="2311400"/>
  <p:notesSz cx="2832100" cy="2311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" y="38"/>
            <a:ext cx="2810255" cy="2101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" y="1893976"/>
            <a:ext cx="2810255" cy="2137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9" y="0"/>
            <a:ext cx="2810255" cy="210769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9" y="38"/>
            <a:ext cx="2810255" cy="21484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" y="1893976"/>
            <a:ext cx="2810255" cy="2137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4985" y="1013587"/>
            <a:ext cx="133032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24815" y="1294384"/>
            <a:ext cx="1982470" cy="577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41605" y="531622"/>
            <a:ext cx="1231963" cy="1525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458531" y="531622"/>
            <a:ext cx="1231963" cy="1525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9" y="38"/>
            <a:ext cx="2810255" cy="2101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9" y="1893976"/>
            <a:ext cx="2810255" cy="2137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927" y="92202"/>
            <a:ext cx="1899285" cy="29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489" y="348742"/>
            <a:ext cx="1590675" cy="89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914" y="2149602"/>
            <a:ext cx="906272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41605" y="2149602"/>
            <a:ext cx="651383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2039112" y="2149602"/>
            <a:ext cx="651383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hyperlink" Target="mailto:vovanhai@iuh.edu.v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clipse-ee4j.github.io/jakartaee-tutorial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hyperlink" Target="https://jakarta.ee/specifications/platform/10/jakarta-platform-spec-10.0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jakarta.ee/specifications/servlet/6.0/jakarta-servlet-spec-6.0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omcat.apache.org/download-10.cgi" TargetMode="External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hyperlink" Target="https://www.dineshonjava.com/servlet-life-cycle/" TargetMode="External"/><Relationship Id="rId5" Type="http://schemas.openxmlformats.org/officeDocument/2006/relationships/hyperlink" Target="https://webeduclick.com/servlet-life-cycle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clipse-ee4j/jakartaee-tutorial/blob/master/src/main/asciidoc/servlets/servlets003.adoc#accessing-the-web-context" TargetMode="External"/><Relationship Id="rId3" Type="http://schemas.openxmlformats.org/officeDocument/2006/relationships/hyperlink" Target="https://github.com/eclipse-ee4j/jakartaee-tutorial/blob/master/src/main/asciidoc/servlets/servlets003.adoc#maintaining-client-state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hyperlink" Target="https://github.com/eclipse-ee4j/jakartaee-tutorial/blob/master/src/main/asciidoc/servlets/servlets012.adoc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clipse-ee4j/jakartaee-tutorial/tree/master/src/main/asciidoc/cdi-basic" TargetMode="External"/><Relationship Id="rId3" Type="http://schemas.openxmlformats.org/officeDocument/2006/relationships/image" Target="../media/image64.jpg"/><Relationship Id="rId4" Type="http://schemas.openxmlformats.org/officeDocument/2006/relationships/image" Target="../media/image65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pn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clipse-ee4j/jakartaee-tutorial/blob/master/src/main/asciidoc/jaxrs/jaxrs002.adoc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jpg"/><Relationship Id="rId3" Type="http://schemas.openxmlformats.org/officeDocument/2006/relationships/image" Target="../media/image89.jpg"/><Relationship Id="rId4" Type="http://schemas.openxmlformats.org/officeDocument/2006/relationships/image" Target="../media/image90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clipse-ee4j/jakartaee-tutorial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619" y="0"/>
            <a:ext cx="2810510" cy="2108200"/>
            <a:chOff x="7619" y="0"/>
            <a:chExt cx="2810510" cy="210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" y="0"/>
              <a:ext cx="2810255" cy="21076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" y="38"/>
              <a:ext cx="2810255" cy="2148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9" y="1893976"/>
              <a:ext cx="2802635" cy="2137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9" y="243840"/>
              <a:ext cx="639318" cy="71704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2251" y="243840"/>
              <a:ext cx="717041" cy="71704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6964" y="243840"/>
              <a:ext cx="717042" cy="71704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79319" y="243840"/>
              <a:ext cx="637793" cy="7170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4608" y="243840"/>
              <a:ext cx="717041" cy="717042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34187" y="974268"/>
            <a:ext cx="951230" cy="26924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600" b="1" i="1">
                <a:solidFill>
                  <a:srgbClr val="006FC0"/>
                </a:solidFill>
                <a:latin typeface="Calibri"/>
                <a:cs typeface="Calibri"/>
              </a:rPr>
              <a:t>By:</a:t>
            </a:r>
            <a:r>
              <a:rPr dirty="0" sz="600" spc="-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600" b="1" i="1">
                <a:solidFill>
                  <a:srgbClr val="006FC0"/>
                </a:solidFill>
                <a:latin typeface="Calibri"/>
                <a:cs typeface="Calibri"/>
              </a:rPr>
              <a:t>Võ</a:t>
            </a:r>
            <a:r>
              <a:rPr dirty="0" sz="600" spc="-1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600" b="1" i="1">
                <a:solidFill>
                  <a:srgbClr val="006FC0"/>
                </a:solidFill>
                <a:latin typeface="Calibri"/>
                <a:cs typeface="Calibri"/>
              </a:rPr>
              <a:t>Văn</a:t>
            </a:r>
            <a:r>
              <a:rPr dirty="0" sz="600" spc="-1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600" spc="-25" b="1" i="1">
                <a:solidFill>
                  <a:srgbClr val="006FC0"/>
                </a:solidFill>
                <a:latin typeface="Calibri"/>
                <a:cs typeface="Calibri"/>
              </a:rPr>
              <a:t>Hải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600" b="1" i="1">
                <a:solidFill>
                  <a:srgbClr val="006FC0"/>
                </a:solidFill>
                <a:latin typeface="Calibri"/>
                <a:cs typeface="Calibri"/>
              </a:rPr>
              <a:t>Email:</a:t>
            </a:r>
            <a:r>
              <a:rPr dirty="0" sz="600" spc="2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600" spc="-10" b="1" i="1">
                <a:solidFill>
                  <a:srgbClr val="006FC0"/>
                </a:solidFill>
                <a:latin typeface="Calibri"/>
                <a:cs typeface="Calibri"/>
                <a:hlinkClick r:id="rId10"/>
              </a:rPr>
              <a:t>vovanhai@iuh.edu.vn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2631" y="1919986"/>
            <a:ext cx="288290" cy="187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0066A0"/>
                </a:solidFill>
                <a:latin typeface="Calibri"/>
                <a:cs typeface="Calibri"/>
              </a:rPr>
              <a:t>1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5231" y="1594866"/>
            <a:ext cx="11480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0066A0"/>
                </a:solidFill>
                <a:latin typeface="Calibri"/>
                <a:cs typeface="Calibri"/>
              </a:rPr>
              <a:t>Jakarta</a:t>
            </a:r>
            <a:r>
              <a:rPr dirty="0" sz="110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66A0"/>
                </a:solidFill>
                <a:latin typeface="Calibri"/>
                <a:cs typeface="Calibri"/>
              </a:rPr>
              <a:t>EE</a:t>
            </a:r>
            <a:r>
              <a:rPr dirty="0" sz="1100" spc="-3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66A0"/>
                </a:solidFill>
                <a:latin typeface="Calibri"/>
                <a:cs typeface="Calibri"/>
              </a:rPr>
              <a:t>/</a:t>
            </a:r>
            <a:r>
              <a:rPr dirty="0" sz="110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66A0"/>
                </a:solidFill>
                <a:latin typeface="Calibri"/>
                <a:cs typeface="Calibri"/>
              </a:rPr>
              <a:t>Java</a:t>
            </a:r>
            <a:r>
              <a:rPr dirty="0" sz="1100" spc="-25" b="1">
                <a:solidFill>
                  <a:srgbClr val="0066A0"/>
                </a:solidFill>
                <a:latin typeface="Calibri"/>
                <a:cs typeface="Calibri"/>
              </a:rPr>
              <a:t> EE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-5689" y="21343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393319"/>
            <a:ext cx="1205865" cy="1512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10">
                <a:latin typeface="Calibri"/>
                <a:cs typeface="Calibri"/>
              </a:rPr>
              <a:t>JakartaEE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Architecture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Overview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550" spc="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10">
                <a:latin typeface="Calibri"/>
                <a:cs typeface="Calibri"/>
              </a:rPr>
              <a:t>JakartaEE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Containers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Overview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550" spc="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10">
                <a:latin typeface="Calibri"/>
                <a:cs typeface="Calibri"/>
              </a:rPr>
              <a:t>JakartaEE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APIs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Overview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13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Servlet</a:t>
            </a:r>
            <a:endParaRPr sz="5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360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Servlet</a:t>
            </a:r>
            <a:r>
              <a:rPr dirty="0" sz="450" spc="1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Life </a:t>
            </a:r>
            <a:r>
              <a:rPr dirty="0" sz="450" spc="-10">
                <a:latin typeface="Calibri"/>
                <a:cs typeface="Calibri"/>
              </a:rPr>
              <a:t>cycle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A0"/>
              </a:buClr>
              <a:buFont typeface="Calibri"/>
              <a:buChar char="-"/>
            </a:pPr>
            <a:endParaRPr sz="30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5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Sharing</a:t>
            </a:r>
            <a:r>
              <a:rPr dirty="0" sz="450" spc="1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Information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A0"/>
              </a:buClr>
              <a:buFont typeface="Calibri"/>
              <a:buChar char="-"/>
            </a:pPr>
            <a:endParaRPr sz="30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Asynchronous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Processing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A0"/>
              </a:buClr>
              <a:buFont typeface="Calibri"/>
              <a:buChar char="-"/>
            </a:pPr>
            <a:endParaRPr sz="2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Contexts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and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Dependency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Injection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(CDI)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A0"/>
              </a:buClr>
              <a:buFont typeface="Calibri"/>
              <a:buChar char="-"/>
            </a:pPr>
            <a:endParaRPr sz="30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REST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API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A0"/>
              </a:buClr>
              <a:buFont typeface="Calibri"/>
              <a:buChar char="-"/>
            </a:pPr>
            <a:endParaRPr sz="30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 spc="-25">
                <a:latin typeface="Calibri"/>
                <a:cs typeface="Calibri"/>
              </a:rPr>
              <a:t>JSP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A0"/>
              </a:buClr>
              <a:buFont typeface="Calibri"/>
              <a:buChar char="-"/>
            </a:pPr>
            <a:endParaRPr sz="2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450">
                <a:latin typeface="Calibri"/>
                <a:cs typeface="Calibri"/>
              </a:rPr>
              <a:t>Web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Socket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>
                <a:latin typeface="Calibri"/>
                <a:cs typeface="Calibri"/>
              </a:rPr>
              <a:t>Java</a:t>
            </a:r>
            <a:r>
              <a:rPr dirty="0" sz="550" spc="9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 spc="-20">
                <a:latin typeface="Calibri"/>
                <a:cs typeface="Calibri"/>
              </a:rPr>
              <a:t>Page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94228" y="2018538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2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43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2202"/>
            <a:ext cx="419100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History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3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5" y="266700"/>
              <a:ext cx="2333244" cy="174002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5689" y="2133980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1099185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JavaEE</a:t>
            </a:r>
            <a:r>
              <a:rPr dirty="0" spc="-5"/>
              <a:t> </a:t>
            </a:r>
            <a:r>
              <a:rPr dirty="0" spc="-10"/>
              <a:t>Architecture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9046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4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9815"/>
            <a:ext cx="1383665" cy="16078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8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Distributed</a:t>
            </a:r>
            <a:r>
              <a:rPr dirty="0" sz="650" spc="7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Multitiered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Applications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parts:</a:t>
            </a:r>
            <a:endParaRPr sz="600">
              <a:latin typeface="Calibri"/>
              <a:cs typeface="Calibri"/>
            </a:endParaRPr>
          </a:p>
          <a:p>
            <a:pPr marL="222885" marR="179705" indent="-70485">
              <a:lnSpc>
                <a:spcPts val="5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Client-tier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components</a:t>
            </a:r>
            <a:r>
              <a:rPr dirty="0" sz="500" spc="1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run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</a:t>
            </a:r>
            <a:r>
              <a:rPr dirty="0" sz="500" spc="165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the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client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machine.</a:t>
            </a:r>
            <a:endParaRPr sz="500">
              <a:latin typeface="Calibri"/>
              <a:cs typeface="Calibri"/>
            </a:endParaRPr>
          </a:p>
          <a:p>
            <a:pPr marL="222885" marR="179705" indent="-70485">
              <a:lnSpc>
                <a:spcPts val="5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Web-tier</a:t>
            </a:r>
            <a:r>
              <a:rPr dirty="0" sz="500" spc="19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components</a:t>
            </a:r>
            <a:r>
              <a:rPr dirty="0" sz="500" spc="2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run</a:t>
            </a:r>
            <a:r>
              <a:rPr dirty="0" sz="500" spc="2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</a:t>
            </a:r>
            <a:r>
              <a:rPr dirty="0" sz="500" spc="210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the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server.</a:t>
            </a:r>
            <a:endParaRPr sz="500">
              <a:latin typeface="Calibri"/>
              <a:cs typeface="Calibri"/>
            </a:endParaRPr>
          </a:p>
          <a:p>
            <a:pPr marL="222885" marR="180340" indent="-70485">
              <a:lnSpc>
                <a:spcPts val="490"/>
              </a:lnSpc>
              <a:spcBef>
                <a:spcPts val="17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Business-tier</a:t>
            </a:r>
            <a:r>
              <a:rPr dirty="0" sz="500" spc="2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components</a:t>
            </a:r>
            <a:r>
              <a:rPr dirty="0" sz="500" spc="2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run</a:t>
            </a:r>
            <a:r>
              <a:rPr dirty="0" sz="500" spc="270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on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server.</a:t>
            </a:r>
            <a:endParaRPr sz="500">
              <a:latin typeface="Calibri"/>
              <a:cs typeface="Calibri"/>
            </a:endParaRPr>
          </a:p>
          <a:p>
            <a:pPr marL="222885" marR="180975" indent="-70485">
              <a:lnSpc>
                <a:spcPts val="490"/>
              </a:lnSpc>
              <a:spcBef>
                <a:spcPts val="17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Enterprise</a:t>
            </a:r>
            <a:r>
              <a:rPr dirty="0" sz="500" spc="5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information</a:t>
            </a:r>
            <a:r>
              <a:rPr dirty="0" sz="500" spc="5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system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(EIS)-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tier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software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runs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EIS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server.</a:t>
            </a:r>
            <a:endParaRPr sz="500">
              <a:latin typeface="Calibri"/>
              <a:cs typeface="Calibri"/>
            </a:endParaRPr>
          </a:p>
          <a:p>
            <a:pPr algn="just" marL="82550" marR="180975" indent="-70485">
              <a:lnSpc>
                <a:spcPct val="81900"/>
              </a:lnSpc>
              <a:spcBef>
                <a:spcPts val="31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Although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application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consist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all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tiers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,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EE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multitiered</a:t>
            </a:r>
            <a:r>
              <a:rPr dirty="0" sz="600" spc="425">
                <a:latin typeface="Calibri"/>
                <a:cs typeface="Calibri"/>
              </a:rPr>
              <a:t>  </a:t>
            </a:r>
            <a:r>
              <a:rPr dirty="0" sz="600">
                <a:latin typeface="Calibri"/>
                <a:cs typeface="Calibri"/>
              </a:rPr>
              <a:t>applications</a:t>
            </a:r>
            <a:r>
              <a:rPr dirty="0" sz="600" spc="420">
                <a:latin typeface="Calibri"/>
                <a:cs typeface="Calibri"/>
              </a:rPr>
              <a:t>  </a:t>
            </a:r>
            <a:r>
              <a:rPr dirty="0" sz="600" spc="-25">
                <a:latin typeface="Calibri"/>
                <a:cs typeface="Calibri"/>
              </a:rPr>
              <a:t>are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generally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considered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three-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tiered</a:t>
            </a:r>
            <a:r>
              <a:rPr dirty="0" sz="600" spc="2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applications</a:t>
            </a:r>
            <a:r>
              <a:rPr dirty="0" sz="600" spc="2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because</a:t>
            </a:r>
            <a:r>
              <a:rPr dirty="0" sz="600" spc="254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they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325">
                <a:latin typeface="Calibri"/>
                <a:cs typeface="Calibri"/>
              </a:rPr>
              <a:t>  </a:t>
            </a:r>
            <a:r>
              <a:rPr dirty="0" sz="600">
                <a:latin typeface="Calibri"/>
                <a:cs typeface="Calibri"/>
              </a:rPr>
              <a:t>distributed</a:t>
            </a:r>
            <a:r>
              <a:rPr dirty="0" sz="600" spc="330">
                <a:latin typeface="Calibri"/>
                <a:cs typeface="Calibri"/>
              </a:rPr>
              <a:t>  </a:t>
            </a:r>
            <a:r>
              <a:rPr dirty="0" sz="600">
                <a:latin typeface="Calibri"/>
                <a:cs typeface="Calibri"/>
              </a:rPr>
              <a:t>over</a:t>
            </a:r>
            <a:r>
              <a:rPr dirty="0" sz="600" spc="335">
                <a:latin typeface="Calibri"/>
                <a:cs typeface="Calibri"/>
              </a:rPr>
              <a:t>  </a:t>
            </a:r>
            <a:r>
              <a:rPr dirty="0" sz="600" spc="-20">
                <a:latin typeface="Calibri"/>
                <a:cs typeface="Calibri"/>
              </a:rPr>
              <a:t>three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locations:</a:t>
            </a:r>
            <a:r>
              <a:rPr dirty="0" sz="600" spc="4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client</a:t>
            </a:r>
            <a:r>
              <a:rPr dirty="0" sz="600" spc="4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machines,</a:t>
            </a:r>
            <a:r>
              <a:rPr dirty="0" sz="600" spc="42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server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machine,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database</a:t>
            </a:r>
            <a:r>
              <a:rPr dirty="0" sz="600" spc="25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2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legacy</a:t>
            </a:r>
            <a:r>
              <a:rPr dirty="0" sz="600" spc="2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machines</a:t>
            </a:r>
            <a:r>
              <a:rPr dirty="0" sz="600" spc="27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at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9920" y="1773174"/>
            <a:ext cx="45402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back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end.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17446" y="1745360"/>
            <a:ext cx="101536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1-</a:t>
            </a:r>
            <a:r>
              <a:rPr dirty="0" sz="550">
                <a:latin typeface="Calibri"/>
                <a:cs typeface="Calibri"/>
              </a:rPr>
              <a:t>1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Multitiered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Applications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3683" y="-11175"/>
            <a:ext cx="2834005" cy="2131060"/>
            <a:chOff x="-3683" y="-11175"/>
            <a:chExt cx="2834005" cy="213106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9595" y="434213"/>
              <a:ext cx="1443227" cy="127838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508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4826" y="2133980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1099185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JavaEE</a:t>
            </a:r>
            <a:r>
              <a:rPr dirty="0" spc="-5"/>
              <a:t> </a:t>
            </a:r>
            <a:r>
              <a:rPr dirty="0" spc="-10"/>
              <a:t>Architecture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5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727" y="897445"/>
            <a:ext cx="1655064" cy="981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74928" y="1876170"/>
            <a:ext cx="9779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 </a:t>
            </a:r>
            <a:r>
              <a:rPr dirty="0" sz="550" spc="-10">
                <a:latin typeface="Calibri"/>
                <a:cs typeface="Calibri"/>
              </a:rPr>
              <a:t>1-</a:t>
            </a:r>
            <a:r>
              <a:rPr dirty="0" sz="550">
                <a:latin typeface="Calibri"/>
                <a:cs typeface="Calibri"/>
              </a:rPr>
              <a:t>2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Communication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927" y="207441"/>
            <a:ext cx="2693670" cy="64325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Jakarta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EE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Server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Communications</a:t>
            </a:r>
            <a:endParaRPr sz="6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40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various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elements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that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make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up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client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tier.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ts val="730"/>
              </a:lnSpc>
              <a:spcBef>
                <a:spcPts val="32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client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communicates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with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business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tier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running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on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Jakarta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EE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either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directly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or,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as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case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client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running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browser,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by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going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through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pages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servlets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running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tier.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5689" y="21343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4228" y="2018538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6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JavaEE</a:t>
            </a:r>
            <a:r>
              <a:rPr dirty="0" spc="-5"/>
              <a:t> </a:t>
            </a:r>
            <a:r>
              <a:rPr dirty="0" spc="-10"/>
              <a:t>Architecture</a:t>
            </a:r>
          </a:p>
          <a:p>
            <a:pPr marL="95885">
              <a:lnSpc>
                <a:spcPct val="100000"/>
              </a:lnSpc>
              <a:spcBef>
                <a:spcPts val="55"/>
              </a:spcBef>
            </a:pP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Web</a:t>
            </a:r>
            <a:r>
              <a:rPr dirty="0" sz="650" spc="1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i="1">
                <a:solidFill>
                  <a:srgbClr val="7E7E7E"/>
                </a:solidFill>
                <a:latin typeface="Calibri"/>
                <a:cs typeface="Calibri"/>
              </a:rPr>
              <a:t>Components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59" y="441934"/>
            <a:ext cx="1667255" cy="122354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40053" y="1723136"/>
            <a:ext cx="13747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1-</a:t>
            </a:r>
            <a:r>
              <a:rPr dirty="0" sz="550">
                <a:latin typeface="Calibri"/>
                <a:cs typeface="Calibri"/>
              </a:rPr>
              <a:t>3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Tier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4826" y="21343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9046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7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27" y="92202"/>
            <a:ext cx="1099185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JavaEE</a:t>
            </a:r>
            <a:r>
              <a:rPr dirty="0" sz="1050" spc="-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Architecture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Business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Components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424" y="284988"/>
            <a:ext cx="1667256" cy="168668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8927" y="1629917"/>
            <a:ext cx="947419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-10">
                <a:latin typeface="Calibri"/>
                <a:cs typeface="Calibri"/>
              </a:rPr>
              <a:t> 1-</a:t>
            </a:r>
            <a:r>
              <a:rPr dirty="0" sz="550">
                <a:latin typeface="Calibri"/>
                <a:cs typeface="Calibri"/>
              </a:rPr>
              <a:t>4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Business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EIS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Tiers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5689" y="2133980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119888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10"/>
              <a:t>Containers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9046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8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9815"/>
            <a:ext cx="2695575" cy="16713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8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Container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Services</a:t>
            </a:r>
            <a:endParaRPr sz="650">
              <a:latin typeface="Calibri"/>
              <a:cs typeface="Calibri"/>
            </a:endParaRPr>
          </a:p>
          <a:p>
            <a:pPr algn="just" marL="82550" marR="5715" indent="-70485">
              <a:lnSpc>
                <a:spcPts val="590"/>
              </a:lnSpc>
              <a:spcBef>
                <a:spcPts val="47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Containers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interface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between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component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low-level,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platform-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specific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functionality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supports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component.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Before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it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executed,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 spc="-50">
                <a:latin typeface="Calibri"/>
                <a:cs typeface="Calibri"/>
              </a:rPr>
              <a:t>a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web,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enterprise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bean,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client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component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must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assembled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into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 spc="-50">
                <a:latin typeface="Calibri"/>
                <a:cs typeface="Calibri"/>
              </a:rPr>
              <a:t>a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module and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deployed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into its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container.</a:t>
            </a:r>
            <a:endParaRPr sz="600">
              <a:latin typeface="Calibri"/>
              <a:cs typeface="Calibri"/>
            </a:endParaRPr>
          </a:p>
          <a:p>
            <a:pPr algn="just" marL="82550" marR="5715" indent="-70485">
              <a:lnSpc>
                <a:spcPts val="590"/>
              </a:lnSpc>
              <a:spcBef>
                <a:spcPts val="30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assembly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process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involves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specifying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settings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for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each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component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1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for</a:t>
            </a:r>
            <a:r>
              <a:rPr dirty="0" sz="600" spc="1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itself.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Container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settings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customize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underlying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support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provided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by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EE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server,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including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such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services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security,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transaction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management,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Java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Naming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and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Directory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Interface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(JNDI)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API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lookups,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remote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connectivity.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Here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some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of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highlights.</a:t>
            </a:r>
            <a:endParaRPr sz="600">
              <a:latin typeface="Calibri"/>
              <a:cs typeface="Calibri"/>
            </a:endParaRPr>
          </a:p>
          <a:p>
            <a:pPr algn="just" marL="222885" marR="5080" indent="-70485">
              <a:lnSpc>
                <a:spcPts val="5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8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EE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security</a:t>
            </a:r>
            <a:r>
              <a:rPr dirty="0" sz="500" spc="8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model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lets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you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configure</a:t>
            </a:r>
            <a:r>
              <a:rPr dirty="0" sz="500" spc="9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web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component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or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enterprise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bean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so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that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system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resources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are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accessed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only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by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authorized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users.</a:t>
            </a:r>
            <a:endParaRPr sz="500">
              <a:latin typeface="Calibri"/>
              <a:cs typeface="Calibri"/>
            </a:endParaRPr>
          </a:p>
          <a:p>
            <a:pPr algn="just" marL="222885" marR="6985" indent="-70485">
              <a:lnSpc>
                <a:spcPts val="5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EE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transaction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model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lets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you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specify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relationships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among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methods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that</a:t>
            </a:r>
            <a:r>
              <a:rPr dirty="0" sz="500" spc="55">
                <a:latin typeface="Calibri"/>
                <a:cs typeface="Calibri"/>
              </a:rPr>
              <a:t> </a:t>
            </a:r>
            <a:r>
              <a:rPr dirty="0" sz="500" spc="-20">
                <a:latin typeface="Calibri"/>
                <a:cs typeface="Calibri"/>
              </a:rPr>
              <a:t>make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up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single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transaction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so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that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all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methods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one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transaction are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treated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as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single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unit.</a:t>
            </a:r>
            <a:endParaRPr sz="500">
              <a:latin typeface="Calibri"/>
              <a:cs typeface="Calibri"/>
            </a:endParaRPr>
          </a:p>
          <a:p>
            <a:pPr algn="just" marL="222885" marR="6350" indent="-70485">
              <a:lnSpc>
                <a:spcPts val="490"/>
              </a:lnSpc>
              <a:spcBef>
                <a:spcPts val="17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JNDI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lookup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services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provide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8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unified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interface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multiple</a:t>
            </a:r>
            <a:r>
              <a:rPr dirty="0" sz="500" spc="8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naming</a:t>
            </a:r>
            <a:r>
              <a:rPr dirty="0" sz="500" spc="6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and</a:t>
            </a:r>
            <a:r>
              <a:rPr dirty="0" sz="500" spc="5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directory</a:t>
            </a:r>
            <a:r>
              <a:rPr dirty="0" sz="500" spc="7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services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enterprise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so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that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application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components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can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access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these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services.</a:t>
            </a:r>
            <a:endParaRPr sz="500">
              <a:latin typeface="Calibri"/>
              <a:cs typeface="Calibri"/>
            </a:endParaRPr>
          </a:p>
          <a:p>
            <a:pPr algn="just" marL="222885" marR="5080" indent="-70485">
              <a:lnSpc>
                <a:spcPct val="83000"/>
              </a:lnSpc>
              <a:spcBef>
                <a:spcPts val="16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1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EE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remote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connectivity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model</a:t>
            </a:r>
            <a:r>
              <a:rPr dirty="0" sz="500" spc="1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manages</a:t>
            </a:r>
            <a:r>
              <a:rPr dirty="0" sz="500" spc="1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low-level</a:t>
            </a:r>
            <a:r>
              <a:rPr dirty="0" sz="500" spc="114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communications</a:t>
            </a:r>
            <a:r>
              <a:rPr dirty="0" sz="500" spc="1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between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clients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and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enterprise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beans.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After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enterprise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bean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is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created,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client</a:t>
            </a:r>
            <a:r>
              <a:rPr dirty="0" sz="500" spc="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invokes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methods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on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it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as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if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it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were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same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virtual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machine.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3980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8538"/>
            <a:ext cx="4953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FFC000"/>
                </a:solidFill>
                <a:latin typeface="Calibri"/>
                <a:cs typeface="Calibri"/>
              </a:rPr>
              <a:t>9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10"/>
              <a:t>Containers</a:t>
            </a:r>
          </a:p>
          <a:p>
            <a:pPr marL="95250">
              <a:lnSpc>
                <a:spcPct val="100000"/>
              </a:lnSpc>
              <a:spcBef>
                <a:spcPts val="55"/>
              </a:spcBef>
            </a:pP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Container</a:t>
            </a:r>
            <a:r>
              <a:rPr dirty="0" sz="650" spc="6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i="1">
                <a:solidFill>
                  <a:srgbClr val="7E7E7E"/>
                </a:solidFill>
                <a:latin typeface="Calibri"/>
                <a:cs typeface="Calibri"/>
              </a:rPr>
              <a:t>Types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415925"/>
            <a:ext cx="1642872" cy="14871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83768" y="1899285"/>
            <a:ext cx="125476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-10">
                <a:latin typeface="Calibri"/>
                <a:cs typeface="Calibri"/>
              </a:rPr>
              <a:t> 1-</a:t>
            </a:r>
            <a:r>
              <a:rPr dirty="0" sz="550">
                <a:latin typeface="Calibri"/>
                <a:cs typeface="Calibri"/>
              </a:rPr>
              <a:t>5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Containers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5689" y="21343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119888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10"/>
              <a:t>Containers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10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7441"/>
            <a:ext cx="2693035" cy="13335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Container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Types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containers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as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follows:</a:t>
            </a:r>
            <a:endParaRPr sz="650">
              <a:latin typeface="Calibri"/>
              <a:cs typeface="Calibri"/>
            </a:endParaRPr>
          </a:p>
          <a:p>
            <a:pPr algn="just" marL="222885" marR="6350" indent="-70485">
              <a:lnSpc>
                <a:spcPts val="600"/>
              </a:lnSpc>
              <a:spcBef>
                <a:spcPts val="17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server: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runtime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portion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product.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server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provides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enterprise</a:t>
            </a:r>
            <a:r>
              <a:rPr dirty="0" sz="550" spc="-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containers.</a:t>
            </a:r>
            <a:endParaRPr sz="550">
              <a:latin typeface="Calibri"/>
              <a:cs typeface="Calibri"/>
            </a:endParaRPr>
          </a:p>
          <a:p>
            <a:pPr algn="just" marL="222885" marR="5715" indent="-70485">
              <a:lnSpc>
                <a:spcPts val="6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Enterprise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Bean</a:t>
            </a:r>
            <a:r>
              <a:rPr dirty="0" sz="550" spc="9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container:</a:t>
            </a:r>
            <a:r>
              <a:rPr dirty="0" sz="550" spc="9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Manages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execution</a:t>
            </a:r>
            <a:r>
              <a:rPr dirty="0" sz="550" spc="9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enterprise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beans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for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applications.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Enterprise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Beans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their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container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on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the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server.</a:t>
            </a:r>
            <a:endParaRPr sz="550">
              <a:latin typeface="Calibri"/>
              <a:cs typeface="Calibri"/>
            </a:endParaRPr>
          </a:p>
          <a:p>
            <a:pPr algn="just" marL="222885" marR="5080" indent="-70485">
              <a:lnSpc>
                <a:spcPct val="90000"/>
              </a:lnSpc>
              <a:spcBef>
                <a:spcPts val="14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container: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Manages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execution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pages,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servlets,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some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enterprise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bean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components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for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applications.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components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their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container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on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 </a:t>
            </a:r>
            <a:r>
              <a:rPr dirty="0" sz="550" spc="-10">
                <a:latin typeface="Calibri"/>
                <a:cs typeface="Calibri"/>
              </a:rPr>
              <a:t>server.</a:t>
            </a:r>
            <a:endParaRPr sz="550">
              <a:latin typeface="Calibri"/>
              <a:cs typeface="Calibri"/>
            </a:endParaRPr>
          </a:p>
          <a:p>
            <a:pPr algn="just" marL="222885" marR="6350" indent="-70485">
              <a:lnSpc>
                <a:spcPts val="590"/>
              </a:lnSpc>
              <a:spcBef>
                <a:spcPts val="17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Application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client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container: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Manages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execution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client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components.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</a:t>
            </a:r>
            <a:r>
              <a:rPr dirty="0" sz="550">
                <a:latin typeface="Calibri"/>
                <a:cs typeface="Calibri"/>
              </a:rPr>
              <a:t> clients and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their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container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client.</a:t>
            </a:r>
            <a:endParaRPr sz="550">
              <a:latin typeface="Calibri"/>
              <a:cs typeface="Calibri"/>
            </a:endParaRPr>
          </a:p>
          <a:p>
            <a:pPr algn="just" marL="222885" marR="5715" indent="-70485">
              <a:lnSpc>
                <a:spcPts val="600"/>
              </a:lnSpc>
              <a:spcBef>
                <a:spcPts val="15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Applet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container: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Manages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 execution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 applets.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Consists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 web browser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 </a:t>
            </a:r>
            <a:r>
              <a:rPr dirty="0" sz="550" spc="-50">
                <a:latin typeface="Calibri"/>
                <a:cs typeface="Calibri"/>
              </a:rPr>
              <a:t>a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Java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Plug-</a:t>
            </a:r>
            <a:r>
              <a:rPr dirty="0" sz="550">
                <a:latin typeface="Calibri"/>
                <a:cs typeface="Calibri"/>
              </a:rPr>
              <a:t>in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running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on the client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together.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10"/>
              <a:t>Containers</a:t>
            </a: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650" spc="5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relationships</a:t>
            </a:r>
            <a:r>
              <a:rPr dirty="0" sz="650" spc="1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among</a:t>
            </a:r>
            <a:r>
              <a:rPr dirty="0" sz="650" spc="5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650" spc="5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Jakarta</a:t>
            </a:r>
            <a:r>
              <a:rPr dirty="0" sz="650" spc="4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EE</a:t>
            </a:r>
            <a:r>
              <a:rPr dirty="0" sz="650" spc="7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i="1">
                <a:solidFill>
                  <a:srgbClr val="7E7E7E"/>
                </a:solidFill>
                <a:latin typeface="Calibri"/>
                <a:cs typeface="Calibri"/>
              </a:rPr>
              <a:t>containers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" y="635406"/>
            <a:ext cx="2653284" cy="83804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73176" y="1547241"/>
            <a:ext cx="10445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-10">
                <a:latin typeface="Calibri"/>
                <a:cs typeface="Calibri"/>
              </a:rPr>
              <a:t> 1-</a:t>
            </a:r>
            <a:r>
              <a:rPr dirty="0" sz="550">
                <a:latin typeface="Calibri"/>
                <a:cs typeface="Calibri"/>
              </a:rPr>
              <a:t>6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-10">
                <a:latin typeface="Calibri"/>
                <a:cs typeface="Calibri"/>
              </a:rPr>
              <a:t> containers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20"/>
              <a:t>APIs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12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9" y="260604"/>
            <a:ext cx="1267968" cy="173240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3570" y="1965198"/>
            <a:ext cx="1153160" cy="1441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 indent="78105">
              <a:lnSpc>
                <a:spcPts val="409"/>
              </a:lnSpc>
              <a:spcBef>
                <a:spcPts val="200"/>
              </a:spcBef>
            </a:pPr>
            <a:r>
              <a:rPr dirty="0" sz="400" spc="10">
                <a:latin typeface="Calibri"/>
                <a:cs typeface="Calibri"/>
              </a:rPr>
              <a:t>Figure</a:t>
            </a:r>
            <a:r>
              <a:rPr dirty="0" sz="400" spc="-15">
                <a:latin typeface="Calibri"/>
                <a:cs typeface="Calibri"/>
              </a:rPr>
              <a:t> </a:t>
            </a:r>
            <a:r>
              <a:rPr dirty="0" sz="400">
                <a:latin typeface="Calibri"/>
                <a:cs typeface="Calibri"/>
              </a:rPr>
              <a:t>1-</a:t>
            </a:r>
            <a:r>
              <a:rPr dirty="0" sz="400" spc="10">
                <a:latin typeface="Calibri"/>
                <a:cs typeface="Calibri"/>
              </a:rPr>
              <a:t>7 Jakarta</a:t>
            </a:r>
            <a:r>
              <a:rPr dirty="0" sz="400" spc="3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EE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APIs</a:t>
            </a:r>
            <a:r>
              <a:rPr dirty="0" sz="400" spc="-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in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the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Web</a:t>
            </a:r>
            <a:r>
              <a:rPr dirty="0" sz="400">
                <a:latin typeface="Calibri"/>
                <a:cs typeface="Calibri"/>
              </a:rPr>
              <a:t> </a:t>
            </a:r>
            <a:r>
              <a:rPr dirty="0" sz="400" spc="-10">
                <a:latin typeface="Calibri"/>
                <a:cs typeface="Calibri"/>
              </a:rPr>
              <a:t>Container</a:t>
            </a:r>
            <a:r>
              <a:rPr dirty="0" sz="400" spc="500">
                <a:latin typeface="Calibri"/>
                <a:cs typeface="Calibri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6671" y="309245"/>
            <a:ext cx="1153667" cy="13881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450974" y="1739010"/>
            <a:ext cx="132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10">
                <a:latin typeface="Calibri"/>
                <a:cs typeface="Calibri"/>
              </a:rPr>
              <a:t>Figure</a:t>
            </a:r>
            <a:r>
              <a:rPr dirty="0" sz="400" spc="-15">
                <a:latin typeface="Calibri"/>
                <a:cs typeface="Calibri"/>
              </a:rPr>
              <a:t> </a:t>
            </a:r>
            <a:r>
              <a:rPr dirty="0" sz="400">
                <a:latin typeface="Calibri"/>
                <a:cs typeface="Calibri"/>
              </a:rPr>
              <a:t>1-</a:t>
            </a:r>
            <a:r>
              <a:rPr dirty="0" sz="400" spc="10">
                <a:latin typeface="Calibri"/>
                <a:cs typeface="Calibri"/>
              </a:rPr>
              <a:t>8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Jakarta</a:t>
            </a:r>
            <a:r>
              <a:rPr dirty="0" sz="400" spc="4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EE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APIs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in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the</a:t>
            </a:r>
            <a:r>
              <a:rPr dirty="0" sz="400" spc="2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enterprise</a:t>
            </a:r>
            <a:r>
              <a:rPr dirty="0" sz="400" spc="-1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bean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-10">
                <a:latin typeface="Calibri"/>
                <a:cs typeface="Calibri"/>
              </a:rPr>
              <a:t>Container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/>
              <a:t>EE</a:t>
            </a:r>
            <a:r>
              <a:rPr dirty="0" spc="-5"/>
              <a:t> </a:t>
            </a:r>
            <a:r>
              <a:rPr dirty="0" spc="-20"/>
              <a:t>APIs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13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" y="405257"/>
            <a:ext cx="1153668" cy="138811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459" y="1790446"/>
            <a:ext cx="132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10">
                <a:latin typeface="Calibri"/>
                <a:cs typeface="Calibri"/>
              </a:rPr>
              <a:t>Figure</a:t>
            </a:r>
            <a:r>
              <a:rPr dirty="0" sz="400" spc="-15">
                <a:latin typeface="Calibri"/>
                <a:cs typeface="Calibri"/>
              </a:rPr>
              <a:t> </a:t>
            </a:r>
            <a:r>
              <a:rPr dirty="0" sz="400">
                <a:latin typeface="Calibri"/>
                <a:cs typeface="Calibri"/>
              </a:rPr>
              <a:t>1-</a:t>
            </a:r>
            <a:r>
              <a:rPr dirty="0" sz="400" spc="10">
                <a:latin typeface="Calibri"/>
                <a:cs typeface="Calibri"/>
              </a:rPr>
              <a:t>8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Jakarta</a:t>
            </a:r>
            <a:r>
              <a:rPr dirty="0" sz="400" spc="4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EE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APIs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in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the</a:t>
            </a:r>
            <a:r>
              <a:rPr dirty="0" sz="400" spc="2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enterprise</a:t>
            </a:r>
            <a:r>
              <a:rPr dirty="0" sz="400" spc="-1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bean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-10">
                <a:latin typeface="Calibri"/>
                <a:cs typeface="Calibri"/>
              </a:rPr>
              <a:t>Container</a:t>
            </a:r>
            <a:endParaRPr sz="4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552" y="511987"/>
            <a:ext cx="1331976" cy="94622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70456" y="1523746"/>
            <a:ext cx="136398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10">
                <a:latin typeface="Calibri"/>
                <a:cs typeface="Calibri"/>
              </a:rPr>
              <a:t>Figure</a:t>
            </a:r>
            <a:r>
              <a:rPr dirty="0" sz="400" spc="-15">
                <a:latin typeface="Calibri"/>
                <a:cs typeface="Calibri"/>
              </a:rPr>
              <a:t> </a:t>
            </a:r>
            <a:r>
              <a:rPr dirty="0" sz="400">
                <a:latin typeface="Calibri"/>
                <a:cs typeface="Calibri"/>
              </a:rPr>
              <a:t>1-</a:t>
            </a:r>
            <a:r>
              <a:rPr dirty="0" sz="400" spc="10">
                <a:latin typeface="Calibri"/>
                <a:cs typeface="Calibri"/>
              </a:rPr>
              <a:t>9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Jakarta</a:t>
            </a:r>
            <a:r>
              <a:rPr dirty="0" sz="400" spc="30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EE</a:t>
            </a:r>
            <a:r>
              <a:rPr dirty="0" sz="400" spc="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APIs</a:t>
            </a:r>
            <a:r>
              <a:rPr dirty="0" sz="400" spc="-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in the Application</a:t>
            </a:r>
            <a:r>
              <a:rPr dirty="0" sz="400" spc="15">
                <a:latin typeface="Calibri"/>
                <a:cs typeface="Calibri"/>
              </a:rPr>
              <a:t> </a:t>
            </a:r>
            <a:r>
              <a:rPr dirty="0" sz="400" spc="10">
                <a:latin typeface="Calibri"/>
                <a:cs typeface="Calibri"/>
              </a:rPr>
              <a:t>Client </a:t>
            </a:r>
            <a:r>
              <a:rPr dirty="0" sz="400" spc="-10">
                <a:latin typeface="Calibri"/>
                <a:cs typeface="Calibri"/>
              </a:rPr>
              <a:t>Container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2108835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Jakarta</a:t>
            </a:r>
            <a:r>
              <a:rPr dirty="0" spc="-15"/>
              <a:t> </a:t>
            </a:r>
            <a:r>
              <a:rPr dirty="0" spc="-10"/>
              <a:t>Enterprise </a:t>
            </a:r>
            <a:r>
              <a:rPr dirty="0"/>
              <a:t>Beans</a:t>
            </a:r>
            <a:r>
              <a:rPr dirty="0" spc="-20"/>
              <a:t> </a:t>
            </a:r>
            <a:r>
              <a:rPr dirty="0" spc="-10"/>
              <a:t>Technologies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14</a:t>
            </a:r>
            <a:endParaRPr sz="35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9922" y="290782"/>
          <a:ext cx="2733040" cy="1517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875"/>
                <a:gridCol w="1241425"/>
              </a:tblGrid>
              <a:tr h="157480">
                <a:tc gridSpan="2">
                  <a:txBody>
                    <a:bodyPr/>
                    <a:lstStyle/>
                    <a:p>
                      <a:pPr marL="728980">
                        <a:lnSpc>
                          <a:spcPts val="705"/>
                        </a:lnSpc>
                      </a:pPr>
                      <a:r>
                        <a:rPr dirty="0" sz="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Enterprise</a:t>
                      </a:r>
                      <a:r>
                        <a:rPr dirty="0" sz="60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Beans</a:t>
                      </a:r>
                      <a:r>
                        <a:rPr dirty="0" sz="60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Technologies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6520">
                <a:tc>
                  <a:txBody>
                    <a:bodyPr/>
                    <a:lstStyle/>
                    <a:p>
                      <a:pPr marL="21590">
                        <a:lnSpc>
                          <a:spcPts val="66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6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Technology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6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Authorization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Faces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Technology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Authentication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Pages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Technology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Security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Standard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Tag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 Library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WebSocket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Persistence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Processing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Transactions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JSON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Binding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RESTful</a:t>
                      </a:r>
                      <a:r>
                        <a:rPr dirty="0" sz="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Services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Concurrency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Managed</a:t>
                      </a:r>
                      <a:r>
                        <a:rPr dirty="0" sz="6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Beans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Batch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Contexts</a:t>
                      </a:r>
                      <a:r>
                        <a:rPr dirty="0" sz="6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6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Dependency</a:t>
                      </a:r>
                      <a:r>
                        <a:rPr dirty="0" sz="6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Injection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Activation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Dependency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Injection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XML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Binding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Bean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Validation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XML</a:t>
                      </a:r>
                      <a:r>
                        <a:rPr dirty="0" sz="6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Web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Services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Messaging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SOAP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6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Attachments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Connectors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10">
                          <a:latin typeface="Calibri"/>
                          <a:cs typeface="Calibri"/>
                        </a:rPr>
                        <a:t>Annotations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7155">
                <a:tc gridSpan="2">
                  <a:txBody>
                    <a:bodyPr/>
                    <a:lstStyle/>
                    <a:p>
                      <a:pPr marL="21590">
                        <a:lnSpc>
                          <a:spcPts val="670"/>
                        </a:lnSpc>
                      </a:pPr>
                      <a:r>
                        <a:rPr dirty="0" sz="600"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6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00" spc="-20">
                          <a:latin typeface="Calibri"/>
                          <a:cs typeface="Calibri"/>
                        </a:rPr>
                        <a:t>Mail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3175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7027" y="1821561"/>
            <a:ext cx="17557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latin typeface="Calibri"/>
                <a:cs typeface="Calibri"/>
              </a:rPr>
              <a:t>Read</a:t>
            </a:r>
            <a:r>
              <a:rPr dirty="0" sz="550" spc="95" b="1">
                <a:latin typeface="Calibri"/>
                <a:cs typeface="Calibri"/>
              </a:rPr>
              <a:t> </a:t>
            </a:r>
            <a:r>
              <a:rPr dirty="0" sz="550" b="1">
                <a:latin typeface="Calibri"/>
                <a:cs typeface="Calibri"/>
              </a:rPr>
              <a:t>more:</a:t>
            </a:r>
            <a:r>
              <a:rPr dirty="0" sz="550" spc="135" b="1">
                <a:latin typeface="Calibri"/>
                <a:cs typeface="Calibri"/>
              </a:rPr>
              <a:t> </a:t>
            </a:r>
            <a:r>
              <a:rPr dirty="0" u="sng" sz="5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https://eclipse-ee4j.github.io/jakartaee-tutorial/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2202"/>
            <a:ext cx="1682114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Jakarta</a:t>
            </a:r>
            <a:r>
              <a:rPr dirty="0" sz="1050" spc="-2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EE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API</a:t>
            </a:r>
            <a:r>
              <a:rPr dirty="0" sz="1050" spc="-1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Interoperability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15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" y="284861"/>
            <a:ext cx="1981200" cy="16487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74750" y="1907285"/>
            <a:ext cx="10287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Figure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2.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Interoperability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Architecture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16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7" y="15240"/>
            <a:ext cx="1953768" cy="208597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816" y="1716404"/>
            <a:ext cx="13087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5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https://jakarta.ee/specifications/platform/10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5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/jakarta-platform-spec-</a:t>
            </a:r>
            <a:r>
              <a:rPr dirty="0" u="sng" sz="55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10.0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710" y="527050"/>
            <a:ext cx="108394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Fig1.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Jakarta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EE </a:t>
            </a:r>
            <a:r>
              <a:rPr dirty="0" sz="550" spc="-10">
                <a:latin typeface="Calibri"/>
                <a:cs typeface="Calibri"/>
              </a:rPr>
              <a:t>Architecture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Diagram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/>
              <a:t>Jakarta</a:t>
            </a:r>
            <a:r>
              <a:rPr dirty="0" sz="1350" spc="-50"/>
              <a:t> </a:t>
            </a:r>
            <a:r>
              <a:rPr dirty="0" sz="1350"/>
              <a:t>Servlet</a:t>
            </a:r>
            <a:r>
              <a:rPr dirty="0" sz="1350" spc="-40"/>
              <a:t> </a:t>
            </a:r>
            <a:r>
              <a:rPr dirty="0" sz="1350" spc="-25"/>
              <a:t>6.0</a:t>
            </a:r>
            <a:endParaRPr sz="1350"/>
          </a:p>
        </p:txBody>
      </p:sp>
      <p:sp>
        <p:nvSpPr>
          <p:cNvPr id="3" name="object 3" descr=""/>
          <p:cNvSpPr txBox="1"/>
          <p:nvPr/>
        </p:nvSpPr>
        <p:spPr>
          <a:xfrm>
            <a:off x="122631" y="1919986"/>
            <a:ext cx="288290" cy="187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0066A0"/>
                </a:solidFill>
                <a:latin typeface="Calibri"/>
                <a:cs typeface="Calibri"/>
              </a:rPr>
              <a:t>17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985" y="1529334"/>
            <a:ext cx="19685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5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https://jakarta.ee/specifications/servlet/6.0/jakarta-servlet-spec-</a:t>
            </a:r>
            <a:r>
              <a:rPr dirty="0" u="sng" sz="55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6.0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79375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Terminologies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18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55270"/>
            <a:ext cx="2692400" cy="869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2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What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is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Servlet?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ts val="590"/>
              </a:lnSpc>
              <a:spcBef>
                <a:spcPts val="484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-35">
                <a:solidFill>
                  <a:srgbClr val="0066A0"/>
                </a:solidFill>
                <a:latin typeface="Cambria Math"/>
                <a:cs typeface="Cambria Math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9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servlet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 spc="5">
                <a:latin typeface="Calibri"/>
                <a:cs typeface="Calibri"/>
              </a:rPr>
              <a:t>i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9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</a:t>
            </a:r>
            <a:r>
              <a:rPr dirty="0" sz="550" spc="-15">
                <a:latin typeface="Calibri"/>
                <a:cs typeface="Calibri"/>
              </a:rPr>
              <a:t>k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10">
                <a:latin typeface="Calibri"/>
                <a:cs typeface="Calibri"/>
              </a:rPr>
              <a:t>r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9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ch</a:t>
            </a:r>
            <a:r>
              <a:rPr dirty="0" sz="550" spc="5">
                <a:latin typeface="Calibri"/>
                <a:cs typeface="Calibri"/>
              </a:rPr>
              <a:t>n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gy</a:t>
            </a:r>
            <a:r>
              <a:rPr dirty="0" sz="550" spc="-5">
                <a:latin typeface="Calibri"/>
                <a:cs typeface="Calibri"/>
              </a:rPr>
              <a:t>-base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9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m</a:t>
            </a:r>
            <a:r>
              <a:rPr dirty="0" sz="550" spc="5">
                <a:latin typeface="Calibri"/>
                <a:cs typeface="Calibri"/>
              </a:rPr>
              <a:t>po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en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,</a:t>
            </a:r>
            <a:r>
              <a:rPr dirty="0" sz="550" spc="9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</a:t>
            </a:r>
            <a:r>
              <a:rPr dirty="0" sz="550" spc="-5">
                <a:latin typeface="Calibri"/>
                <a:cs typeface="Calibri"/>
              </a:rPr>
              <a:t>an</a:t>
            </a:r>
            <a:r>
              <a:rPr dirty="0" sz="550">
                <a:latin typeface="Calibri"/>
                <a:cs typeface="Calibri"/>
              </a:rPr>
              <a:t>ag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b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9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 spc="5">
                <a:latin typeface="Calibri"/>
                <a:cs typeface="Calibri"/>
              </a:rPr>
              <a:t>n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ai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50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,</a:t>
            </a:r>
            <a:r>
              <a:rPr dirty="0" sz="550" spc="10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th</a:t>
            </a:r>
            <a:r>
              <a:rPr dirty="0" sz="550">
                <a:latin typeface="Calibri"/>
                <a:cs typeface="Calibri"/>
              </a:rPr>
              <a:t>at gene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-5">
                <a:latin typeface="Calibri"/>
                <a:cs typeface="Calibri"/>
              </a:rPr>
              <a:t> d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amic</a:t>
            </a:r>
            <a:r>
              <a:rPr dirty="0" sz="550" spc="-10">
                <a:latin typeface="Calibri"/>
                <a:cs typeface="Calibri"/>
              </a:rPr>
              <a:t> c</a:t>
            </a:r>
            <a:r>
              <a:rPr dirty="0" sz="550" spc="-5">
                <a:latin typeface="Calibri"/>
                <a:cs typeface="Calibri"/>
              </a:rPr>
              <a:t>ont</a:t>
            </a:r>
            <a:r>
              <a:rPr dirty="0" sz="550">
                <a:latin typeface="Calibri"/>
                <a:cs typeface="Calibri"/>
              </a:rPr>
              <a:t>en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.</a:t>
            </a:r>
            <a:endParaRPr sz="550">
              <a:latin typeface="Calibri"/>
              <a:cs typeface="Calibri"/>
            </a:endParaRPr>
          </a:p>
          <a:p>
            <a:pPr algn="just" marL="82550" marR="5080" indent="-70485">
              <a:lnSpc>
                <a:spcPts val="600"/>
              </a:lnSpc>
              <a:spcBef>
                <a:spcPts val="300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-35">
                <a:solidFill>
                  <a:srgbClr val="0066A0"/>
                </a:solidFill>
                <a:latin typeface="Cambria Math"/>
                <a:cs typeface="Cambria Math"/>
              </a:rPr>
              <a:t> </a:t>
            </a:r>
            <a:r>
              <a:rPr dirty="0" sz="550" spc="-5">
                <a:latin typeface="Calibri"/>
                <a:cs typeface="Calibri"/>
              </a:rPr>
              <a:t>L</a:t>
            </a:r>
            <a:r>
              <a:rPr dirty="0" sz="550">
                <a:latin typeface="Calibri"/>
                <a:cs typeface="Calibri"/>
              </a:rPr>
              <a:t>i</a:t>
            </a:r>
            <a:r>
              <a:rPr dirty="0" sz="550" spc="-15">
                <a:latin typeface="Calibri"/>
                <a:cs typeface="Calibri"/>
              </a:rPr>
              <a:t>k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oth</a:t>
            </a:r>
            <a:r>
              <a:rPr dirty="0" sz="550">
                <a:latin typeface="Calibri"/>
                <a:cs typeface="Calibri"/>
              </a:rPr>
              <a:t>er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</a:t>
            </a:r>
            <a:r>
              <a:rPr dirty="0" sz="550" spc="-15">
                <a:latin typeface="Calibri"/>
                <a:cs typeface="Calibri"/>
              </a:rPr>
              <a:t>k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10">
                <a:latin typeface="Calibri"/>
                <a:cs typeface="Calibri"/>
              </a:rPr>
              <a:t>r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c</a:t>
            </a:r>
            <a:r>
              <a:rPr dirty="0" sz="550" spc="5">
                <a:latin typeface="Calibri"/>
                <a:cs typeface="Calibri"/>
              </a:rPr>
              <a:t>h</a:t>
            </a:r>
            <a:r>
              <a:rPr dirty="0" sz="550" spc="-5">
                <a:latin typeface="Calibri"/>
                <a:cs typeface="Calibri"/>
              </a:rPr>
              <a:t>no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gy</a:t>
            </a:r>
            <a:r>
              <a:rPr dirty="0" sz="550" spc="-5">
                <a:latin typeface="Calibri"/>
                <a:cs typeface="Calibri"/>
              </a:rPr>
              <a:t>-base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m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 spc="5">
                <a:latin typeface="Calibri"/>
                <a:cs typeface="Calibri"/>
              </a:rPr>
              <a:t>o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en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s,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10">
                <a:latin typeface="Calibri"/>
                <a:cs typeface="Calibri"/>
              </a:rPr>
              <a:t>er</a:t>
            </a:r>
            <a:r>
              <a:rPr dirty="0" sz="550">
                <a:latin typeface="Calibri"/>
                <a:cs typeface="Calibri"/>
              </a:rPr>
              <a:t>vle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>
                <a:latin typeface="Calibri"/>
                <a:cs typeface="Calibri"/>
              </a:rPr>
              <a:t>la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 spc="-15">
                <a:latin typeface="Calibri"/>
                <a:cs typeface="Calibri"/>
              </a:rPr>
              <a:t>f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rm</a:t>
            </a:r>
            <a:r>
              <a:rPr dirty="0" sz="550" spc="-5">
                <a:latin typeface="Calibri"/>
                <a:cs typeface="Calibri"/>
              </a:rPr>
              <a:t>-</a:t>
            </a:r>
            <a:r>
              <a:rPr dirty="0" sz="550">
                <a:latin typeface="Calibri"/>
                <a:cs typeface="Calibri"/>
              </a:rPr>
              <a:t>i</a:t>
            </a:r>
            <a:r>
              <a:rPr dirty="0" sz="550" spc="-5">
                <a:latin typeface="Calibri"/>
                <a:cs typeface="Calibri"/>
              </a:rPr>
              <a:t>ndepe</a:t>
            </a:r>
            <a:r>
              <a:rPr dirty="0" sz="550" spc="5">
                <a:latin typeface="Calibri"/>
                <a:cs typeface="Calibri"/>
              </a:rPr>
              <a:t>n</a:t>
            </a:r>
            <a:r>
              <a:rPr dirty="0" sz="550" spc="-5">
                <a:latin typeface="Calibri"/>
                <a:cs typeface="Calibri"/>
              </a:rPr>
              <a:t>d</a:t>
            </a:r>
            <a:r>
              <a:rPr dirty="0" sz="550">
                <a:latin typeface="Calibri"/>
                <a:cs typeface="Calibri"/>
              </a:rPr>
              <a:t>ent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</a:t>
            </a:r>
            <a:r>
              <a:rPr dirty="0" sz="550" spc="-15">
                <a:latin typeface="Calibri"/>
                <a:cs typeface="Calibri"/>
              </a:rPr>
              <a:t>a</a:t>
            </a:r>
            <a:r>
              <a:rPr dirty="0" sz="550" spc="-10">
                <a:latin typeface="Calibri"/>
                <a:cs typeface="Calibri"/>
              </a:rPr>
              <a:t>v</a:t>
            </a:r>
            <a:r>
              <a:rPr dirty="0" sz="550">
                <a:latin typeface="Calibri"/>
                <a:cs typeface="Calibri"/>
              </a:rPr>
              <a:t>a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asse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th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5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m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>
                <a:latin typeface="Calibri"/>
                <a:cs typeface="Calibri"/>
              </a:rPr>
              <a:t>il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o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>
                <a:latin typeface="Calibri"/>
                <a:cs typeface="Calibri"/>
              </a:rPr>
              <a:t>la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 spc="-15">
                <a:latin typeface="Calibri"/>
                <a:cs typeface="Calibri"/>
              </a:rPr>
              <a:t>f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rm</a:t>
            </a:r>
            <a:r>
              <a:rPr dirty="0" sz="550" spc="-5">
                <a:latin typeface="Calibri"/>
                <a:cs typeface="Calibri"/>
              </a:rPr>
              <a:t>-n</a:t>
            </a:r>
            <a:r>
              <a:rPr dirty="0" sz="550" spc="1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ut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al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b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5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od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th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a</a:t>
            </a:r>
            <a:r>
              <a:rPr dirty="0" sz="550">
                <a:latin typeface="Calibri"/>
                <a:cs typeface="Calibri"/>
              </a:rPr>
              <a:t>n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b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 spc="10">
                <a:latin typeface="Calibri"/>
                <a:cs typeface="Calibri"/>
              </a:rPr>
              <a:t>a</a:t>
            </a:r>
            <a:r>
              <a:rPr dirty="0" sz="550" spc="-5">
                <a:latin typeface="Calibri"/>
                <a:cs typeface="Calibri"/>
              </a:rPr>
              <a:t>de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d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ami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>
                <a:latin typeface="Calibri"/>
                <a:cs typeface="Calibri"/>
              </a:rPr>
              <a:t>ally i</a:t>
            </a:r>
            <a:r>
              <a:rPr dirty="0" sz="550" spc="-5">
                <a:latin typeface="Calibri"/>
                <a:cs typeface="Calibri"/>
              </a:rPr>
              <a:t>nt</a:t>
            </a:r>
            <a:r>
              <a:rPr dirty="0" sz="550">
                <a:latin typeface="Calibri"/>
                <a:cs typeface="Calibri"/>
              </a:rPr>
              <a:t>o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an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ru</a:t>
            </a:r>
            <a:r>
              <a:rPr dirty="0" sz="550">
                <a:latin typeface="Calibri"/>
                <a:cs typeface="Calibri"/>
              </a:rPr>
              <a:t>n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b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</a:t>
            </a:r>
            <a:r>
              <a:rPr dirty="0" sz="550" spc="-15">
                <a:latin typeface="Calibri"/>
                <a:cs typeface="Calibri"/>
              </a:rPr>
              <a:t>k</a:t>
            </a:r>
            <a:r>
              <a:rPr dirty="0" sz="550">
                <a:latin typeface="Calibri"/>
                <a:cs typeface="Calibri"/>
              </a:rPr>
              <a:t>ar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chno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gy</a:t>
            </a:r>
            <a:r>
              <a:rPr dirty="0" sz="550" spc="-5">
                <a:latin typeface="Calibri"/>
                <a:cs typeface="Calibri"/>
              </a:rPr>
              <a:t>-enab</a:t>
            </a:r>
            <a:r>
              <a:rPr dirty="0" sz="550">
                <a:latin typeface="Calibri"/>
                <a:cs typeface="Calibri"/>
              </a:rPr>
              <a:t>l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</a:t>
            </a:r>
            <a:r>
              <a:rPr dirty="0" sz="550" spc="-60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.</a:t>
            </a:r>
            <a:endParaRPr sz="5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0000"/>
              </a:lnSpc>
              <a:spcBef>
                <a:spcPts val="295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-35">
                <a:solidFill>
                  <a:srgbClr val="0066A0"/>
                </a:solidFill>
                <a:latin typeface="Cambria Math"/>
                <a:cs typeface="Cambria Math"/>
              </a:rPr>
              <a:t> </a:t>
            </a:r>
            <a:r>
              <a:rPr dirty="0" sz="550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on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ai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s,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so</a:t>
            </a:r>
            <a:r>
              <a:rPr dirty="0" sz="550">
                <a:latin typeface="Calibri"/>
                <a:cs typeface="Calibri"/>
              </a:rPr>
              <a:t>me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im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>
                <a:latin typeface="Calibri"/>
                <a:cs typeface="Calibri"/>
              </a:rPr>
              <a:t>all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d  s</a:t>
            </a:r>
            <a:r>
              <a:rPr dirty="0" sz="550" spc="10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rvlet  engi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es,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1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  server</a:t>
            </a:r>
            <a:r>
              <a:rPr dirty="0" sz="550" spc="135">
                <a:latin typeface="Calibri"/>
                <a:cs typeface="Calibri"/>
              </a:rPr>
              <a:t> </a:t>
            </a:r>
            <a:r>
              <a:rPr dirty="0" sz="550" spc="-1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x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ensi</a:t>
            </a:r>
            <a:r>
              <a:rPr dirty="0" sz="550" spc="-5">
                <a:latin typeface="Calibri"/>
                <a:cs typeface="Calibri"/>
              </a:rPr>
              <a:t>on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th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12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 spc="-5">
                <a:latin typeface="Calibri"/>
                <a:cs typeface="Calibri"/>
              </a:rPr>
              <a:t>o</a:t>
            </a:r>
            <a:r>
              <a:rPr dirty="0" sz="550">
                <a:latin typeface="Calibri"/>
                <a:cs typeface="Calibri"/>
              </a:rPr>
              <a:t>vi</a:t>
            </a:r>
            <a:r>
              <a:rPr dirty="0" sz="550" spc="-5">
                <a:latin typeface="Calibri"/>
                <a:cs typeface="Calibri"/>
              </a:rPr>
              <a:t>d</a:t>
            </a:r>
            <a:r>
              <a:rPr dirty="0" sz="550">
                <a:latin typeface="Calibri"/>
                <a:cs typeface="Calibri"/>
              </a:rPr>
              <a:t>e servlet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fun</a:t>
            </a:r>
            <a:r>
              <a:rPr dirty="0" sz="550" spc="5">
                <a:latin typeface="Calibri"/>
                <a:cs typeface="Calibri"/>
              </a:rPr>
              <a:t>c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i</a:t>
            </a:r>
            <a:r>
              <a:rPr dirty="0" sz="550" spc="-5">
                <a:latin typeface="Calibri"/>
                <a:cs typeface="Calibri"/>
              </a:rPr>
              <a:t>on</a:t>
            </a:r>
            <a:r>
              <a:rPr dirty="0" sz="550">
                <a:latin typeface="Calibri"/>
                <a:cs typeface="Calibri"/>
              </a:rPr>
              <a:t>ali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 spc="-35">
                <a:latin typeface="Calibri"/>
                <a:cs typeface="Calibri"/>
              </a:rPr>
              <a:t>y</a:t>
            </a:r>
            <a:r>
              <a:rPr dirty="0" sz="550">
                <a:latin typeface="Calibri"/>
                <a:cs typeface="Calibri"/>
              </a:rPr>
              <a:t>.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</a:t>
            </a:r>
            <a:r>
              <a:rPr dirty="0" sz="550" spc="5">
                <a:latin typeface="Calibri"/>
                <a:cs typeface="Calibri"/>
              </a:rPr>
              <a:t>l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</a:t>
            </a:r>
            <a:r>
              <a:rPr dirty="0" sz="550" spc="-5">
                <a:latin typeface="Calibri"/>
                <a:cs typeface="Calibri"/>
              </a:rPr>
              <a:t>nt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>
                <a:latin typeface="Calibri"/>
                <a:cs typeface="Calibri"/>
              </a:rPr>
              <a:t>t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wi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h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</a:t>
            </a:r>
            <a:r>
              <a:rPr dirty="0" sz="550">
                <a:latin typeface="Calibri"/>
                <a:cs typeface="Calibri"/>
              </a:rPr>
              <a:t>lien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s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via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 spc="10">
                <a:latin typeface="Calibri"/>
                <a:cs typeface="Calibri"/>
              </a:rPr>
              <a:t>e</a:t>
            </a:r>
            <a:r>
              <a:rPr dirty="0" sz="550" spc="-5">
                <a:latin typeface="Calibri"/>
                <a:cs typeface="Calibri"/>
              </a:rPr>
              <a:t>qu</a:t>
            </a:r>
            <a:r>
              <a:rPr dirty="0" sz="550">
                <a:latin typeface="Calibri"/>
                <a:cs typeface="Calibri"/>
              </a:rPr>
              <a:t>es</a:t>
            </a:r>
            <a:r>
              <a:rPr dirty="0" sz="550" spc="-5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/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 spc="-5">
                <a:latin typeface="Calibri"/>
                <a:cs typeface="Calibri"/>
              </a:rPr>
              <a:t>esp</a:t>
            </a:r>
            <a:r>
              <a:rPr dirty="0" sz="550" spc="5">
                <a:latin typeface="Calibri"/>
                <a:cs typeface="Calibri"/>
              </a:rPr>
              <a:t>o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se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-15">
                <a:latin typeface="Calibri"/>
                <a:cs typeface="Calibri"/>
              </a:rPr>
              <a:t>r</a:t>
            </a:r>
            <a:r>
              <a:rPr dirty="0" sz="550" spc="10">
                <a:latin typeface="Calibri"/>
                <a:cs typeface="Calibri"/>
              </a:rPr>
              <a:t>a</a:t>
            </a:r>
            <a:r>
              <a:rPr dirty="0" sz="550" spc="-5">
                <a:latin typeface="Calibri"/>
                <a:cs typeface="Calibri"/>
              </a:rPr>
              <a:t>d</a:t>
            </a:r>
            <a:r>
              <a:rPr dirty="0" sz="550">
                <a:latin typeface="Calibri"/>
                <a:cs typeface="Calibri"/>
              </a:rPr>
              <a:t>igm im</a:t>
            </a:r>
            <a:r>
              <a:rPr dirty="0" sz="550" spc="-5">
                <a:latin typeface="Calibri"/>
                <a:cs typeface="Calibri"/>
              </a:rPr>
              <a:t>p</a:t>
            </a:r>
            <a:r>
              <a:rPr dirty="0" sz="550">
                <a:latin typeface="Calibri"/>
                <a:cs typeface="Calibri"/>
              </a:rPr>
              <a:t>lemen</a:t>
            </a:r>
            <a:r>
              <a:rPr dirty="0" sz="550" spc="-10">
                <a:latin typeface="Calibri"/>
                <a:cs typeface="Calibri"/>
              </a:rPr>
              <a:t>t</a:t>
            </a:r>
            <a:r>
              <a:rPr dirty="0" sz="550" spc="-5">
                <a:latin typeface="Calibri"/>
                <a:cs typeface="Calibri"/>
              </a:rPr>
              <a:t>e</a:t>
            </a:r>
            <a:r>
              <a:rPr dirty="0" sz="550">
                <a:latin typeface="Calibri"/>
                <a:cs typeface="Calibri"/>
              </a:rPr>
              <a:t>d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b</a:t>
            </a:r>
            <a:r>
              <a:rPr dirty="0" sz="550">
                <a:latin typeface="Calibri"/>
                <a:cs typeface="Calibri"/>
              </a:rPr>
              <a:t>y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5">
                <a:latin typeface="Calibri"/>
                <a:cs typeface="Calibri"/>
              </a:rPr>
              <a:t>th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servlet</a:t>
            </a:r>
            <a:r>
              <a:rPr dirty="0" sz="550" spc="-10">
                <a:latin typeface="Calibri"/>
                <a:cs typeface="Calibri"/>
              </a:rPr>
              <a:t> c</a:t>
            </a:r>
            <a:r>
              <a:rPr dirty="0" sz="550" spc="-5">
                <a:latin typeface="Calibri"/>
                <a:cs typeface="Calibri"/>
              </a:rPr>
              <a:t>on</a:t>
            </a:r>
            <a:r>
              <a:rPr dirty="0" sz="550" spc="-20">
                <a:latin typeface="Calibri"/>
                <a:cs typeface="Calibri"/>
              </a:rPr>
              <a:t>t</a:t>
            </a:r>
            <a:r>
              <a:rPr dirty="0" sz="550">
                <a:latin typeface="Calibri"/>
                <a:cs typeface="Calibri"/>
              </a:rPr>
              <a:t>ai</a:t>
            </a:r>
            <a:r>
              <a:rPr dirty="0" sz="550" spc="-5">
                <a:latin typeface="Calibri"/>
                <a:cs typeface="Calibri"/>
              </a:rPr>
              <a:t>n</a:t>
            </a:r>
            <a:r>
              <a:rPr dirty="0" sz="550">
                <a:latin typeface="Calibri"/>
                <a:cs typeface="Calibri"/>
              </a:rPr>
              <a:t>e</a:t>
            </a:r>
            <a:r>
              <a:rPr dirty="0" sz="550" spc="-60">
                <a:latin typeface="Calibri"/>
                <a:cs typeface="Calibri"/>
              </a:rPr>
              <a:t>r</a:t>
            </a:r>
            <a:r>
              <a:rPr dirty="0" sz="550">
                <a:latin typeface="Calibri"/>
                <a:cs typeface="Calibri"/>
              </a:rPr>
              <a:t>.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479" y="1127544"/>
              <a:ext cx="1350264" cy="88832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19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27" y="92202"/>
            <a:ext cx="1987550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r>
              <a:rPr dirty="0" sz="1050" spc="-1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Request/Response</a:t>
            </a:r>
            <a:r>
              <a:rPr dirty="0" sz="1050" spc="-5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Handling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Java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Web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Application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Request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Handling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" y="396113"/>
              <a:ext cx="2641092" cy="162737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20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92202"/>
            <a:ext cx="1976755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Communication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&amp;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Protocols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Message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3683" y="-11175"/>
            <a:ext cx="2834005" cy="2131060"/>
            <a:chOff x="-3683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19" y="786231"/>
              <a:ext cx="2010156" cy="121897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2643" y="280377"/>
              <a:ext cx="1342643" cy="48759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08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27" y="91567"/>
            <a:ext cx="195326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Http</a:t>
            </a:r>
            <a:r>
              <a:rPr dirty="0" sz="1050" spc="-4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methods</a:t>
            </a:r>
            <a:r>
              <a:rPr dirty="0" sz="1050" spc="-3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and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methods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5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HTTP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–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Servlet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methods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mapping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3395" y="1736521"/>
            <a:ext cx="2729865" cy="170815"/>
          </a:xfrm>
          <a:custGeom>
            <a:avLst/>
            <a:gdLst/>
            <a:ahLst/>
            <a:cxnLst/>
            <a:rect l="l" t="t" r="r" b="b"/>
            <a:pathLst>
              <a:path w="2729865" h="170814">
                <a:moveTo>
                  <a:pt x="2288349" y="0"/>
                </a:moveTo>
                <a:lnTo>
                  <a:pt x="389953" y="0"/>
                </a:lnTo>
                <a:lnTo>
                  <a:pt x="0" y="0"/>
                </a:lnTo>
                <a:lnTo>
                  <a:pt x="0" y="170764"/>
                </a:lnTo>
                <a:lnTo>
                  <a:pt x="389953" y="170764"/>
                </a:lnTo>
                <a:lnTo>
                  <a:pt x="2288349" y="170764"/>
                </a:lnTo>
                <a:lnTo>
                  <a:pt x="2288349" y="0"/>
                </a:lnTo>
                <a:close/>
              </a:path>
              <a:path w="2729865" h="170814">
                <a:moveTo>
                  <a:pt x="2729712" y="0"/>
                </a:moveTo>
                <a:lnTo>
                  <a:pt x="2288451" y="0"/>
                </a:lnTo>
                <a:lnTo>
                  <a:pt x="2288451" y="170764"/>
                </a:lnTo>
                <a:lnTo>
                  <a:pt x="2729712" y="170764"/>
                </a:lnTo>
                <a:lnTo>
                  <a:pt x="27297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1443" y="453850"/>
          <a:ext cx="2809875" cy="153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/>
                <a:gridCol w="1898650"/>
                <a:gridCol w="441325"/>
              </a:tblGrid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1590" marR="202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5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25" b="1">
                          <a:latin typeface="Calibri"/>
                          <a:cs typeface="Calibri"/>
                        </a:rPr>
                        <a:t>GET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308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GET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requests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representation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specified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Requests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5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should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retrieve</a:t>
                      </a:r>
                      <a:r>
                        <a:rPr dirty="0" sz="5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data.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doGet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20" b="1">
                          <a:latin typeface="Calibri"/>
                          <a:cs typeface="Calibri"/>
                        </a:rPr>
                        <a:t>POST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1568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submits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 entity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specified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resource,</a:t>
                      </a:r>
                      <a:r>
                        <a:rPr dirty="0" sz="5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often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causing</a:t>
                      </a:r>
                      <a:r>
                        <a:rPr dirty="0" sz="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state</a:t>
                      </a:r>
                      <a:r>
                        <a:rPr dirty="0" sz="5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side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effects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server.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doPost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25" b="1">
                          <a:latin typeface="Calibri"/>
                          <a:cs typeface="Calibri"/>
                        </a:rPr>
                        <a:t>PUT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205104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PUT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 replaces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representations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with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request payload.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doPut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85090">
                <a:tc>
                  <a:txBody>
                    <a:bodyPr/>
                    <a:lstStyle/>
                    <a:p>
                      <a:pPr marL="20955">
                        <a:lnSpc>
                          <a:spcPts val="560"/>
                        </a:lnSpc>
                        <a:spcBef>
                          <a:spcPts val="10"/>
                        </a:spcBef>
                      </a:pPr>
                      <a:r>
                        <a:rPr dirty="0" sz="500" spc="-10" b="1">
                          <a:latin typeface="Calibri"/>
                          <a:cs typeface="Calibri"/>
                        </a:rPr>
                        <a:t>DELETE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560"/>
                        </a:lnSpc>
                        <a:spcBef>
                          <a:spcPts val="1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5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 deletes</a:t>
                      </a:r>
                      <a:r>
                        <a:rPr dirty="0" sz="5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the specified</a:t>
                      </a:r>
                      <a:r>
                        <a:rPr dirty="0" sz="5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560"/>
                        </a:lnSpc>
                        <a:spcBef>
                          <a:spcPts val="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doDelete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20" b="1">
                          <a:latin typeface="Calibri"/>
                          <a:cs typeface="Calibri"/>
                        </a:rPr>
                        <a:t>HEAD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30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HEAD method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asks</a:t>
                      </a:r>
                      <a:r>
                        <a:rPr dirty="0" sz="5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a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identical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request,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25">
                          <a:latin typeface="Calibri"/>
                          <a:cs typeface="Calibri"/>
                        </a:rPr>
                        <a:t>but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body.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doHead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 b="1">
                          <a:latin typeface="Calibri"/>
                          <a:cs typeface="Calibri"/>
                        </a:rPr>
                        <a:t>OPTIONS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1689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OPTIONS</a:t>
                      </a:r>
                      <a:r>
                        <a:rPr dirty="0" sz="5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 describes</a:t>
                      </a:r>
                      <a:r>
                        <a:rPr dirty="0" sz="5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dirty="0" sz="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options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25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doOptions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 b="1">
                          <a:latin typeface="Calibri"/>
                          <a:cs typeface="Calibri"/>
                        </a:rPr>
                        <a:t>TRACE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TRACE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performs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message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loop-back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along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path </a:t>
                      </a:r>
                      <a:r>
                        <a:rPr dirty="0" sz="500" spc="-25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doTrace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500" spc="-10" b="1">
                          <a:latin typeface="Calibri"/>
                          <a:cs typeface="Calibri"/>
                        </a:rPr>
                        <a:t>CONNECT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1155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CONNECT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establishes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5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tunnel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to the</a:t>
                      </a:r>
                      <a:r>
                        <a:rPr dirty="0" sz="5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5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identified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25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5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090">
                <a:tc>
                  <a:txBody>
                    <a:bodyPr/>
                    <a:lstStyle/>
                    <a:p>
                      <a:pPr marL="20955">
                        <a:lnSpc>
                          <a:spcPts val="560"/>
                        </a:lnSpc>
                        <a:spcBef>
                          <a:spcPts val="10"/>
                        </a:spcBef>
                      </a:pPr>
                      <a:r>
                        <a:rPr dirty="0" sz="500" spc="-10" b="1">
                          <a:latin typeface="Calibri"/>
                          <a:cs typeface="Calibri"/>
                        </a:rPr>
                        <a:t>PATCH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560"/>
                        </a:lnSpc>
                        <a:spcBef>
                          <a:spcPts val="10"/>
                        </a:spcBef>
                      </a:pPr>
                      <a:r>
                        <a:rPr dirty="0" sz="5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30">
                          <a:latin typeface="Calibri"/>
                          <a:cs typeface="Calibri"/>
                        </a:rPr>
                        <a:t>PATCH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applies</a:t>
                      </a:r>
                      <a:r>
                        <a:rPr dirty="0" sz="5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partial</a:t>
                      </a:r>
                      <a:r>
                        <a:rPr dirty="0" sz="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modifications</a:t>
                      </a:r>
                      <a:r>
                        <a:rPr dirty="0" sz="5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5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00" spc="-10">
                          <a:latin typeface="Calibri"/>
                          <a:cs typeface="Calibri"/>
                        </a:rPr>
                        <a:t>resource.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79375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Terminologies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22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7441"/>
            <a:ext cx="2694305" cy="168402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What</a:t>
            </a:r>
            <a:r>
              <a:rPr dirty="0" sz="650" spc="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is</a:t>
            </a:r>
            <a:r>
              <a:rPr dirty="0" sz="650" spc="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Servlet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Container?</a:t>
            </a:r>
            <a:endParaRPr sz="650">
              <a:latin typeface="Calibri"/>
              <a:cs typeface="Calibri"/>
            </a:endParaRPr>
          </a:p>
          <a:p>
            <a:pPr algn="just" marL="82550" marR="5715" indent="-70485">
              <a:lnSpc>
                <a:spcPct val="93500"/>
              </a:lnSpc>
              <a:spcBef>
                <a:spcPts val="45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1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</a:t>
            </a:r>
            <a:r>
              <a:rPr dirty="0" sz="650" spc="11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part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11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application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114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that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provides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network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services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over</a:t>
            </a:r>
            <a:r>
              <a:rPr dirty="0" sz="650" spc="2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which</a:t>
            </a:r>
            <a:r>
              <a:rPr dirty="0" sz="650" spc="1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requests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responses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are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sent,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decodes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MIME-based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requests,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formats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MIME-based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responses.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also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contains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manages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servlets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through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their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lifecycle.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3300"/>
              </a:lnSpc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be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built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into</a:t>
            </a:r>
            <a:r>
              <a:rPr dirty="0" sz="650" spc="11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host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1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installed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as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an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add-on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component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via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that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server’s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native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extension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API.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containers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also</a:t>
            </a:r>
            <a:r>
              <a:rPr dirty="0" sz="650" spc="1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be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built</a:t>
            </a:r>
            <a:r>
              <a:rPr dirty="0" sz="650" spc="1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into</a:t>
            </a:r>
            <a:r>
              <a:rPr dirty="0" sz="650" spc="1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1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possibly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installed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into</a:t>
            </a:r>
            <a:r>
              <a:rPr dirty="0" sz="650" spc="175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web-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enabled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application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servers.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00">
              <a:latin typeface="Calibri"/>
              <a:cs typeface="Calibri"/>
            </a:endParaRPr>
          </a:p>
          <a:p>
            <a:pPr algn="just" marL="82550" marR="5715" indent="-70485">
              <a:lnSpc>
                <a:spcPct val="93100"/>
              </a:lnSpc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All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1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containers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must</a:t>
            </a:r>
            <a:r>
              <a:rPr dirty="0" sz="650" spc="1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support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HTTP</a:t>
            </a:r>
            <a:r>
              <a:rPr dirty="0" sz="650" spc="1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as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protocol</a:t>
            </a:r>
            <a:r>
              <a:rPr dirty="0" sz="650" spc="1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1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requests</a:t>
            </a:r>
            <a:r>
              <a:rPr dirty="0" sz="650" spc="135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and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responses,</a:t>
            </a:r>
            <a:r>
              <a:rPr dirty="0" sz="650" spc="3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but</a:t>
            </a:r>
            <a:r>
              <a:rPr dirty="0" sz="650" spc="3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additional</a:t>
            </a:r>
            <a:r>
              <a:rPr dirty="0" sz="650" spc="3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request/response-based</a:t>
            </a:r>
            <a:r>
              <a:rPr dirty="0" sz="650" spc="3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protocols</a:t>
            </a:r>
            <a:r>
              <a:rPr dirty="0" sz="650" spc="3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such</a:t>
            </a:r>
            <a:r>
              <a:rPr dirty="0" sz="650" spc="37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as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HTTPS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(HTTP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over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SSL)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may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supported.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2202"/>
            <a:ext cx="79375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Terminologies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23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199230"/>
            <a:ext cx="2695575" cy="100203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4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Java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Web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Server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vs.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Application</a:t>
            </a:r>
            <a:r>
              <a:rPr dirty="0" sz="650" spc="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Server</a:t>
            </a:r>
            <a:endParaRPr sz="650">
              <a:latin typeface="Calibri"/>
              <a:cs typeface="Calibri"/>
            </a:endParaRPr>
          </a:p>
          <a:p>
            <a:pPr algn="just" marL="82550" marR="5715" indent="-70485">
              <a:lnSpc>
                <a:spcPct val="95200"/>
              </a:lnSpc>
              <a:spcBef>
                <a:spcPts val="459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is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computer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program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that</a:t>
            </a:r>
            <a:r>
              <a:rPr dirty="0" sz="550" spc="1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accepts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request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for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data</a:t>
            </a:r>
            <a:r>
              <a:rPr dirty="0" sz="550" spc="1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sends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the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specified</a:t>
            </a:r>
            <a:r>
              <a:rPr dirty="0" sz="550" spc="1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documents.</a:t>
            </a:r>
            <a:r>
              <a:rPr dirty="0" sz="550" spc="1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Web</a:t>
            </a:r>
            <a:r>
              <a:rPr dirty="0" sz="550" spc="1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may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</a:t>
            </a:r>
            <a:r>
              <a:rPr dirty="0" sz="550" spc="1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14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computer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where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online</a:t>
            </a:r>
            <a:r>
              <a:rPr dirty="0" sz="550" spc="1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content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is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kept.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Essentially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internet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is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employed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host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sites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however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there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exist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different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web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servers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conjointly</a:t>
            </a:r>
            <a:r>
              <a:rPr dirty="0" sz="550" spc="-4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like recreation,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storage,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FTP,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email, </a:t>
            </a:r>
            <a:r>
              <a:rPr dirty="0" sz="550" spc="-20">
                <a:latin typeface="Calibri"/>
                <a:cs typeface="Calibri"/>
              </a:rPr>
              <a:t>etc.</a:t>
            </a:r>
            <a:endParaRPr sz="5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5500"/>
              </a:lnSpc>
              <a:spcBef>
                <a:spcPts val="309"/>
              </a:spcBef>
            </a:pPr>
            <a:r>
              <a:rPr dirty="0" sz="550" spc="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10">
                <a:latin typeface="Calibri"/>
                <a:cs typeface="Calibri"/>
              </a:rPr>
              <a:t>Application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Server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encompasses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Web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container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as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well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as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EJB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container.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servers</a:t>
            </a:r>
            <a:r>
              <a:rPr dirty="0" sz="550" spc="1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organize</a:t>
            </a:r>
            <a:r>
              <a:rPr dirty="0" sz="550" spc="1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run</a:t>
            </a:r>
            <a:r>
              <a:rPr dirty="0" sz="550" spc="1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atmosphere</a:t>
            </a:r>
            <a:r>
              <a:rPr dirty="0" sz="550" spc="1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for</a:t>
            </a:r>
            <a:r>
              <a:rPr dirty="0" sz="550" spc="1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enterprises</a:t>
            </a:r>
            <a:r>
              <a:rPr dirty="0" sz="550" spc="1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applications.</a:t>
            </a:r>
            <a:r>
              <a:rPr dirty="0" sz="550" spc="1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</a:t>
            </a:r>
            <a:r>
              <a:rPr dirty="0" sz="550" spc="13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server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may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reasonably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server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that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mean</a:t>
            </a:r>
            <a:r>
              <a:rPr dirty="0" sz="550" spc="1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how</a:t>
            </a:r>
            <a:r>
              <a:rPr dirty="0" sz="550" spc="1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1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put</a:t>
            </a:r>
            <a:r>
              <a:rPr dirty="0" sz="550" spc="1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operating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system,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hosting</a:t>
            </a:r>
            <a:r>
              <a:rPr dirty="0" sz="550" spc="175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the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applications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services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for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users,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IT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services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organizations.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this,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user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interface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similarly as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protocol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and</a:t>
            </a:r>
            <a:r>
              <a:rPr dirty="0" sz="55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RPC/RMI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protocols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10">
                <a:latin typeface="Calibri"/>
                <a:cs typeface="Calibri"/>
              </a:rPr>
              <a:t>are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used.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" y="1290574"/>
              <a:ext cx="2601468" cy="64909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816" y="92202"/>
            <a:ext cx="188150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Web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Server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vs.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Application</a:t>
            </a:r>
            <a:r>
              <a:rPr dirty="0" sz="1050" spc="-2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Server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24</a:t>
            </a:r>
            <a:endParaRPr sz="35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1481" y="284178"/>
          <a:ext cx="2809875" cy="1721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"/>
                <a:gridCol w="1263650"/>
                <a:gridCol w="1359534"/>
              </a:tblGrid>
              <a:tr h="91440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.NO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Web server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encompasses web container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0">
                          <a:latin typeface="Calibri"/>
                          <a:cs typeface="Calibri"/>
                        </a:rPr>
                        <a:t>only.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87630">
                        <a:lnSpc>
                          <a:spcPct val="775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encompasses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EJB</a:t>
                      </a:r>
                      <a:r>
                        <a:rPr dirty="0" sz="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container.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useful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fitted</a:t>
                      </a:r>
                      <a:r>
                        <a:rPr dirty="0" sz="4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static</a:t>
                      </a:r>
                      <a:r>
                        <a:rPr dirty="0" sz="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content.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Whereas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application server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fitted for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dynamic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content.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consumes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utilizes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resources.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 application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utilize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resources.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23189">
                        <a:lnSpc>
                          <a:spcPct val="775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servers arrange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run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applications.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43180">
                        <a:lnSpc>
                          <a:spcPct val="775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 application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arrange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the run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enterprises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applications.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servers,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multithreading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254000">
                        <a:lnSpc>
                          <a:spcPct val="775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server,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multithreading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server’s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 lower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server.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425"/>
                        </a:lnSpc>
                        <a:spcBef>
                          <a:spcPts val="15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 application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server’s</a:t>
                      </a:r>
                      <a:r>
                        <a:rPr dirty="0" sz="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 higher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web</a:t>
                      </a:r>
                      <a:endParaRPr sz="400">
                        <a:latin typeface="Calibri"/>
                        <a:cs typeface="Calibri"/>
                      </a:endParaRPr>
                    </a:p>
                    <a:p>
                      <a:pPr marL="18415">
                        <a:lnSpc>
                          <a:spcPts val="425"/>
                        </a:lnSpc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server.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HTML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protocols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used.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67310">
                        <a:lnSpc>
                          <a:spcPct val="77500"/>
                        </a:lnSpc>
                        <a:spcBef>
                          <a:spcPts val="18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While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this,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GUI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HTTP and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RPC/RMI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protocols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used.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237490">
                        <a:lnSpc>
                          <a:spcPct val="77500"/>
                        </a:lnSpc>
                        <a:spcBef>
                          <a:spcPts val="18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Processes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resource-intensive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Processes that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resource-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intensive</a:t>
                      </a:r>
                      <a:r>
                        <a:rPr dirty="0" sz="40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Transactions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 connection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pooling is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Transactions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 connection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pooling is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supported.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72390">
                        <a:lnSpc>
                          <a:spcPct val="77500"/>
                        </a:lnSpc>
                        <a:spcBef>
                          <a:spcPts val="18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of fault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tolerance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as compared</a:t>
                      </a:r>
                      <a:r>
                        <a:rPr dirty="0" sz="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servers.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fault</a:t>
                      </a:r>
                      <a:r>
                        <a:rPr dirty="0" sz="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tolerance.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368935">
                        <a:lnSpc>
                          <a:spcPct val="77500"/>
                        </a:lnSpc>
                        <a:spcBef>
                          <a:spcPts val="259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 examples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 Apache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0">
                          <a:latin typeface="Calibri"/>
                          <a:cs typeface="Calibri"/>
                        </a:rPr>
                        <a:t>HTTP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, Tomcat,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Jetty,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Nginx,...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200025">
                        <a:lnSpc>
                          <a:spcPct val="77500"/>
                        </a:lnSpc>
                        <a:spcBef>
                          <a:spcPts val="259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Servers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example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JBoss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EAP,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WildFly,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Glassfish,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Apache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TomEE,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IBM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Websphere,….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152654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Apache</a:t>
            </a:r>
            <a:r>
              <a:rPr dirty="0" spc="-30"/>
              <a:t> </a:t>
            </a:r>
            <a:r>
              <a:rPr dirty="0" spc="-25"/>
              <a:t>Tomcat</a:t>
            </a:r>
            <a:r>
              <a:rPr dirty="0" spc="-5"/>
              <a:t> </a:t>
            </a:r>
            <a:r>
              <a:rPr dirty="0" spc="-10"/>
              <a:t>Web</a:t>
            </a:r>
            <a:r>
              <a:rPr dirty="0" spc="-30"/>
              <a:t> </a:t>
            </a:r>
            <a:r>
              <a:rPr dirty="0" spc="-10"/>
              <a:t>Server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927" y="293877"/>
            <a:ext cx="2003425" cy="6388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82550" marR="5080" indent="-70485">
              <a:lnSpc>
                <a:spcPts val="730"/>
              </a:lnSpc>
              <a:spcBef>
                <a:spcPts val="185"/>
              </a:spcBef>
              <a:tabLst>
                <a:tab pos="660400" algn="l"/>
              </a:tabLst>
            </a:pPr>
            <a:r>
              <a:rPr dirty="0" sz="65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 spc="-10">
                <a:latin typeface="Calibri"/>
                <a:cs typeface="Calibri"/>
              </a:rPr>
              <a:t>Download: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u="sng" sz="6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https://tomcat.apache.org/download-</a:t>
            </a:r>
            <a:r>
              <a:rPr dirty="0" sz="650" spc="50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10.cg</a:t>
            </a:r>
            <a:r>
              <a:rPr dirty="0" sz="65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i</a:t>
            </a:r>
            <a:r>
              <a:rPr dirty="0" sz="650" spc="4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(v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10.1.11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higher)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65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 spc="-10">
                <a:latin typeface="Calibri"/>
                <a:cs typeface="Calibri"/>
              </a:rPr>
              <a:t>Configuration:</a:t>
            </a:r>
            <a:endParaRPr sz="6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100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550">
                <a:latin typeface="Calibri"/>
                <a:cs typeface="Calibri"/>
              </a:rPr>
              <a:t>Install</a:t>
            </a:r>
            <a:r>
              <a:rPr dirty="0" sz="550" spc="-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JDK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(8/11/17),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add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PATH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environment</a:t>
            </a:r>
            <a:endParaRPr sz="5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85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550">
                <a:latin typeface="Calibri"/>
                <a:cs typeface="Calibri"/>
              </a:rPr>
              <a:t>Edit: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 spc="-10">
                <a:solidFill>
                  <a:srgbClr val="FF0000"/>
                </a:solidFill>
                <a:latin typeface="Calibri"/>
                <a:cs typeface="Calibri"/>
              </a:rPr>
              <a:t>.\conf\tomcat-user.xml</a:t>
            </a:r>
            <a:endParaRPr sz="5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95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550">
                <a:latin typeface="Calibri"/>
                <a:cs typeface="Calibri"/>
              </a:rPr>
              <a:t>Start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Tomcat: </a:t>
            </a:r>
            <a:r>
              <a:rPr dirty="0" sz="550" spc="-10">
                <a:solidFill>
                  <a:srgbClr val="FF0000"/>
                </a:solidFill>
                <a:latin typeface="Calibri"/>
                <a:cs typeface="Calibri"/>
              </a:rPr>
              <a:t>.\bin\startup.bat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25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635" y="952309"/>
              <a:ext cx="1485900" cy="101174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292" y="716153"/>
              <a:ext cx="818388" cy="127685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7232" y="307784"/>
              <a:ext cx="452627" cy="32302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69744" y="405511"/>
            <a:ext cx="988060" cy="9861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just" marL="152400" marR="6350" indent="-140335">
              <a:lnSpc>
                <a:spcPts val="730"/>
              </a:lnSpc>
              <a:spcBef>
                <a:spcPts val="185"/>
              </a:spcBef>
              <a:buClr>
                <a:srgbClr val="0066A0"/>
              </a:buClr>
              <a:buAutoNum type="arabicPeriod"/>
              <a:tabLst>
                <a:tab pos="152400" algn="l"/>
                <a:tab pos="658495" algn="l"/>
              </a:tabLst>
            </a:pPr>
            <a:r>
              <a:rPr dirty="0" sz="650" spc="-10">
                <a:latin typeface="Calibri"/>
                <a:cs typeface="Calibri"/>
              </a:rPr>
              <a:t>Create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10">
                <a:latin typeface="Calibri"/>
                <a:cs typeface="Calibri"/>
              </a:rPr>
              <a:t>directory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structure</a:t>
            </a:r>
            <a:endParaRPr sz="650">
              <a:latin typeface="Calibri"/>
              <a:cs typeface="Calibri"/>
            </a:endParaRPr>
          </a:p>
          <a:p>
            <a:pPr algn="just" marL="152400" marR="5715" indent="-140335">
              <a:lnSpc>
                <a:spcPct val="93100"/>
              </a:lnSpc>
              <a:spcBef>
                <a:spcPts val="295"/>
              </a:spcBef>
              <a:buClr>
                <a:srgbClr val="0066A0"/>
              </a:buClr>
              <a:buAutoNum type="arabicPeriod"/>
              <a:tabLst>
                <a:tab pos="152400" algn="l"/>
                <a:tab pos="734695" algn="l"/>
              </a:tabLst>
            </a:pPr>
            <a:r>
              <a:rPr dirty="0" sz="650">
                <a:latin typeface="Calibri"/>
                <a:cs typeface="Calibri"/>
              </a:rPr>
              <a:t>Put</a:t>
            </a:r>
            <a:r>
              <a:rPr dirty="0" sz="650" spc="32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resources</a:t>
            </a:r>
            <a:r>
              <a:rPr dirty="0" sz="650" spc="325">
                <a:latin typeface="Calibri"/>
                <a:cs typeface="Calibri"/>
              </a:rPr>
              <a:t>  </a:t>
            </a:r>
            <a:r>
              <a:rPr dirty="0" sz="650" spc="-20">
                <a:latin typeface="Calibri"/>
                <a:cs typeface="Calibri"/>
              </a:rPr>
              <a:t>into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these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10">
                <a:latin typeface="Calibri"/>
                <a:cs typeface="Calibri"/>
              </a:rPr>
              <a:t>folders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appropriately</a:t>
            </a:r>
            <a:endParaRPr sz="650">
              <a:latin typeface="Calibri"/>
              <a:cs typeface="Calibri"/>
            </a:endParaRPr>
          </a:p>
          <a:p>
            <a:pPr algn="just" marL="152400" marR="5080" indent="-140335">
              <a:lnSpc>
                <a:spcPct val="93100"/>
              </a:lnSpc>
              <a:spcBef>
                <a:spcPts val="315"/>
              </a:spcBef>
              <a:buClr>
                <a:srgbClr val="0066A0"/>
              </a:buClr>
              <a:buAutoNum type="arabicPeriod"/>
              <a:tabLst>
                <a:tab pos="152400" algn="l"/>
              </a:tabLst>
            </a:pPr>
            <a:r>
              <a:rPr dirty="0" sz="650">
                <a:latin typeface="Calibri"/>
                <a:cs typeface="Calibri"/>
              </a:rPr>
              <a:t>Copy</a:t>
            </a:r>
            <a:r>
              <a:rPr dirty="0" sz="650" spc="4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it</a:t>
            </a:r>
            <a:r>
              <a:rPr dirty="0" sz="650" spc="40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415"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FF0000"/>
                </a:solidFill>
                <a:latin typeface="Calibri"/>
                <a:cs typeface="Calibri"/>
              </a:rPr>
              <a:t>webapps</a:t>
            </a:r>
            <a:r>
              <a:rPr dirty="0" sz="650" spc="50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folder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Tomcat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web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server</a:t>
            </a:r>
            <a:endParaRPr sz="6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65"/>
              </a:spcBef>
            </a:pPr>
            <a:r>
              <a:rPr dirty="0" sz="650" spc="-50">
                <a:latin typeface="Wingdings"/>
                <a:cs typeface="Wingdings"/>
              </a:rPr>
              <a:t>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sz="650">
                <a:latin typeface="Calibri"/>
                <a:cs typeface="Calibri"/>
              </a:rPr>
              <a:t>automatically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deploy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26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Development</a:t>
            </a:r>
          </a:p>
          <a:p>
            <a:pPr marL="95885">
              <a:lnSpc>
                <a:spcPct val="100000"/>
              </a:lnSpc>
              <a:spcBef>
                <a:spcPts val="55"/>
              </a:spcBef>
            </a:pP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Web</a:t>
            </a:r>
            <a:r>
              <a:rPr dirty="0" sz="650" spc="5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Application</a:t>
            </a:r>
            <a:r>
              <a:rPr dirty="0" sz="650" spc="4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E7E7E"/>
                </a:solidFill>
                <a:latin typeface="Calibri"/>
                <a:cs typeface="Calibri"/>
              </a:rPr>
              <a:t>Directory</a:t>
            </a:r>
            <a:r>
              <a:rPr dirty="0" sz="650" spc="55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i="1">
                <a:solidFill>
                  <a:srgbClr val="7E7E7E"/>
                </a:solidFill>
                <a:latin typeface="Calibri"/>
                <a:cs typeface="Calibri"/>
              </a:rPr>
              <a:t>Structure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0228" y="376415"/>
            <a:ext cx="2313940" cy="1619885"/>
            <a:chOff x="50228" y="376415"/>
            <a:chExt cx="2313940" cy="161988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4419" y="1433804"/>
              <a:ext cx="1286256" cy="55920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72895" y="1432407"/>
              <a:ext cx="1289685" cy="562610"/>
            </a:xfrm>
            <a:custGeom>
              <a:avLst/>
              <a:gdLst/>
              <a:ahLst/>
              <a:cxnLst/>
              <a:rect l="l" t="t" r="r" b="b"/>
              <a:pathLst>
                <a:path w="1289685" h="562610">
                  <a:moveTo>
                    <a:pt x="0" y="562127"/>
                  </a:moveTo>
                  <a:lnTo>
                    <a:pt x="1289177" y="562127"/>
                  </a:lnTo>
                  <a:lnTo>
                    <a:pt x="1289177" y="0"/>
                  </a:lnTo>
                  <a:lnTo>
                    <a:pt x="0" y="0"/>
                  </a:lnTo>
                  <a:lnTo>
                    <a:pt x="0" y="562127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89" y="395529"/>
              <a:ext cx="1307866" cy="94123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1815" y="378002"/>
              <a:ext cx="1362710" cy="979805"/>
            </a:xfrm>
            <a:custGeom>
              <a:avLst/>
              <a:gdLst/>
              <a:ahLst/>
              <a:cxnLst/>
              <a:rect l="l" t="t" r="r" b="b"/>
              <a:pathLst>
                <a:path w="1362710" h="979805">
                  <a:moveTo>
                    <a:pt x="0" y="979627"/>
                  </a:moveTo>
                  <a:lnTo>
                    <a:pt x="1362328" y="979627"/>
                  </a:lnTo>
                  <a:lnTo>
                    <a:pt x="1362328" y="0"/>
                  </a:lnTo>
                  <a:lnTo>
                    <a:pt x="0" y="0"/>
                  </a:lnTo>
                  <a:lnTo>
                    <a:pt x="0" y="979627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849" y="1351534"/>
            <a:ext cx="93726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Fig1.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Java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web-application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Structure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576" y="1789938"/>
            <a:ext cx="64198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Fig2: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Sample</a:t>
            </a:r>
            <a:r>
              <a:rPr dirty="0" sz="50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application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2202"/>
            <a:ext cx="103822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Create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Application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27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528" y="255778"/>
            <a:ext cx="45847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Eclipse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1" y="385533"/>
              <a:ext cx="723900" cy="11641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1691" y="384009"/>
              <a:ext cx="727075" cy="1167130"/>
            </a:xfrm>
            <a:custGeom>
              <a:avLst/>
              <a:gdLst/>
              <a:ahLst/>
              <a:cxnLst/>
              <a:rect l="l" t="t" r="r" b="b"/>
              <a:pathLst>
                <a:path w="727075" h="1167130">
                  <a:moveTo>
                    <a:pt x="0" y="1167041"/>
                  </a:moveTo>
                  <a:lnTo>
                    <a:pt x="726833" y="1167041"/>
                  </a:lnTo>
                  <a:lnTo>
                    <a:pt x="726833" y="0"/>
                  </a:lnTo>
                  <a:lnTo>
                    <a:pt x="0" y="0"/>
                  </a:lnTo>
                  <a:lnTo>
                    <a:pt x="0" y="1167041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295" y="364197"/>
              <a:ext cx="957072" cy="116564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42772" y="362673"/>
              <a:ext cx="960119" cy="1169035"/>
            </a:xfrm>
            <a:custGeom>
              <a:avLst/>
              <a:gdLst/>
              <a:ahLst/>
              <a:cxnLst/>
              <a:rect l="l" t="t" r="r" b="b"/>
              <a:pathLst>
                <a:path w="960119" h="1169035">
                  <a:moveTo>
                    <a:pt x="0" y="1168565"/>
                  </a:moveTo>
                  <a:lnTo>
                    <a:pt x="960005" y="1168565"/>
                  </a:lnTo>
                  <a:lnTo>
                    <a:pt x="960005" y="0"/>
                  </a:lnTo>
                  <a:lnTo>
                    <a:pt x="0" y="0"/>
                  </a:lnTo>
                  <a:lnTo>
                    <a:pt x="0" y="1168565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8611" y="1023937"/>
              <a:ext cx="877824" cy="96907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847088" y="1022527"/>
              <a:ext cx="881380" cy="972185"/>
            </a:xfrm>
            <a:custGeom>
              <a:avLst/>
              <a:gdLst/>
              <a:ahLst/>
              <a:cxnLst/>
              <a:rect l="l" t="t" r="r" b="b"/>
              <a:pathLst>
                <a:path w="881380" h="972185">
                  <a:moveTo>
                    <a:pt x="0" y="972007"/>
                  </a:moveTo>
                  <a:lnTo>
                    <a:pt x="880757" y="972007"/>
                  </a:lnTo>
                  <a:lnTo>
                    <a:pt x="880757" y="0"/>
                  </a:lnTo>
                  <a:lnTo>
                    <a:pt x="0" y="0"/>
                  </a:lnTo>
                  <a:lnTo>
                    <a:pt x="0" y="972007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404" y="1575523"/>
              <a:ext cx="1235964" cy="48606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63943" y="1573999"/>
              <a:ext cx="1239520" cy="489584"/>
            </a:xfrm>
            <a:custGeom>
              <a:avLst/>
              <a:gdLst/>
              <a:ahLst/>
              <a:cxnLst/>
              <a:rect l="l" t="t" r="r" b="b"/>
              <a:pathLst>
                <a:path w="1239520" h="489585">
                  <a:moveTo>
                    <a:pt x="0" y="488988"/>
                  </a:moveTo>
                  <a:lnTo>
                    <a:pt x="1238897" y="488988"/>
                  </a:lnTo>
                  <a:lnTo>
                    <a:pt x="1238897" y="0"/>
                  </a:lnTo>
                  <a:lnTo>
                    <a:pt x="0" y="0"/>
                  </a:lnTo>
                  <a:lnTo>
                    <a:pt x="0" y="488988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3579" y="115862"/>
              <a:ext cx="681228" cy="85175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972055" y="114325"/>
              <a:ext cx="684530" cy="854710"/>
            </a:xfrm>
            <a:custGeom>
              <a:avLst/>
              <a:gdLst/>
              <a:ahLst/>
              <a:cxnLst/>
              <a:rect l="l" t="t" r="r" b="b"/>
              <a:pathLst>
                <a:path w="684530" h="854710">
                  <a:moveTo>
                    <a:pt x="0" y="854684"/>
                  </a:moveTo>
                  <a:lnTo>
                    <a:pt x="684161" y="854684"/>
                  </a:lnTo>
                  <a:lnTo>
                    <a:pt x="684161" y="0"/>
                  </a:lnTo>
                  <a:lnTo>
                    <a:pt x="0" y="0"/>
                  </a:lnTo>
                  <a:lnTo>
                    <a:pt x="0" y="85468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28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92202"/>
            <a:ext cx="1038225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Create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Application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IntelliJ</a:t>
            </a:r>
            <a:r>
              <a:rPr dirty="0" sz="650" spc="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20" b="1" i="1">
                <a:solidFill>
                  <a:srgbClr val="7E7E7E"/>
                </a:solidFill>
                <a:latin typeface="Calibri"/>
                <a:cs typeface="Calibri"/>
              </a:rPr>
              <a:t>IDEA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3683" y="-11175"/>
            <a:ext cx="2834005" cy="2131060"/>
            <a:chOff x="-3683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" y="418973"/>
              <a:ext cx="1717548" cy="150698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467" y="418973"/>
              <a:ext cx="838200" cy="150698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08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1567"/>
            <a:ext cx="845819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Sample</a:t>
            </a:r>
            <a:r>
              <a:rPr dirty="0" sz="1050" spc="-5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29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" y="298577"/>
              <a:ext cx="1755648" cy="160451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1879" y="297180"/>
              <a:ext cx="1758950" cy="1607820"/>
            </a:xfrm>
            <a:custGeom>
              <a:avLst/>
              <a:gdLst/>
              <a:ahLst/>
              <a:cxnLst/>
              <a:rect l="l" t="t" r="r" b="b"/>
              <a:pathLst>
                <a:path w="1758950" h="1607820">
                  <a:moveTo>
                    <a:pt x="0" y="1607439"/>
                  </a:moveTo>
                  <a:lnTo>
                    <a:pt x="1758569" y="1607439"/>
                  </a:lnTo>
                  <a:lnTo>
                    <a:pt x="1758569" y="0"/>
                  </a:lnTo>
                  <a:lnTo>
                    <a:pt x="0" y="0"/>
                  </a:lnTo>
                  <a:lnTo>
                    <a:pt x="0" y="1607439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2767" y="1100124"/>
              <a:ext cx="1153668" cy="91117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71244" y="1098715"/>
              <a:ext cx="1156970" cy="914400"/>
            </a:xfrm>
            <a:custGeom>
              <a:avLst/>
              <a:gdLst/>
              <a:ahLst/>
              <a:cxnLst/>
              <a:rect l="l" t="t" r="r" b="b"/>
              <a:pathLst>
                <a:path w="1156970" h="914400">
                  <a:moveTo>
                    <a:pt x="0" y="914107"/>
                  </a:moveTo>
                  <a:lnTo>
                    <a:pt x="1156601" y="914107"/>
                  </a:lnTo>
                  <a:lnTo>
                    <a:pt x="1156601" y="0"/>
                  </a:lnTo>
                  <a:lnTo>
                    <a:pt x="0" y="0"/>
                  </a:lnTo>
                  <a:lnTo>
                    <a:pt x="0" y="914107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1763" y="115747"/>
              <a:ext cx="751332" cy="93860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920239" y="114338"/>
              <a:ext cx="754380" cy="941705"/>
            </a:xfrm>
            <a:custGeom>
              <a:avLst/>
              <a:gdLst/>
              <a:ahLst/>
              <a:cxnLst/>
              <a:rect l="l" t="t" r="r" b="b"/>
              <a:pathLst>
                <a:path w="754380" h="941705">
                  <a:moveTo>
                    <a:pt x="0" y="941539"/>
                  </a:moveTo>
                  <a:lnTo>
                    <a:pt x="754265" y="941539"/>
                  </a:lnTo>
                  <a:lnTo>
                    <a:pt x="754265" y="0"/>
                  </a:lnTo>
                  <a:lnTo>
                    <a:pt x="0" y="0"/>
                  </a:lnTo>
                  <a:lnTo>
                    <a:pt x="0" y="941539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1691639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Create</a:t>
            </a:r>
            <a:r>
              <a:rPr dirty="0" spc="-45"/>
              <a:t> </a:t>
            </a:r>
            <a:r>
              <a:rPr dirty="0"/>
              <a:t>Project</a:t>
            </a:r>
            <a:r>
              <a:rPr dirty="0" spc="-3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Build</a:t>
            </a:r>
            <a:r>
              <a:rPr dirty="0" spc="-40"/>
              <a:t> </a:t>
            </a:r>
            <a:r>
              <a:rPr dirty="0" spc="-10"/>
              <a:t>tools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30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Maven:</a:t>
            </a:r>
          </a:p>
          <a:p>
            <a:pPr marL="152400">
              <a:lnSpc>
                <a:spcPct val="100000"/>
              </a:lnSpc>
            </a:pP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&lt;dependency&gt;</a:t>
            </a:r>
          </a:p>
          <a:p>
            <a:pPr marL="152400">
              <a:lnSpc>
                <a:spcPct val="100000"/>
              </a:lnSpc>
            </a:pP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&lt;groupId&gt;</a:t>
            </a:r>
            <a:r>
              <a:rPr dirty="0" spc="-10"/>
              <a:t>jakarta.servlet</a:t>
            </a: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&lt;/groupId&gt;</a:t>
            </a:r>
          </a:p>
          <a:p>
            <a:pPr marL="152400" marR="256540">
              <a:lnSpc>
                <a:spcPct val="100000"/>
              </a:lnSpc>
            </a:pP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&lt;artifactId&gt;</a:t>
            </a:r>
            <a:r>
              <a:rPr dirty="0" spc="-10"/>
              <a:t>jakarta.servlet- api</a:t>
            </a: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&lt;/artifactId&gt;</a:t>
            </a:r>
          </a:p>
          <a:p>
            <a:pPr marL="152400">
              <a:lnSpc>
                <a:spcPct val="100000"/>
              </a:lnSpc>
              <a:spcBef>
                <a:spcPts val="10"/>
              </a:spcBef>
            </a:pP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&lt;version&gt;</a:t>
            </a:r>
            <a:r>
              <a:rPr dirty="0" spc="-10"/>
              <a:t>6.0.0</a:t>
            </a: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&lt;/version&gt;</a:t>
            </a:r>
          </a:p>
          <a:p>
            <a:pPr marL="152400">
              <a:lnSpc>
                <a:spcPct val="100000"/>
              </a:lnSpc>
            </a:pPr>
            <a:r>
              <a:rPr dirty="0" spc="-10" b="0">
                <a:solidFill>
                  <a:srgbClr val="0000FF"/>
                </a:solidFill>
                <a:latin typeface="Courier New"/>
                <a:cs typeface="Courier New"/>
              </a:rPr>
              <a:t>&lt;/dependency&gt;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pc="-10" b="0">
                <a:latin typeface="Calibri"/>
                <a:cs typeface="Calibri"/>
              </a:rPr>
              <a:t>Gradle: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pc="-10" b="0">
                <a:latin typeface="Calibri"/>
                <a:cs typeface="Calibri"/>
              </a:rPr>
              <a:t>compileOnly</a:t>
            </a:r>
            <a:r>
              <a:rPr dirty="0" spc="-10" b="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pc="-10" b="0">
                <a:solidFill>
                  <a:srgbClr val="057C17"/>
                </a:solidFill>
                <a:latin typeface="Calibri"/>
                <a:cs typeface="Calibri"/>
              </a:rPr>
              <a:t>'jakarta.servlet:jakarta.servlet-api:6.0.0'</a:t>
            </a:r>
            <a:r>
              <a:rPr dirty="0" spc="-10" b="0">
                <a:solidFill>
                  <a:srgbClr val="080808"/>
                </a:solidFill>
                <a:latin typeface="Calibri"/>
                <a:cs typeface="Calibri"/>
              </a:rPr>
              <a:t>)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027" y="1293622"/>
              <a:ext cx="743712" cy="69938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899" y="1397305"/>
              <a:ext cx="536448" cy="26207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9654" y="566874"/>
              <a:ext cx="740553" cy="18890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729" y="1085134"/>
              <a:ext cx="639181" cy="18025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2202"/>
            <a:ext cx="137287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Jakarta</a:t>
            </a:r>
            <a:r>
              <a:rPr dirty="0" spc="-40"/>
              <a:t> </a:t>
            </a:r>
            <a:r>
              <a:rPr dirty="0"/>
              <a:t>Servlet</a:t>
            </a:r>
            <a:r>
              <a:rPr dirty="0" spc="-30"/>
              <a:t> </a:t>
            </a:r>
            <a:r>
              <a:rPr dirty="0"/>
              <a:t>Life</a:t>
            </a:r>
            <a:r>
              <a:rPr dirty="0" spc="-35"/>
              <a:t> </a:t>
            </a:r>
            <a:r>
              <a:rPr dirty="0" spc="-20"/>
              <a:t>Cycle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211753"/>
            <a:ext cx="2691765" cy="71437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6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Generic</a:t>
            </a:r>
            <a:r>
              <a:rPr dirty="0" sz="650" spc="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Servlet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Life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Cycle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7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700" b="1">
                <a:latin typeface="Comic Sans MS"/>
                <a:cs typeface="Comic Sans MS"/>
              </a:rPr>
              <a:t>The</a:t>
            </a:r>
            <a:r>
              <a:rPr dirty="0" sz="700" spc="80" b="1">
                <a:latin typeface="Comic Sans MS"/>
                <a:cs typeface="Comic Sans MS"/>
              </a:rPr>
              <a:t> </a:t>
            </a:r>
            <a:r>
              <a:rPr dirty="0" sz="700" b="1">
                <a:latin typeface="Comic Sans MS"/>
                <a:cs typeface="Comic Sans MS"/>
              </a:rPr>
              <a:t>life</a:t>
            </a:r>
            <a:r>
              <a:rPr dirty="0" sz="700" spc="65" b="1">
                <a:latin typeface="Comic Sans MS"/>
                <a:cs typeface="Comic Sans MS"/>
              </a:rPr>
              <a:t> </a:t>
            </a:r>
            <a:r>
              <a:rPr dirty="0" sz="700" b="1">
                <a:latin typeface="Comic Sans MS"/>
                <a:cs typeface="Comic Sans MS"/>
              </a:rPr>
              <a:t>cycle</a:t>
            </a:r>
            <a:r>
              <a:rPr dirty="0" sz="700" spc="75" b="1">
                <a:latin typeface="Comic Sans MS"/>
                <a:cs typeface="Comic Sans MS"/>
              </a:rPr>
              <a:t> </a:t>
            </a:r>
            <a:r>
              <a:rPr dirty="0" sz="700" b="1">
                <a:latin typeface="Comic Sans MS"/>
                <a:cs typeface="Comic Sans MS"/>
              </a:rPr>
              <a:t>is</a:t>
            </a:r>
            <a:r>
              <a:rPr dirty="0" sz="700" spc="55" b="1">
                <a:latin typeface="Comic Sans MS"/>
                <a:cs typeface="Comic Sans MS"/>
              </a:rPr>
              <a:t> </a:t>
            </a:r>
            <a:r>
              <a:rPr dirty="0" sz="700" b="1">
                <a:latin typeface="Comic Sans MS"/>
                <a:cs typeface="Comic Sans MS"/>
              </a:rPr>
              <a:t>defined</a:t>
            </a:r>
            <a:r>
              <a:rPr dirty="0" sz="700" spc="85" b="1">
                <a:latin typeface="Comic Sans MS"/>
                <a:cs typeface="Comic Sans MS"/>
              </a:rPr>
              <a:t> </a:t>
            </a:r>
            <a:r>
              <a:rPr dirty="0" sz="700" spc="-25" b="1">
                <a:latin typeface="Comic Sans MS"/>
                <a:cs typeface="Comic Sans MS"/>
              </a:rPr>
              <a:t>by:</a:t>
            </a:r>
            <a:endParaRPr sz="700">
              <a:latin typeface="Comic Sans MS"/>
              <a:cs typeface="Comic Sans MS"/>
            </a:endParaRPr>
          </a:p>
          <a:p>
            <a:pPr marL="207645" indent="-55244">
              <a:lnSpc>
                <a:spcPct val="100000"/>
              </a:lnSpc>
              <a:spcBef>
                <a:spcPts val="250"/>
              </a:spcBef>
              <a:buClr>
                <a:srgbClr val="0066A0"/>
              </a:buClr>
              <a:buChar char="•"/>
              <a:tabLst>
                <a:tab pos="207645" algn="l"/>
              </a:tabLst>
            </a:pPr>
            <a:r>
              <a:rPr dirty="0" sz="500" spc="-10">
                <a:latin typeface="Comic Sans MS"/>
                <a:cs typeface="Comic Sans MS"/>
              </a:rPr>
              <a:t>init()</a:t>
            </a:r>
            <a:r>
              <a:rPr dirty="0" sz="500">
                <a:latin typeface="Comic Sans MS"/>
                <a:cs typeface="Comic Sans MS"/>
              </a:rPr>
              <a:t> –</a:t>
            </a:r>
            <a:r>
              <a:rPr dirty="0" sz="500" spc="-25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called </a:t>
            </a:r>
            <a:r>
              <a:rPr dirty="0" sz="500">
                <a:latin typeface="Comic Sans MS"/>
                <a:cs typeface="Comic Sans MS"/>
              </a:rPr>
              <a:t>only</a:t>
            </a:r>
            <a:r>
              <a:rPr dirty="0" sz="500" spc="-1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one</a:t>
            </a:r>
            <a:r>
              <a:rPr dirty="0" sz="500" spc="-3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by</a:t>
            </a:r>
            <a:r>
              <a:rPr dirty="0" sz="500" spc="-1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the</a:t>
            </a:r>
            <a:r>
              <a:rPr dirty="0" sz="500" spc="-30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server</a:t>
            </a:r>
            <a:r>
              <a:rPr dirty="0" sz="500" spc="-1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in</a:t>
            </a:r>
            <a:r>
              <a:rPr dirty="0" sz="500" spc="-1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the</a:t>
            </a:r>
            <a:r>
              <a:rPr dirty="0" sz="500" spc="-2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first</a:t>
            </a:r>
            <a:r>
              <a:rPr dirty="0" sz="500" spc="-15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request</a:t>
            </a:r>
            <a:endParaRPr sz="500">
              <a:latin typeface="Comic Sans MS"/>
              <a:cs typeface="Comic Sans MS"/>
            </a:endParaRPr>
          </a:p>
          <a:p>
            <a:pPr marL="207645" indent="-55244">
              <a:lnSpc>
                <a:spcPct val="100000"/>
              </a:lnSpc>
              <a:spcBef>
                <a:spcPts val="215"/>
              </a:spcBef>
              <a:buClr>
                <a:srgbClr val="0066A0"/>
              </a:buClr>
              <a:buChar char="•"/>
              <a:tabLst>
                <a:tab pos="207645" algn="l"/>
              </a:tabLst>
            </a:pPr>
            <a:r>
              <a:rPr dirty="0" sz="500" spc="-10">
                <a:latin typeface="Comic Sans MS"/>
                <a:cs typeface="Comic Sans MS"/>
              </a:rPr>
              <a:t>service()</a:t>
            </a:r>
            <a:r>
              <a:rPr dirty="0" sz="500" spc="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–</a:t>
            </a:r>
            <a:r>
              <a:rPr dirty="0" sz="500" spc="-5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process</a:t>
            </a:r>
            <a:r>
              <a:rPr dirty="0" sz="500" spc="-1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the </a:t>
            </a:r>
            <a:r>
              <a:rPr dirty="0" sz="500" spc="-10">
                <a:latin typeface="Comic Sans MS"/>
                <a:cs typeface="Comic Sans MS"/>
              </a:rPr>
              <a:t>client’s</a:t>
            </a:r>
            <a:r>
              <a:rPr dirty="0" sz="500" spc="20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request</a:t>
            </a:r>
            <a:endParaRPr sz="500">
              <a:latin typeface="Comic Sans MS"/>
              <a:cs typeface="Comic Sans MS"/>
            </a:endParaRPr>
          </a:p>
          <a:p>
            <a:pPr marL="207645" marR="5080" indent="-55244">
              <a:lnSpc>
                <a:spcPts val="530"/>
              </a:lnSpc>
              <a:spcBef>
                <a:spcPts val="305"/>
              </a:spcBef>
              <a:buClr>
                <a:srgbClr val="0066A0"/>
              </a:buClr>
              <a:buChar char="•"/>
              <a:tabLst>
                <a:tab pos="208915" algn="l"/>
              </a:tabLst>
            </a:pPr>
            <a:r>
              <a:rPr dirty="0" sz="500">
                <a:latin typeface="Comic Sans MS"/>
                <a:cs typeface="Comic Sans MS"/>
              </a:rPr>
              <a:t>destroy()</a:t>
            </a:r>
            <a:r>
              <a:rPr dirty="0" sz="500" spc="114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–</a:t>
            </a:r>
            <a:r>
              <a:rPr dirty="0" sz="500" spc="12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called</a:t>
            </a:r>
            <a:r>
              <a:rPr dirty="0" sz="500" spc="11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after</a:t>
            </a:r>
            <a:r>
              <a:rPr dirty="0" sz="500" spc="12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all</a:t>
            </a:r>
            <a:r>
              <a:rPr dirty="0" sz="500" spc="11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requests</a:t>
            </a:r>
            <a:r>
              <a:rPr dirty="0" sz="500" spc="12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have</a:t>
            </a:r>
            <a:r>
              <a:rPr dirty="0" sz="500" spc="114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been</a:t>
            </a:r>
            <a:r>
              <a:rPr dirty="0" sz="500" spc="11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processed</a:t>
            </a:r>
            <a:r>
              <a:rPr dirty="0" sz="500" spc="12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or</a:t>
            </a:r>
            <a:r>
              <a:rPr dirty="0" sz="500" spc="120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a</a:t>
            </a:r>
            <a:r>
              <a:rPr dirty="0" sz="500" spc="120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server-specific</a:t>
            </a:r>
            <a:r>
              <a:rPr dirty="0" sz="500" spc="500">
                <a:latin typeface="Comic Sans MS"/>
                <a:cs typeface="Comic Sans MS"/>
              </a:rPr>
              <a:t> </a:t>
            </a:r>
            <a:r>
              <a:rPr dirty="0" sz="500" spc="500">
                <a:latin typeface="Comic Sans MS"/>
                <a:cs typeface="Comic Sans MS"/>
              </a:rPr>
              <a:t>	</a:t>
            </a:r>
            <a:r>
              <a:rPr dirty="0" sz="500" spc="-10">
                <a:latin typeface="Comic Sans MS"/>
                <a:cs typeface="Comic Sans MS"/>
              </a:rPr>
              <a:t>number</a:t>
            </a:r>
            <a:r>
              <a:rPr dirty="0" sz="500" spc="5">
                <a:latin typeface="Comic Sans MS"/>
                <a:cs typeface="Comic Sans MS"/>
              </a:rPr>
              <a:t> </a:t>
            </a:r>
            <a:r>
              <a:rPr dirty="0" sz="500">
                <a:latin typeface="Comic Sans MS"/>
                <a:cs typeface="Comic Sans MS"/>
              </a:rPr>
              <a:t>of</a:t>
            </a:r>
            <a:r>
              <a:rPr dirty="0" sz="500" spc="-25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seconds </a:t>
            </a:r>
            <a:r>
              <a:rPr dirty="0" sz="500">
                <a:latin typeface="Comic Sans MS"/>
                <a:cs typeface="Comic Sans MS"/>
              </a:rPr>
              <a:t>have</a:t>
            </a:r>
            <a:r>
              <a:rPr dirty="0" sz="500" spc="-15">
                <a:latin typeface="Comic Sans MS"/>
                <a:cs typeface="Comic Sans MS"/>
              </a:rPr>
              <a:t> </a:t>
            </a:r>
            <a:r>
              <a:rPr dirty="0" sz="500" spc="-10">
                <a:latin typeface="Comic Sans MS"/>
                <a:cs typeface="Comic Sans MS"/>
              </a:rPr>
              <a:t>passed</a:t>
            </a:r>
            <a:endParaRPr sz="500">
              <a:latin typeface="Comic Sans MS"/>
              <a:cs typeface="Comic Sans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2671" y="882230"/>
            <a:ext cx="2731135" cy="1139825"/>
            <a:chOff x="42671" y="882230"/>
            <a:chExt cx="2731135" cy="113982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" y="973696"/>
              <a:ext cx="1164336" cy="586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011" y="882230"/>
              <a:ext cx="1534668" cy="113973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612772" y="1933447"/>
            <a:ext cx="17780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Source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927" y="1330197"/>
            <a:ext cx="17780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Source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6036" y="1680717"/>
            <a:ext cx="74295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Calibri"/>
                <a:cs typeface="Calibri"/>
              </a:rPr>
              <a:t>Fig:</a:t>
            </a:r>
            <a:r>
              <a:rPr dirty="0" sz="550" spc="-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Servlet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Life</a:t>
            </a:r>
            <a:r>
              <a:rPr dirty="0" sz="550" spc="-10">
                <a:latin typeface="Calibri"/>
                <a:cs typeface="Calibri"/>
              </a:rPr>
              <a:t> Cycle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32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92202"/>
            <a:ext cx="1283970" cy="29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Types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of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650" spc="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jakarta.servlet.GenericServle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30145" y="289814"/>
            <a:ext cx="29845" cy="85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5"/>
              </a:lnSpc>
            </a:pPr>
            <a:r>
              <a:rPr dirty="0" sz="650" spc="5" b="1" i="1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175"/>
            <a:ext cx="2834005" cy="2131060"/>
            <a:chOff x="-3683" y="-11175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1" y="1048296"/>
              <a:ext cx="1287779" cy="84870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5907" y="1046886"/>
              <a:ext cx="1290955" cy="852169"/>
            </a:xfrm>
            <a:custGeom>
              <a:avLst/>
              <a:gdLst/>
              <a:ahLst/>
              <a:cxnLst/>
              <a:rect l="l" t="t" r="r" b="b"/>
              <a:pathLst>
                <a:path w="1290955" h="852169">
                  <a:moveTo>
                    <a:pt x="0" y="851636"/>
                  </a:moveTo>
                  <a:lnTo>
                    <a:pt x="1290701" y="851636"/>
                  </a:lnTo>
                  <a:lnTo>
                    <a:pt x="1290701" y="0"/>
                  </a:lnTo>
                  <a:lnTo>
                    <a:pt x="0" y="0"/>
                  </a:lnTo>
                  <a:lnTo>
                    <a:pt x="0" y="851636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21" y="432868"/>
              <a:ext cx="1228277" cy="50119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1147" y="417537"/>
              <a:ext cx="1259205" cy="522605"/>
            </a:xfrm>
            <a:custGeom>
              <a:avLst/>
              <a:gdLst/>
              <a:ahLst/>
              <a:cxnLst/>
              <a:rect l="l" t="t" r="r" b="b"/>
              <a:pathLst>
                <a:path w="1259205" h="522605">
                  <a:moveTo>
                    <a:pt x="0" y="522516"/>
                  </a:moveTo>
                  <a:lnTo>
                    <a:pt x="1258709" y="522516"/>
                  </a:lnTo>
                  <a:lnTo>
                    <a:pt x="1258709" y="0"/>
                  </a:lnTo>
                  <a:lnTo>
                    <a:pt x="0" y="0"/>
                  </a:lnTo>
                  <a:lnTo>
                    <a:pt x="0" y="522516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1119" y="112814"/>
              <a:ext cx="1476756" cy="83803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339595" y="111277"/>
              <a:ext cx="1480185" cy="841375"/>
            </a:xfrm>
            <a:custGeom>
              <a:avLst/>
              <a:gdLst/>
              <a:ahLst/>
              <a:cxnLst/>
              <a:rect l="l" t="t" r="r" b="b"/>
              <a:pathLst>
                <a:path w="1480185" h="841375">
                  <a:moveTo>
                    <a:pt x="0" y="840968"/>
                  </a:moveTo>
                  <a:lnTo>
                    <a:pt x="1479677" y="840968"/>
                  </a:lnTo>
                  <a:lnTo>
                    <a:pt x="1479677" y="0"/>
                  </a:lnTo>
                  <a:lnTo>
                    <a:pt x="0" y="0"/>
                  </a:lnTo>
                  <a:lnTo>
                    <a:pt x="0" y="840968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9595" y="981227"/>
              <a:ext cx="1432560" cy="83804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38071" y="979830"/>
              <a:ext cx="1435735" cy="841375"/>
            </a:xfrm>
            <a:custGeom>
              <a:avLst/>
              <a:gdLst/>
              <a:ahLst/>
              <a:cxnLst/>
              <a:rect l="l" t="t" r="r" b="b"/>
              <a:pathLst>
                <a:path w="1435735" h="841375">
                  <a:moveTo>
                    <a:pt x="0" y="840968"/>
                  </a:moveTo>
                  <a:lnTo>
                    <a:pt x="1435481" y="840968"/>
                  </a:lnTo>
                  <a:lnTo>
                    <a:pt x="1435481" y="0"/>
                  </a:lnTo>
                  <a:lnTo>
                    <a:pt x="0" y="0"/>
                  </a:lnTo>
                  <a:lnTo>
                    <a:pt x="0" y="840968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8779" y="1851296"/>
              <a:ext cx="774191" cy="9142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667255" y="1849892"/>
              <a:ext cx="777240" cy="94615"/>
            </a:xfrm>
            <a:custGeom>
              <a:avLst/>
              <a:gdLst/>
              <a:ahLst/>
              <a:cxnLst/>
              <a:rect l="l" t="t" r="r" b="b"/>
              <a:pathLst>
                <a:path w="777239" h="94614">
                  <a:moveTo>
                    <a:pt x="0" y="94350"/>
                  </a:moveTo>
                  <a:lnTo>
                    <a:pt x="777125" y="94350"/>
                  </a:lnTo>
                  <a:lnTo>
                    <a:pt x="777125" y="0"/>
                  </a:lnTo>
                  <a:lnTo>
                    <a:pt x="0" y="0"/>
                  </a:lnTo>
                  <a:lnTo>
                    <a:pt x="0" y="9435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508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33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27" y="91567"/>
            <a:ext cx="1226185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Types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of</a:t>
            </a:r>
            <a:r>
              <a:rPr dirty="0" sz="1050" spc="-2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Servlet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55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jakarta.servlet.http.HttpServlet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" y="391630"/>
              <a:ext cx="1039368" cy="49825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5031" y="390106"/>
              <a:ext cx="1042669" cy="501650"/>
            </a:xfrm>
            <a:custGeom>
              <a:avLst/>
              <a:gdLst/>
              <a:ahLst/>
              <a:cxnLst/>
              <a:rect l="l" t="t" r="r" b="b"/>
              <a:pathLst>
                <a:path w="1042669" h="501650">
                  <a:moveTo>
                    <a:pt x="0" y="501180"/>
                  </a:moveTo>
                  <a:lnTo>
                    <a:pt x="1042301" y="501180"/>
                  </a:lnTo>
                  <a:lnTo>
                    <a:pt x="1042301" y="0"/>
                  </a:lnTo>
                  <a:lnTo>
                    <a:pt x="0" y="0"/>
                  </a:lnTo>
                  <a:lnTo>
                    <a:pt x="0" y="50118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3" y="900506"/>
              <a:ext cx="1205484" cy="110774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5783" y="899109"/>
              <a:ext cx="1209040" cy="1111250"/>
            </a:xfrm>
            <a:custGeom>
              <a:avLst/>
              <a:gdLst/>
              <a:ahLst/>
              <a:cxnLst/>
              <a:rect l="l" t="t" r="r" b="b"/>
              <a:pathLst>
                <a:path w="1209040" h="1111250">
                  <a:moveTo>
                    <a:pt x="0" y="1110665"/>
                  </a:moveTo>
                  <a:lnTo>
                    <a:pt x="1208417" y="1110665"/>
                  </a:lnTo>
                  <a:lnTo>
                    <a:pt x="1208417" y="0"/>
                  </a:lnTo>
                  <a:lnTo>
                    <a:pt x="0" y="0"/>
                  </a:lnTo>
                  <a:lnTo>
                    <a:pt x="0" y="1110665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8447" y="420484"/>
              <a:ext cx="1479803" cy="63386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96924" y="419087"/>
              <a:ext cx="1482725" cy="636905"/>
            </a:xfrm>
            <a:custGeom>
              <a:avLst/>
              <a:gdLst/>
              <a:ahLst/>
              <a:cxnLst/>
              <a:rect l="l" t="t" r="r" b="b"/>
              <a:pathLst>
                <a:path w="1482725" h="636905">
                  <a:moveTo>
                    <a:pt x="0" y="636790"/>
                  </a:moveTo>
                  <a:lnTo>
                    <a:pt x="1482725" y="636790"/>
                  </a:lnTo>
                  <a:lnTo>
                    <a:pt x="1482725" y="0"/>
                  </a:lnTo>
                  <a:lnTo>
                    <a:pt x="0" y="0"/>
                  </a:lnTo>
                  <a:lnTo>
                    <a:pt x="0" y="63679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98447" y="414412"/>
              <a:ext cx="1175385" cy="58419"/>
            </a:xfrm>
            <a:custGeom>
              <a:avLst/>
              <a:gdLst/>
              <a:ahLst/>
              <a:cxnLst/>
              <a:rect l="l" t="t" r="r" b="b"/>
              <a:pathLst>
                <a:path w="1175385" h="58420">
                  <a:moveTo>
                    <a:pt x="0" y="57900"/>
                  </a:moveTo>
                  <a:lnTo>
                    <a:pt x="1175003" y="579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57900"/>
                  </a:lnTo>
                  <a:close/>
                </a:path>
              </a:pathLst>
            </a:custGeom>
            <a:ln w="585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4355" y="1097169"/>
              <a:ext cx="1264920" cy="49210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22831" y="1086447"/>
              <a:ext cx="1268095" cy="504825"/>
            </a:xfrm>
            <a:custGeom>
              <a:avLst/>
              <a:gdLst/>
              <a:ahLst/>
              <a:cxnLst/>
              <a:rect l="l" t="t" r="r" b="b"/>
              <a:pathLst>
                <a:path w="1268095" h="504825">
                  <a:moveTo>
                    <a:pt x="0" y="504228"/>
                  </a:moveTo>
                  <a:lnTo>
                    <a:pt x="1267853" y="504228"/>
                  </a:lnTo>
                  <a:lnTo>
                    <a:pt x="1267853" y="0"/>
                  </a:lnTo>
                  <a:lnTo>
                    <a:pt x="0" y="0"/>
                  </a:lnTo>
                  <a:lnTo>
                    <a:pt x="0" y="504228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4355" y="1624266"/>
              <a:ext cx="544068" cy="35198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322831" y="1622869"/>
              <a:ext cx="547370" cy="354965"/>
            </a:xfrm>
            <a:custGeom>
              <a:avLst/>
              <a:gdLst/>
              <a:ahLst/>
              <a:cxnLst/>
              <a:rect l="l" t="t" r="r" b="b"/>
              <a:pathLst>
                <a:path w="547369" h="354964">
                  <a:moveTo>
                    <a:pt x="0" y="354901"/>
                  </a:moveTo>
                  <a:lnTo>
                    <a:pt x="547001" y="354901"/>
                  </a:lnTo>
                  <a:lnTo>
                    <a:pt x="547001" y="0"/>
                  </a:lnTo>
                  <a:lnTo>
                    <a:pt x="0" y="0"/>
                  </a:lnTo>
                  <a:lnTo>
                    <a:pt x="0" y="354901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Handling</a:t>
            </a:r>
            <a:r>
              <a:rPr dirty="0" spc="-25"/>
              <a:t> </a:t>
            </a:r>
            <a:r>
              <a:rPr dirty="0"/>
              <a:t>Servlet</a:t>
            </a:r>
            <a:r>
              <a:rPr dirty="0" spc="-10"/>
              <a:t> Lifecycle</a:t>
            </a:r>
            <a:r>
              <a:rPr dirty="0" spc="5"/>
              <a:t> </a:t>
            </a:r>
            <a:r>
              <a:rPr dirty="0" spc="-10"/>
              <a:t>Events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408559"/>
            <a:ext cx="2691765" cy="1847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82550" marR="5080" indent="-70485">
              <a:lnSpc>
                <a:spcPts val="590"/>
              </a:lnSpc>
              <a:spcBef>
                <a:spcPts val="180"/>
              </a:spcBef>
            </a:pPr>
            <a:r>
              <a:rPr dirty="0" sz="5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550" spc="-35">
                <a:solidFill>
                  <a:srgbClr val="0066A0"/>
                </a:solidFill>
                <a:latin typeface="Cambria Math"/>
                <a:cs typeface="Cambria Math"/>
              </a:rPr>
              <a:t> </a:t>
            </a:r>
            <a:r>
              <a:rPr dirty="0" sz="550">
                <a:latin typeface="Calibri"/>
                <a:cs typeface="Calibri"/>
              </a:rPr>
              <a:t>You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can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monitor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react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8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events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servlet’s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lifecycle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by</a:t>
            </a:r>
            <a:r>
              <a:rPr dirty="0" sz="550" spc="7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defining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listener</a:t>
            </a:r>
            <a:r>
              <a:rPr dirty="0" sz="550" spc="7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objects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whose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methods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get</a:t>
            </a:r>
            <a:r>
              <a:rPr dirty="0" sz="550" spc="-10">
                <a:latin typeface="Calibri"/>
                <a:cs typeface="Calibri"/>
              </a:rPr>
              <a:t> invoked</a:t>
            </a:r>
            <a:r>
              <a:rPr dirty="0" sz="550">
                <a:latin typeface="Calibri"/>
                <a:cs typeface="Calibri"/>
              </a:rPr>
              <a:t> when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lifecycle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events </a:t>
            </a:r>
            <a:r>
              <a:rPr dirty="0" sz="550" spc="-10">
                <a:latin typeface="Calibri"/>
                <a:cs typeface="Calibri"/>
              </a:rPr>
              <a:t>occur.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34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57734" y="1890559"/>
            <a:ext cx="2419985" cy="165735"/>
          </a:xfrm>
          <a:custGeom>
            <a:avLst/>
            <a:gdLst/>
            <a:ahLst/>
            <a:cxnLst/>
            <a:rect l="l" t="t" r="r" b="b"/>
            <a:pathLst>
              <a:path w="2419985" h="165735">
                <a:moveTo>
                  <a:pt x="295186" y="0"/>
                </a:moveTo>
                <a:lnTo>
                  <a:pt x="0" y="0"/>
                </a:lnTo>
                <a:lnTo>
                  <a:pt x="0" y="165442"/>
                </a:lnTo>
                <a:lnTo>
                  <a:pt x="295186" y="165442"/>
                </a:lnTo>
                <a:lnTo>
                  <a:pt x="295186" y="0"/>
                </a:lnTo>
                <a:close/>
              </a:path>
              <a:path w="2419985" h="165735">
                <a:moveTo>
                  <a:pt x="1261579" y="0"/>
                </a:moveTo>
                <a:lnTo>
                  <a:pt x="295275" y="0"/>
                </a:lnTo>
                <a:lnTo>
                  <a:pt x="295275" y="165442"/>
                </a:lnTo>
                <a:lnTo>
                  <a:pt x="1261579" y="165442"/>
                </a:lnTo>
                <a:lnTo>
                  <a:pt x="1261579" y="0"/>
                </a:lnTo>
                <a:close/>
              </a:path>
              <a:path w="2419985" h="165735">
                <a:moveTo>
                  <a:pt x="2419756" y="0"/>
                </a:moveTo>
                <a:lnTo>
                  <a:pt x="1261618" y="0"/>
                </a:lnTo>
                <a:lnTo>
                  <a:pt x="1261618" y="165442"/>
                </a:lnTo>
                <a:lnTo>
                  <a:pt x="2419756" y="165442"/>
                </a:lnTo>
                <a:lnTo>
                  <a:pt x="2419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55781" y="843867"/>
          <a:ext cx="2499995" cy="1208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966469"/>
                <a:gridCol w="1158240"/>
              </a:tblGrid>
              <a:tr h="104139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550"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5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550">
                          <a:latin typeface="Calibri"/>
                          <a:cs typeface="Calibri"/>
                        </a:rPr>
                        <a:t>Lifecycle </a:t>
                      </a:r>
                      <a:r>
                        <a:rPr dirty="0" sz="550" spc="-10">
                          <a:latin typeface="Calibri"/>
                          <a:cs typeface="Calibri"/>
                        </a:rPr>
                        <a:t>Events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Object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Listener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Interface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 Event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Class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22225" marR="97155">
                        <a:lnSpc>
                          <a:spcPct val="107500"/>
                        </a:lnSpc>
                        <a:spcBef>
                          <a:spcPts val="40"/>
                        </a:spcBef>
                      </a:pPr>
                      <a:r>
                        <a:rPr dirty="0" sz="400" spc="-25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context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Initialization</a:t>
                      </a:r>
                      <a:r>
                        <a:rPr dirty="0" sz="40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destruction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28575">
                        <a:lnSpc>
                          <a:spcPct val="107500"/>
                        </a:lnSpc>
                        <a:spcBef>
                          <a:spcPts val="4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jakarta.servlet.ServletContextListener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ContextEvent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22225" marR="97155">
                        <a:lnSpc>
                          <a:spcPct val="107500"/>
                        </a:lnSpc>
                        <a:spcBef>
                          <a:spcPts val="95"/>
                        </a:spcBef>
                      </a:pPr>
                      <a:r>
                        <a:rPr dirty="0" sz="400" spc="-25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context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added,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removed,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or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replaced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24130">
                        <a:lnSpc>
                          <a:spcPct val="107500"/>
                        </a:lnSpc>
                        <a:spcBef>
                          <a:spcPts val="9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jakarta.servlet.ServletContextAttributeListener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an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4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ServletContextAttributeEvent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Session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205740">
                        <a:lnSpc>
                          <a:spcPct val="107500"/>
                        </a:lnSpc>
                        <a:spcBef>
                          <a:spcPts val="29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Creation,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invalidation,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activation,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passivation, and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timeout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40640">
                        <a:lnSpc>
                          <a:spcPct val="107500"/>
                        </a:lnSpc>
                        <a:spcBef>
                          <a:spcPts val="4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jakarta.servlet.http.HttpSessionListener,</a:t>
                      </a:r>
                      <a:r>
                        <a:rPr dirty="0" sz="400" spc="3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jakarta.s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ervlet.http.HttpSessionActivationListener,</a:t>
                      </a:r>
                      <a:endParaRPr sz="4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HttpSessionEvent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Session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added,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removed,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or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replaced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48260">
                        <a:lnSpc>
                          <a:spcPct val="107500"/>
                        </a:lnSpc>
                        <a:spcBef>
                          <a:spcPts val="95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jakarta.servlet.http.HttpSessionAttributeListener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HttpSessionBindingEvent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Request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165735">
                        <a:lnSpc>
                          <a:spcPct val="107500"/>
                        </a:lnSpc>
                        <a:spcBef>
                          <a:spcPts val="4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has started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processed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components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20955">
                        <a:lnSpc>
                          <a:spcPct val="107500"/>
                        </a:lnSpc>
                        <a:spcBef>
                          <a:spcPts val="40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jakarta.servlet.ServletRequestListener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Servlet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RequestEvent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Request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added,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removed,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or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replaced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18415">
                        <a:lnSpc>
                          <a:spcPct val="107500"/>
                        </a:lnSpc>
                        <a:spcBef>
                          <a:spcPts val="95"/>
                        </a:spcBef>
                      </a:pPr>
                      <a:r>
                        <a:rPr dirty="0" sz="400" spc="10">
                          <a:latin typeface="Calibri"/>
                          <a:cs typeface="Calibri"/>
                        </a:rPr>
                        <a:t>jakarta.servlet.ServletRequestAttributeListener</a:t>
                      </a:r>
                      <a:r>
                        <a:rPr dirty="0" sz="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4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ServletRequestAttributeEvent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748" y="624956"/>
              <a:ext cx="1610830" cy="17169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39495" y="609498"/>
              <a:ext cx="1655445" cy="207645"/>
            </a:xfrm>
            <a:custGeom>
              <a:avLst/>
              <a:gdLst/>
              <a:ahLst/>
              <a:cxnLst/>
              <a:rect l="l" t="t" r="r" b="b"/>
              <a:pathLst>
                <a:path w="1655445" h="207644">
                  <a:moveTo>
                    <a:pt x="0" y="207111"/>
                  </a:moveTo>
                  <a:lnTo>
                    <a:pt x="1654937" y="207111"/>
                  </a:lnTo>
                  <a:lnTo>
                    <a:pt x="1654937" y="0"/>
                  </a:lnTo>
                  <a:lnTo>
                    <a:pt x="0" y="0"/>
                  </a:lnTo>
                  <a:lnTo>
                    <a:pt x="0" y="207111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2202"/>
            <a:ext cx="1125855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Sharing</a:t>
            </a:r>
            <a:r>
              <a:rPr dirty="0"/>
              <a:t> </a:t>
            </a:r>
            <a:r>
              <a:rPr dirty="0" spc="-10"/>
              <a:t>Information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35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441" y="815911"/>
            <a:ext cx="2738120" cy="1010919"/>
            <a:chOff x="3441" y="815911"/>
            <a:chExt cx="2738120" cy="1010919"/>
          </a:xfrm>
        </p:grpSpPr>
        <p:sp>
          <p:nvSpPr>
            <p:cNvPr id="6" name="object 6" descr=""/>
            <p:cNvSpPr/>
            <p:nvPr/>
          </p:nvSpPr>
          <p:spPr>
            <a:xfrm>
              <a:off x="438543" y="923925"/>
              <a:ext cx="933450" cy="901065"/>
            </a:xfrm>
            <a:custGeom>
              <a:avLst/>
              <a:gdLst/>
              <a:ahLst/>
              <a:cxnLst/>
              <a:rect l="l" t="t" r="r" b="b"/>
              <a:pathLst>
                <a:path w="933450" h="901064">
                  <a:moveTo>
                    <a:pt x="0" y="0"/>
                  </a:moveTo>
                  <a:lnTo>
                    <a:pt x="0" y="900557"/>
                  </a:lnTo>
                </a:path>
                <a:path w="933450" h="901064">
                  <a:moveTo>
                    <a:pt x="933437" y="0"/>
                  </a:moveTo>
                  <a:lnTo>
                    <a:pt x="933437" y="900557"/>
                  </a:lnTo>
                </a:path>
              </a:pathLst>
            </a:custGeom>
            <a:ln w="3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664" y="818134"/>
              <a:ext cx="2733675" cy="1006475"/>
            </a:xfrm>
            <a:custGeom>
              <a:avLst/>
              <a:gdLst/>
              <a:ahLst/>
              <a:cxnLst/>
              <a:rect l="l" t="t" r="r" b="b"/>
              <a:pathLst>
                <a:path w="2733675" h="1006475">
                  <a:moveTo>
                    <a:pt x="0" y="107823"/>
                  </a:moveTo>
                  <a:lnTo>
                    <a:pt x="2733598" y="107823"/>
                  </a:lnTo>
                </a:path>
                <a:path w="2733675" h="1006475">
                  <a:moveTo>
                    <a:pt x="0" y="261366"/>
                  </a:moveTo>
                  <a:lnTo>
                    <a:pt x="2733598" y="261366"/>
                  </a:lnTo>
                </a:path>
                <a:path w="2733675" h="1006475">
                  <a:moveTo>
                    <a:pt x="0" y="442087"/>
                  </a:moveTo>
                  <a:lnTo>
                    <a:pt x="2733598" y="442087"/>
                  </a:lnTo>
                </a:path>
                <a:path w="2733675" h="1006475">
                  <a:moveTo>
                    <a:pt x="0" y="642874"/>
                  </a:moveTo>
                  <a:lnTo>
                    <a:pt x="2733598" y="642874"/>
                  </a:lnTo>
                </a:path>
                <a:path w="2733675" h="1006475">
                  <a:moveTo>
                    <a:pt x="0" y="823722"/>
                  </a:moveTo>
                  <a:lnTo>
                    <a:pt x="2733598" y="823722"/>
                  </a:lnTo>
                </a:path>
                <a:path w="2733675" h="1006475">
                  <a:moveTo>
                    <a:pt x="1955" y="0"/>
                  </a:moveTo>
                  <a:lnTo>
                    <a:pt x="1955" y="1006348"/>
                  </a:lnTo>
                </a:path>
              </a:pathLst>
            </a:custGeom>
            <a:ln w="3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37357" y="818134"/>
              <a:ext cx="0" cy="1006475"/>
            </a:xfrm>
            <a:custGeom>
              <a:avLst/>
              <a:gdLst/>
              <a:ahLst/>
              <a:cxnLst/>
              <a:rect l="l" t="t" r="r" b="b"/>
              <a:pathLst>
                <a:path w="0" h="1006475">
                  <a:moveTo>
                    <a:pt x="0" y="0"/>
                  </a:moveTo>
                  <a:lnTo>
                    <a:pt x="0" y="1006348"/>
                  </a:lnTo>
                </a:path>
              </a:pathLst>
            </a:custGeom>
            <a:ln w="3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664" y="820166"/>
              <a:ext cx="2733675" cy="1002665"/>
            </a:xfrm>
            <a:custGeom>
              <a:avLst/>
              <a:gdLst/>
              <a:ahLst/>
              <a:cxnLst/>
              <a:rect l="l" t="t" r="r" b="b"/>
              <a:pathLst>
                <a:path w="2733675" h="1002664">
                  <a:moveTo>
                    <a:pt x="0" y="0"/>
                  </a:moveTo>
                  <a:lnTo>
                    <a:pt x="2733598" y="0"/>
                  </a:lnTo>
                </a:path>
                <a:path w="2733675" h="1002664">
                  <a:moveTo>
                    <a:pt x="0" y="1002411"/>
                  </a:moveTo>
                  <a:lnTo>
                    <a:pt x="2733598" y="1002411"/>
                  </a:lnTo>
                </a:path>
              </a:pathLst>
            </a:custGeom>
            <a:ln w="3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8927" y="207823"/>
            <a:ext cx="2693035" cy="71183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Scope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Objects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3300"/>
              </a:lnSpc>
              <a:spcBef>
                <a:spcPts val="45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Collaborating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1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components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share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information</a:t>
            </a:r>
            <a:r>
              <a:rPr dirty="0" sz="650" spc="2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by</a:t>
            </a:r>
            <a:r>
              <a:rPr dirty="0" sz="650" spc="1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means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objects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that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maintained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as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attributes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four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scope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objects.</a:t>
            </a:r>
            <a:r>
              <a:rPr dirty="0" sz="650" spc="9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You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access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these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attributes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by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using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getAttribute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setAttribute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methods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class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representing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scope.</a:t>
            </a:r>
            <a:endParaRPr sz="650">
              <a:latin typeface="Calibri"/>
              <a:cs typeface="Calibri"/>
            </a:endParaRPr>
          </a:p>
          <a:p>
            <a:pPr algn="ctr" marR="63500">
              <a:lnSpc>
                <a:spcPct val="100000"/>
              </a:lnSpc>
              <a:spcBef>
                <a:spcPts val="254"/>
              </a:spcBef>
            </a:pPr>
            <a:r>
              <a:rPr dirty="0" sz="500" spc="-10">
                <a:latin typeface="Calibri"/>
                <a:cs typeface="Calibri"/>
              </a:rPr>
              <a:t>Scope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Objects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447" y="948944"/>
            <a:ext cx="35877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Scope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Object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9435" y="948944"/>
            <a:ext cx="15240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Class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93063" y="948944"/>
            <a:ext cx="43180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Accessible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-20">
                <a:latin typeface="Calibri"/>
                <a:cs typeface="Calibri"/>
              </a:rPr>
              <a:t>From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447" y="1115949"/>
            <a:ext cx="34798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Web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context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9435" y="1115949"/>
            <a:ext cx="77724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jakarta.servlet.ServletContext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93063" y="1078483"/>
            <a:ext cx="1033144" cy="175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ts val="590"/>
              </a:lnSpc>
              <a:spcBef>
                <a:spcPts val="120"/>
              </a:spcBef>
            </a:pPr>
            <a:r>
              <a:rPr dirty="0" sz="500" spc="-10">
                <a:latin typeface="Calibri"/>
                <a:cs typeface="Calibri"/>
              </a:rPr>
              <a:t>Web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components</a:t>
            </a:r>
            <a:r>
              <a:rPr dirty="0" sz="500" spc="-4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within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web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context.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See</a:t>
            </a:r>
            <a:r>
              <a:rPr dirty="0" sz="500" spc="70">
                <a:latin typeface="Calibri"/>
                <a:cs typeface="Calibri"/>
              </a:rPr>
              <a:t> </a:t>
            </a:r>
            <a:r>
              <a:rPr dirty="0" u="sng" sz="5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[accessing-the-web-context</a:t>
            </a:r>
            <a:r>
              <a:rPr dirty="0" sz="500" spc="-1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]</a:t>
            </a:r>
            <a:r>
              <a:rPr dirty="0" sz="500" spc="-1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447" y="1306830"/>
            <a:ext cx="21399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Session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59435" y="1306830"/>
            <a:ext cx="82740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jakarta.servlet.http.HttpSession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93063" y="1269238"/>
            <a:ext cx="1283970" cy="175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ts val="590"/>
              </a:lnSpc>
              <a:spcBef>
                <a:spcPts val="120"/>
              </a:spcBef>
            </a:pPr>
            <a:r>
              <a:rPr dirty="0" sz="500" spc="-10">
                <a:latin typeface="Calibri"/>
                <a:cs typeface="Calibri"/>
              </a:rPr>
              <a:t>Web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components</a:t>
            </a:r>
            <a:r>
              <a:rPr dirty="0" sz="500" spc="-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handling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request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that belongs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 the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session.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See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u="sng" sz="5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[maintaining-client-state</a:t>
            </a:r>
            <a:r>
              <a:rPr dirty="0" sz="500" spc="-10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]</a:t>
            </a:r>
            <a:r>
              <a:rPr dirty="0" sz="500" spc="-1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8447" y="1497583"/>
            <a:ext cx="23114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Request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59435" y="1460119"/>
            <a:ext cx="848994" cy="175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595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Subtype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ts val="595"/>
              </a:lnSpc>
            </a:pPr>
            <a:r>
              <a:rPr dirty="0" sz="500">
                <a:latin typeface="Calibri"/>
                <a:cs typeface="Calibri"/>
              </a:rPr>
              <a:t>of</a:t>
            </a:r>
            <a:r>
              <a:rPr dirty="0" sz="500" spc="-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jakarta.servlet.ServletRequest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93063" y="1497583"/>
            <a:ext cx="102552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Web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components</a:t>
            </a:r>
            <a:r>
              <a:rPr dirty="0" sz="500" spc="-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handling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request.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8447" y="1678305"/>
            <a:ext cx="14668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20">
                <a:latin typeface="Calibri"/>
                <a:cs typeface="Calibri"/>
              </a:rPr>
              <a:t>Page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9435" y="1678305"/>
            <a:ext cx="76644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jakarta.servlet.jsp.JspContext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93063" y="1640839"/>
            <a:ext cx="1198245" cy="175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ts val="590"/>
              </a:lnSpc>
              <a:spcBef>
                <a:spcPts val="120"/>
              </a:spcBef>
            </a:pPr>
            <a:r>
              <a:rPr dirty="0" sz="500">
                <a:latin typeface="Calibri"/>
                <a:cs typeface="Calibri"/>
              </a:rPr>
              <a:t>The </a:t>
            </a:r>
            <a:r>
              <a:rPr dirty="0" sz="500" spc="-10">
                <a:latin typeface="Calibri"/>
                <a:cs typeface="Calibri"/>
              </a:rPr>
              <a:t>Jakarta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Server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Pages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page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that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creates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the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object.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1125855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Sharing</a:t>
            </a:r>
            <a:r>
              <a:rPr dirty="0"/>
              <a:t> </a:t>
            </a:r>
            <a:r>
              <a:rPr dirty="0" spc="-10"/>
              <a:t>Information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116" y="201448"/>
            <a:ext cx="2719705" cy="190753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Controlling</a:t>
            </a:r>
            <a:r>
              <a:rPr dirty="0" sz="650" spc="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Concurrent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Access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650" spc="6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Shared</a:t>
            </a:r>
            <a:r>
              <a:rPr dirty="0" sz="650" spc="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Resources</a:t>
            </a:r>
            <a:endParaRPr sz="650">
              <a:latin typeface="Calibri"/>
              <a:cs typeface="Calibri"/>
            </a:endParaRPr>
          </a:p>
          <a:p>
            <a:pPr algn="just" marL="95250" marR="18415" indent="-70485">
              <a:lnSpc>
                <a:spcPts val="660"/>
              </a:lnSpc>
              <a:spcBef>
                <a:spcPts val="48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multithreaded</a:t>
            </a:r>
            <a:r>
              <a:rPr dirty="0" sz="600" spc="1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server,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shared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accessed</a:t>
            </a:r>
            <a:r>
              <a:rPr dirty="0" sz="600" spc="1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concurrently.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In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addition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scope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object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attributes,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shared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include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in-memory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data,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such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instance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variables,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external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objects,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such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files,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database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connections,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network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connections.</a:t>
            </a:r>
            <a:endParaRPr sz="600">
              <a:latin typeface="Calibri"/>
              <a:cs typeface="Calibri"/>
            </a:endParaRPr>
          </a:p>
          <a:p>
            <a:pPr algn="just" marL="25400">
              <a:lnSpc>
                <a:spcPct val="100000"/>
              </a:lnSpc>
              <a:spcBef>
                <a:spcPts val="24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Concurrent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access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arise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several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situations.</a:t>
            </a:r>
            <a:endParaRPr sz="60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12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00">
                <a:latin typeface="Calibri"/>
                <a:cs typeface="Calibri"/>
              </a:rPr>
              <a:t>Multiple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web components</a:t>
            </a:r>
            <a:r>
              <a:rPr dirty="0" sz="500" spc="-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accessing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objects</a:t>
            </a:r>
            <a:r>
              <a:rPr dirty="0" sz="500">
                <a:latin typeface="Calibri"/>
                <a:cs typeface="Calibri"/>
              </a:rPr>
              <a:t> stored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in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the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web</a:t>
            </a:r>
            <a:r>
              <a:rPr dirty="0" sz="50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context.</a:t>
            </a:r>
            <a:endParaRPr sz="50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10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00">
                <a:latin typeface="Calibri"/>
                <a:cs typeface="Calibri"/>
              </a:rPr>
              <a:t>Multiple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web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components</a:t>
            </a:r>
            <a:r>
              <a:rPr dirty="0" sz="500" spc="-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accessing</a:t>
            </a:r>
            <a:r>
              <a:rPr dirty="0" sz="500" spc="10">
                <a:latin typeface="Calibri"/>
                <a:cs typeface="Calibri"/>
              </a:rPr>
              <a:t> objects</a:t>
            </a:r>
            <a:r>
              <a:rPr dirty="0" sz="500">
                <a:latin typeface="Calibri"/>
                <a:cs typeface="Calibri"/>
              </a:rPr>
              <a:t> stored </a:t>
            </a:r>
            <a:r>
              <a:rPr dirty="0" sz="500" spc="10">
                <a:latin typeface="Calibri"/>
                <a:cs typeface="Calibri"/>
              </a:rPr>
              <a:t>in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a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session.</a:t>
            </a:r>
            <a:endParaRPr sz="50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120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00">
                <a:latin typeface="Calibri"/>
                <a:cs typeface="Calibri"/>
              </a:rPr>
              <a:t>Multiple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threads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within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a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web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10">
                <a:latin typeface="Calibri"/>
                <a:cs typeface="Calibri"/>
              </a:rPr>
              <a:t>component</a:t>
            </a:r>
            <a:r>
              <a:rPr dirty="0" sz="500">
                <a:latin typeface="Calibri"/>
                <a:cs typeface="Calibri"/>
              </a:rPr>
              <a:t> accessing instance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variables.</a:t>
            </a:r>
            <a:endParaRPr sz="500">
              <a:latin typeface="Calibri"/>
              <a:cs typeface="Calibri"/>
            </a:endParaRPr>
          </a:p>
          <a:p>
            <a:pPr algn="just" marL="95250" marR="17780" indent="-70485">
              <a:lnSpc>
                <a:spcPct val="92100"/>
              </a:lnSpc>
              <a:spcBef>
                <a:spcPts val="30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2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will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typically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create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handle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each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request.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ensure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instance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handles</a:t>
            </a:r>
            <a:r>
              <a:rPr dirty="0" sz="600" spc="22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only</a:t>
            </a:r>
            <a:r>
              <a:rPr dirty="0" sz="600" spc="22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one</a:t>
            </a:r>
            <a:r>
              <a:rPr dirty="0" sz="600" spc="2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22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at</a:t>
            </a:r>
            <a:r>
              <a:rPr dirty="0" sz="600" spc="2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time,</a:t>
            </a:r>
            <a:r>
              <a:rPr dirty="0" sz="600" spc="2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can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implement</a:t>
            </a:r>
            <a:r>
              <a:rPr dirty="0" sz="600" spc="3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3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SingleThreadModel</a:t>
            </a:r>
            <a:r>
              <a:rPr dirty="0" sz="600" spc="3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interface.</a:t>
            </a:r>
            <a:r>
              <a:rPr dirty="0" sz="600" spc="3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If</a:t>
            </a:r>
            <a:r>
              <a:rPr dirty="0" sz="600" spc="3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3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</a:t>
            </a:r>
            <a:r>
              <a:rPr dirty="0" sz="600" spc="3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implements</a:t>
            </a:r>
            <a:r>
              <a:rPr dirty="0" sz="600" spc="325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this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interface,</a:t>
            </a:r>
            <a:r>
              <a:rPr dirty="0" sz="600" spc="2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no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two</a:t>
            </a:r>
            <a:r>
              <a:rPr dirty="0" sz="600" spc="2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threads</a:t>
            </a:r>
            <a:r>
              <a:rPr dirty="0" sz="600" spc="22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will</a:t>
            </a:r>
            <a:r>
              <a:rPr dirty="0" sz="600" spc="2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execute</a:t>
            </a:r>
            <a:r>
              <a:rPr dirty="0" sz="600" spc="22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concurrently</a:t>
            </a:r>
            <a:r>
              <a:rPr dirty="0" sz="600" spc="2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2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servlet’s</a:t>
            </a:r>
            <a:r>
              <a:rPr dirty="0" sz="600" spc="23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service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method.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implement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this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guarantee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by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synchronizing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access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single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instance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</a:t>
            </a:r>
            <a:r>
              <a:rPr dirty="0" sz="600" spc="1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1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by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maintaining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pool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component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instances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dispatching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each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new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free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instance.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This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interface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does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not</a:t>
            </a:r>
            <a:r>
              <a:rPr dirty="0" sz="600" spc="3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prevent</a:t>
            </a:r>
            <a:r>
              <a:rPr dirty="0" sz="600" spc="3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synchronization</a:t>
            </a:r>
            <a:r>
              <a:rPr dirty="0" sz="600" spc="3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problems</a:t>
            </a:r>
            <a:r>
              <a:rPr dirty="0" sz="600" spc="3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3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result</a:t>
            </a:r>
            <a:r>
              <a:rPr dirty="0" sz="600" spc="3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from</a:t>
            </a:r>
            <a:r>
              <a:rPr dirty="0" sz="600" spc="3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3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components'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accessing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shared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resources,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such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static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variables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 external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objects.</a:t>
            </a: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tabLst>
                <a:tab pos="2559685" algn="l"/>
              </a:tabLst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r>
              <a:rPr dirty="0" sz="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7936" sz="525" spc="-37">
                <a:solidFill>
                  <a:srgbClr val="FFC000"/>
                </a:solidFill>
                <a:latin typeface="Calibri"/>
                <a:cs typeface="Calibri"/>
              </a:rPr>
              <a:t>36</a:t>
            </a:r>
            <a:endParaRPr baseline="7936" sz="525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1411605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Asynchronous</a:t>
            </a:r>
            <a:r>
              <a:rPr dirty="0" spc="-20"/>
              <a:t> </a:t>
            </a:r>
            <a:r>
              <a:rPr dirty="0" spc="-10"/>
              <a:t>Processing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37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209446"/>
            <a:ext cx="2693670" cy="16325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80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650">
              <a:latin typeface="Calibri"/>
              <a:cs typeface="Calibri"/>
            </a:endParaRPr>
          </a:p>
          <a:p>
            <a:pPr marL="82550" marR="6985" indent="-70485">
              <a:lnSpc>
                <a:spcPts val="590"/>
              </a:lnSpc>
              <a:spcBef>
                <a:spcPts val="47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containers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servers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normally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use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server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</a:t>
            </a:r>
            <a:r>
              <a:rPr dirty="0" sz="600" spc="1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per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client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request.</a:t>
            </a:r>
            <a:endParaRPr sz="600">
              <a:latin typeface="Calibri"/>
              <a:cs typeface="Calibri"/>
            </a:endParaRPr>
          </a:p>
          <a:p>
            <a:pPr marL="82550" marR="6350" indent="-70485">
              <a:lnSpc>
                <a:spcPts val="600"/>
              </a:lnSpc>
              <a:spcBef>
                <a:spcPts val="28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Under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heavy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load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conditions,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containers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need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large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amount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threads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serve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all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client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requests.</a:t>
            </a:r>
            <a:endParaRPr sz="600">
              <a:latin typeface="Calibri"/>
              <a:cs typeface="Calibri"/>
            </a:endParaRPr>
          </a:p>
          <a:p>
            <a:pPr marL="82550" marR="7620" indent="-70485">
              <a:lnSpc>
                <a:spcPts val="590"/>
              </a:lnSpc>
              <a:spcBef>
                <a:spcPts val="30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Scalability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limitations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include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running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out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memory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exhausting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0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pool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of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threads.</a:t>
            </a:r>
            <a:endParaRPr sz="600">
              <a:latin typeface="Calibri"/>
              <a:cs typeface="Calibri"/>
            </a:endParaRPr>
          </a:p>
          <a:p>
            <a:pPr algn="just" marL="82550" marR="5080" indent="-70485">
              <a:lnSpc>
                <a:spcPts val="590"/>
              </a:lnSpc>
              <a:spcBef>
                <a:spcPts val="30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create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scalable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web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applications,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you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must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ensure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no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threads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associated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sitting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idle,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so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container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use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them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process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new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requests.</a:t>
            </a:r>
            <a:endParaRPr sz="600">
              <a:latin typeface="Calibri"/>
              <a:cs typeface="Calibri"/>
            </a:endParaRPr>
          </a:p>
          <a:p>
            <a:pPr algn="just" marL="82550" marR="6985" indent="-70485">
              <a:lnSpc>
                <a:spcPts val="590"/>
              </a:lnSpc>
              <a:spcBef>
                <a:spcPts val="30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There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two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common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scenarios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which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thread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associated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can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sitting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idle:</a:t>
            </a:r>
            <a:endParaRPr sz="600">
              <a:latin typeface="Calibri"/>
              <a:cs typeface="Calibri"/>
            </a:endParaRPr>
          </a:p>
          <a:p>
            <a:pPr algn="just" marL="222885" marR="5080" indent="-70485">
              <a:lnSpc>
                <a:spcPct val="83000"/>
              </a:lnSpc>
              <a:spcBef>
                <a:spcPts val="15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thread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needs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wait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for</a:t>
            </a:r>
            <a:r>
              <a:rPr dirty="0" sz="500" spc="15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1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resource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become</a:t>
            </a:r>
            <a:r>
              <a:rPr dirty="0" sz="500" spc="15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available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or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process</a:t>
            </a:r>
            <a:r>
              <a:rPr dirty="0" sz="500" spc="16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data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before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building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response.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For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example,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application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may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need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query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database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or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access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data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from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remote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web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service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before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generating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3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response.</a:t>
            </a:r>
            <a:endParaRPr sz="500">
              <a:latin typeface="Calibri"/>
              <a:cs typeface="Calibri"/>
            </a:endParaRPr>
          </a:p>
          <a:p>
            <a:pPr algn="just" marL="222885" marR="5080" indent="-70485">
              <a:lnSpc>
                <a:spcPct val="83000"/>
              </a:lnSpc>
              <a:spcBef>
                <a:spcPts val="16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thread</a:t>
            </a:r>
            <a:r>
              <a:rPr dirty="0" sz="500" spc="1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needs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wait</a:t>
            </a:r>
            <a:r>
              <a:rPr dirty="0" sz="500" spc="10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for</a:t>
            </a:r>
            <a:r>
              <a:rPr dirty="0" sz="500" spc="9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</a:t>
            </a:r>
            <a:r>
              <a:rPr dirty="0" sz="500" spc="8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event</a:t>
            </a:r>
            <a:r>
              <a:rPr dirty="0" sz="500" spc="9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before</a:t>
            </a:r>
            <a:r>
              <a:rPr dirty="0" sz="500" spc="9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generating</a:t>
            </a:r>
            <a:r>
              <a:rPr dirty="0" sz="500" spc="10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10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response.</a:t>
            </a:r>
            <a:r>
              <a:rPr dirty="0" sz="500" spc="9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For</a:t>
            </a:r>
            <a:r>
              <a:rPr dirty="0" sz="500" spc="9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example,</a:t>
            </a:r>
            <a:r>
              <a:rPr dirty="0" sz="500" spc="105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an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application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may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have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to</a:t>
            </a:r>
            <a:r>
              <a:rPr dirty="0" sz="500" spc="1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wait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for</a:t>
            </a:r>
            <a:r>
              <a:rPr dirty="0" sz="500" spc="1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Jakarta</a:t>
            </a:r>
            <a:r>
              <a:rPr dirty="0" sz="500" spc="1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Messaging</a:t>
            </a:r>
            <a:r>
              <a:rPr dirty="0" sz="500" spc="13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message,</a:t>
            </a:r>
            <a:r>
              <a:rPr dirty="0" sz="500" spc="1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new</a:t>
            </a:r>
            <a:r>
              <a:rPr dirty="0" sz="500" spc="1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information</a:t>
            </a:r>
            <a:r>
              <a:rPr dirty="0" sz="500" spc="145">
                <a:latin typeface="Calibri"/>
                <a:cs typeface="Calibri"/>
              </a:rPr>
              <a:t> </a:t>
            </a:r>
            <a:r>
              <a:rPr dirty="0" sz="500" spc="-20">
                <a:latin typeface="Calibri"/>
                <a:cs typeface="Calibri"/>
              </a:rPr>
              <a:t>from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another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client,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or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new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data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available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queue</a:t>
            </a:r>
            <a:r>
              <a:rPr dirty="0" sz="500" spc="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before</a:t>
            </a:r>
            <a:r>
              <a:rPr dirty="0" sz="500" spc="5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generating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the</a:t>
            </a:r>
            <a:r>
              <a:rPr dirty="0" sz="500" spc="4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response.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619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1411605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Asynchronous</a:t>
            </a:r>
            <a:r>
              <a:rPr dirty="0" spc="-20"/>
              <a:t> </a:t>
            </a:r>
            <a:r>
              <a:rPr dirty="0" spc="-10"/>
              <a:t>Processing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859662"/>
            <a:ext cx="2693035" cy="37211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just" marL="82550" marR="5080" indent="-70485">
              <a:lnSpc>
                <a:spcPct val="92200"/>
              </a:lnSpc>
              <a:spcBef>
                <a:spcPts val="16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jakarta.servlet.AsyncContext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provides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functionality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you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need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to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perform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asynchronous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processing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inside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service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methods.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obtain</a:t>
            </a:r>
            <a:r>
              <a:rPr dirty="0" sz="600" spc="9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instance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AsyncContext,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call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startAsync()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method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1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object</a:t>
            </a:r>
            <a:r>
              <a:rPr dirty="0" sz="600" spc="1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80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your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service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method;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1604899"/>
            <a:ext cx="269240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AsyncListener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provides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functionality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that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you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can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use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listen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9920" y="1688719"/>
            <a:ext cx="73406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Calibri"/>
                <a:cs typeface="Calibri"/>
              </a:rPr>
              <a:t>states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-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async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thread.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38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816" y="201078"/>
            <a:ext cx="2691130" cy="4089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Asynchronous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Processing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650" spc="8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Servlets</a:t>
            </a:r>
            <a:endParaRPr sz="650">
              <a:latin typeface="Calibri"/>
              <a:cs typeface="Calibri"/>
            </a:endParaRPr>
          </a:p>
          <a:p>
            <a:pPr marL="82550" marR="5080" indent="-70485">
              <a:lnSpc>
                <a:spcPts val="660"/>
              </a:lnSpc>
              <a:spcBef>
                <a:spcPts val="47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4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enable</a:t>
            </a:r>
            <a:r>
              <a:rPr dirty="0" sz="600" spc="4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asynchronous</a:t>
            </a:r>
            <a:r>
              <a:rPr dirty="0" sz="600" spc="4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processing</a:t>
            </a:r>
            <a:r>
              <a:rPr dirty="0" sz="600" spc="4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</a:t>
            </a:r>
            <a:r>
              <a:rPr dirty="0" sz="600" spc="4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4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servlet,</a:t>
            </a:r>
            <a:r>
              <a:rPr dirty="0" sz="600" spc="459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set</a:t>
            </a:r>
            <a:r>
              <a:rPr dirty="0" sz="600" spc="4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45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parameter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F0000"/>
                </a:solidFill>
                <a:latin typeface="Calibri"/>
                <a:cs typeface="Calibri"/>
              </a:rPr>
              <a:t>asyncSupported</a:t>
            </a:r>
            <a:r>
              <a:rPr dirty="0" sz="600" spc="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true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F0000"/>
                </a:solidFill>
                <a:latin typeface="Calibri"/>
                <a:cs typeface="Calibri"/>
              </a:rPr>
              <a:t>@WebServlet</a:t>
            </a:r>
            <a:r>
              <a:rPr dirty="0" sz="60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annotation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as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follows: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94068" y="644487"/>
            <a:ext cx="2479675" cy="1358265"/>
            <a:chOff x="294068" y="644487"/>
            <a:chExt cx="2479675" cy="1358265"/>
          </a:xfrm>
        </p:grpSpPr>
        <p:sp>
          <p:nvSpPr>
            <p:cNvPr id="10" name="object 10" descr=""/>
            <p:cNvSpPr/>
            <p:nvPr/>
          </p:nvSpPr>
          <p:spPr>
            <a:xfrm>
              <a:off x="1260347" y="1746173"/>
              <a:ext cx="1513840" cy="256540"/>
            </a:xfrm>
            <a:custGeom>
              <a:avLst/>
              <a:gdLst/>
              <a:ahLst/>
              <a:cxnLst/>
              <a:rect l="l" t="t" r="r" b="b"/>
              <a:pathLst>
                <a:path w="1513839" h="256539">
                  <a:moveTo>
                    <a:pt x="1513332" y="0"/>
                  </a:moveTo>
                  <a:lnTo>
                    <a:pt x="0" y="0"/>
                  </a:lnTo>
                  <a:lnTo>
                    <a:pt x="0" y="255981"/>
                  </a:lnTo>
                  <a:lnTo>
                    <a:pt x="1513332" y="255981"/>
                  </a:lnTo>
                  <a:lnTo>
                    <a:pt x="1513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3" y="647611"/>
              <a:ext cx="2004060" cy="18436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04799" y="646074"/>
              <a:ext cx="2007235" cy="187325"/>
            </a:xfrm>
            <a:custGeom>
              <a:avLst/>
              <a:gdLst/>
              <a:ahLst/>
              <a:cxnLst/>
              <a:rect l="l" t="t" r="r" b="b"/>
              <a:pathLst>
                <a:path w="2007235" h="187325">
                  <a:moveTo>
                    <a:pt x="0" y="187299"/>
                  </a:moveTo>
                  <a:lnTo>
                    <a:pt x="2006981" y="187299"/>
                  </a:lnTo>
                  <a:lnTo>
                    <a:pt x="2006981" y="0"/>
                  </a:lnTo>
                  <a:lnTo>
                    <a:pt x="0" y="0"/>
                  </a:lnTo>
                  <a:lnTo>
                    <a:pt x="0" y="187299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79" y="1246441"/>
              <a:ext cx="1892807" cy="35807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95655" y="1244917"/>
              <a:ext cx="1896110" cy="361315"/>
            </a:xfrm>
            <a:custGeom>
              <a:avLst/>
              <a:gdLst/>
              <a:ahLst/>
              <a:cxnLst/>
              <a:rect l="l" t="t" r="r" b="b"/>
              <a:pathLst>
                <a:path w="1896110" h="361315">
                  <a:moveTo>
                    <a:pt x="0" y="360997"/>
                  </a:moveTo>
                  <a:lnTo>
                    <a:pt x="1895728" y="360997"/>
                  </a:lnTo>
                  <a:lnTo>
                    <a:pt x="1895728" y="0"/>
                  </a:lnTo>
                  <a:lnTo>
                    <a:pt x="0" y="0"/>
                  </a:lnTo>
                  <a:lnTo>
                    <a:pt x="0" y="360997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60347" y="1746174"/>
            <a:ext cx="1513840" cy="2565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29845">
              <a:lnSpc>
                <a:spcPts val="595"/>
              </a:lnSpc>
              <a:spcBef>
                <a:spcPts val="80"/>
              </a:spcBef>
            </a:pPr>
            <a:r>
              <a:rPr dirty="0" sz="500" spc="-1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500" spc="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0033B3"/>
                </a:solidFill>
                <a:latin typeface="Calibri"/>
                <a:cs typeface="Calibri"/>
              </a:rPr>
              <a:t>class</a:t>
            </a:r>
            <a:r>
              <a:rPr dirty="0" sz="500" spc="3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MyAsyncListener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0033B3"/>
                </a:solidFill>
                <a:latin typeface="Calibri"/>
                <a:cs typeface="Calibri"/>
              </a:rPr>
              <a:t>implements</a:t>
            </a:r>
            <a:r>
              <a:rPr dirty="0" sz="500" spc="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AsyncListener</a:t>
            </a:r>
            <a:r>
              <a:rPr dirty="0" sz="500" spc="20">
                <a:latin typeface="Calibri"/>
                <a:cs typeface="Calibri"/>
              </a:rPr>
              <a:t> </a:t>
            </a:r>
            <a:r>
              <a:rPr dirty="0" sz="5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endParaRPr sz="500">
              <a:latin typeface="Calibri"/>
              <a:cs typeface="Calibri"/>
            </a:endParaRPr>
          </a:p>
          <a:p>
            <a:pPr marL="99695">
              <a:lnSpc>
                <a:spcPts val="595"/>
              </a:lnSpc>
            </a:pPr>
            <a:r>
              <a:rPr dirty="0" sz="500" spc="-25">
                <a:solidFill>
                  <a:srgbClr val="080808"/>
                </a:solidFill>
                <a:latin typeface="Calibri"/>
                <a:cs typeface="Calibri"/>
              </a:rPr>
              <a:t>//…</a:t>
            </a:r>
            <a:endParaRPr sz="5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</a:pPr>
            <a:r>
              <a:rPr dirty="0" sz="500" spc="-5">
                <a:solidFill>
                  <a:srgbClr val="080808"/>
                </a:solidFill>
                <a:latin typeface="Calibri"/>
                <a:cs typeface="Calibri"/>
              </a:rPr>
              <a:t>}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39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Asynchronous</a:t>
            </a:r>
            <a:r>
              <a:rPr dirty="0" spc="-20"/>
              <a:t> </a:t>
            </a:r>
            <a:r>
              <a:rPr dirty="0" spc="-10"/>
              <a:t>Processing</a:t>
            </a:r>
          </a:p>
          <a:p>
            <a:pPr marL="95250">
              <a:lnSpc>
                <a:spcPct val="100000"/>
              </a:lnSpc>
              <a:spcBef>
                <a:spcPts val="60"/>
              </a:spcBef>
            </a:pPr>
            <a:r>
              <a:rPr dirty="0" sz="650" spc="-10" i="1">
                <a:solidFill>
                  <a:srgbClr val="7E7E7E"/>
                </a:solidFill>
                <a:latin typeface="Calibri"/>
                <a:cs typeface="Calibri"/>
              </a:rPr>
              <a:t>Example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23" y="452564"/>
            <a:ext cx="2653665" cy="1420495"/>
            <a:chOff x="39623" y="452564"/>
            <a:chExt cx="2653665" cy="1420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" y="455549"/>
              <a:ext cx="1588008" cy="141401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1211" y="454152"/>
              <a:ext cx="1591310" cy="1417320"/>
            </a:xfrm>
            <a:custGeom>
              <a:avLst/>
              <a:gdLst/>
              <a:ahLst/>
              <a:cxnLst/>
              <a:rect l="l" t="t" r="r" b="b"/>
              <a:pathLst>
                <a:path w="1591310" h="1417320">
                  <a:moveTo>
                    <a:pt x="0" y="1416939"/>
                  </a:moveTo>
                  <a:lnTo>
                    <a:pt x="1590929" y="1416939"/>
                  </a:lnTo>
                  <a:lnTo>
                    <a:pt x="1590929" y="0"/>
                  </a:lnTo>
                  <a:lnTo>
                    <a:pt x="0" y="0"/>
                  </a:lnTo>
                  <a:lnTo>
                    <a:pt x="0" y="1416939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9768" y="460130"/>
              <a:ext cx="963125" cy="131493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15315" y="1883410"/>
            <a:ext cx="23939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Calibri"/>
                <a:cs typeface="Calibri"/>
              </a:rPr>
              <a:t>Read</a:t>
            </a:r>
            <a:r>
              <a:rPr dirty="0" sz="500" spc="26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more:</a:t>
            </a:r>
            <a:r>
              <a:rPr dirty="0" sz="500" spc="285">
                <a:latin typeface="Calibri"/>
                <a:cs typeface="Calibri"/>
              </a:rPr>
              <a:t> </a:t>
            </a:r>
            <a:r>
              <a:rPr dirty="0" u="sng" sz="3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https://github.com/eclipse-ee4j/jakartaee-</a:t>
            </a:r>
            <a:r>
              <a:rPr dirty="0" u="sng" sz="3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tutorial/blob/master/src/main/asciidoc/servlets/servlets012.ado</a:t>
            </a:r>
            <a:r>
              <a:rPr dirty="0" sz="350" spc="-1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c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227203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Contexts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Dependency</a:t>
            </a:r>
            <a:r>
              <a:rPr dirty="0" spc="-40"/>
              <a:t> </a:t>
            </a:r>
            <a:r>
              <a:rPr dirty="0"/>
              <a:t>Injection </a:t>
            </a:r>
            <a:r>
              <a:rPr dirty="0" spc="-10"/>
              <a:t>(CDI)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207823"/>
            <a:ext cx="2693670" cy="14160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650">
              <a:latin typeface="Calibri"/>
              <a:cs typeface="Calibri"/>
            </a:endParaRPr>
          </a:p>
          <a:p>
            <a:pPr algn="just" marL="82550" marR="6350" indent="-70485">
              <a:lnSpc>
                <a:spcPts val="730"/>
              </a:lnSpc>
              <a:spcBef>
                <a:spcPts val="47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CDI</a:t>
            </a:r>
            <a:r>
              <a:rPr dirty="0" sz="650" spc="3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(Contexts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Dependency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Injection)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standard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dependency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injection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framework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included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6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higher.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3100"/>
              </a:lnSpc>
              <a:spcBef>
                <a:spcPts val="29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It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allows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</a:t>
            </a:r>
            <a:r>
              <a:rPr dirty="0" sz="650" spc="1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manage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lifecycle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1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stateful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components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via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domain-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specific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lifecycle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contexts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inject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components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(services)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into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client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objects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type-safe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way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650" spc="-2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 spc="-20">
                <a:latin typeface="Calibri"/>
                <a:cs typeface="Calibri"/>
              </a:rPr>
              <a:t>CDI</a:t>
            </a:r>
            <a:endParaRPr sz="650">
              <a:latin typeface="Calibri"/>
              <a:cs typeface="Calibri"/>
            </a:endParaRPr>
          </a:p>
          <a:p>
            <a:pPr algn="just" marL="222885" marR="8255" indent="-70485">
              <a:lnSpc>
                <a:spcPts val="590"/>
              </a:lnSpc>
              <a:spcBef>
                <a:spcPts val="17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Contexts: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ability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bind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4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lifecycle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interactions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stateful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components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to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well-defined</a:t>
            </a:r>
            <a:r>
              <a:rPr dirty="0" sz="550" spc="-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but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extensible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lifecycle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contexts</a:t>
            </a:r>
            <a:endParaRPr sz="550">
              <a:latin typeface="Calibri"/>
              <a:cs typeface="Calibri"/>
            </a:endParaRPr>
          </a:p>
          <a:p>
            <a:pPr algn="just" marL="222885" marR="6350" indent="-70485">
              <a:lnSpc>
                <a:spcPct val="90000"/>
              </a:lnSpc>
              <a:spcBef>
                <a:spcPts val="155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Dependency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injection: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3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ability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inject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components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into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application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35">
                <a:latin typeface="Calibri"/>
                <a:cs typeface="Calibri"/>
              </a:rPr>
              <a:t> </a:t>
            </a:r>
            <a:r>
              <a:rPr dirty="0" sz="550" spc="-20">
                <a:latin typeface="Calibri"/>
                <a:cs typeface="Calibri"/>
              </a:rPr>
              <a:t>type-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safe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 spc="-20">
                <a:latin typeface="Calibri"/>
                <a:cs typeface="Calibri"/>
              </a:rPr>
              <a:t>way,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including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ability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choose at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deployment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time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which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implementation </a:t>
            </a:r>
            <a:r>
              <a:rPr dirty="0" sz="550" spc="-25">
                <a:latin typeface="Calibri"/>
                <a:cs typeface="Calibri"/>
              </a:rPr>
              <a:t>of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particular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interface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to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inject.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Tomcat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Server,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it’s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needed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add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reference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jboss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weld</a:t>
            </a:r>
            <a:r>
              <a:rPr dirty="0" sz="650" spc="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dependency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4875" y="1848993"/>
            <a:ext cx="233743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595"/>
              </a:lnSpc>
              <a:spcBef>
                <a:spcPts val="90"/>
              </a:spcBef>
            </a:pPr>
            <a:r>
              <a:rPr dirty="0" sz="500" spc="-10">
                <a:solidFill>
                  <a:srgbClr val="FF0000"/>
                </a:solidFill>
                <a:latin typeface="Calibri"/>
                <a:cs typeface="Calibri"/>
              </a:rPr>
              <a:t>Read more: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ts val="595"/>
              </a:lnSpc>
            </a:pPr>
            <a:r>
              <a:rPr dirty="0" u="sng" sz="5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https://github.com/eclipse-ee4j/jakartaee-tutorial/tree/master/src/main/asciidoc/cdi-</a:t>
            </a:r>
            <a:r>
              <a:rPr dirty="0" u="sng" sz="5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basi</a:t>
            </a:r>
            <a:r>
              <a:rPr dirty="0" sz="500" spc="-2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c</a:t>
            </a:r>
            <a:endParaRPr sz="500">
              <a:latin typeface="Calibri"/>
              <a:cs typeface="Calibri"/>
            </a:endParaRPr>
          </a:p>
          <a:p>
            <a:pPr algn="r" marR="78105">
              <a:lnSpc>
                <a:spcPct val="100000"/>
              </a:lnSpc>
              <a:spcBef>
                <a:spcPts val="18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40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175"/>
            <a:ext cx="2834005" cy="2131060"/>
            <a:chOff x="-3683" y="-11175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6587" y="1622729"/>
              <a:ext cx="1080515" cy="23769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55063" y="1621320"/>
              <a:ext cx="1083945" cy="240665"/>
            </a:xfrm>
            <a:custGeom>
              <a:avLst/>
              <a:gdLst/>
              <a:ahLst/>
              <a:cxnLst/>
              <a:rect l="l" t="t" r="r" b="b"/>
              <a:pathLst>
                <a:path w="1083945" h="240664">
                  <a:moveTo>
                    <a:pt x="0" y="240626"/>
                  </a:moveTo>
                  <a:lnTo>
                    <a:pt x="1083449" y="240626"/>
                  </a:lnTo>
                  <a:lnTo>
                    <a:pt x="1083449" y="0"/>
                  </a:lnTo>
                  <a:lnTo>
                    <a:pt x="0" y="0"/>
                  </a:lnTo>
                  <a:lnTo>
                    <a:pt x="0" y="240626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91" y="1651801"/>
              <a:ext cx="1449281" cy="19934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867" y="1641132"/>
              <a:ext cx="1466215" cy="220979"/>
            </a:xfrm>
            <a:custGeom>
              <a:avLst/>
              <a:gdLst/>
              <a:ahLst/>
              <a:cxnLst/>
              <a:rect l="l" t="t" r="r" b="b"/>
              <a:pathLst>
                <a:path w="1466215" h="220980">
                  <a:moveTo>
                    <a:pt x="0" y="220814"/>
                  </a:moveTo>
                  <a:lnTo>
                    <a:pt x="1465961" y="220814"/>
                  </a:lnTo>
                  <a:lnTo>
                    <a:pt x="1465961" y="0"/>
                  </a:lnTo>
                  <a:lnTo>
                    <a:pt x="0" y="0"/>
                  </a:lnTo>
                  <a:lnTo>
                    <a:pt x="0" y="220814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08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227203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Contexts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Dependency</a:t>
            </a:r>
            <a:r>
              <a:rPr dirty="0" spc="-40"/>
              <a:t> </a:t>
            </a:r>
            <a:r>
              <a:rPr dirty="0"/>
              <a:t>Injection </a:t>
            </a:r>
            <a:r>
              <a:rPr dirty="0" spc="-10"/>
              <a:t>(CDI)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528" y="255270"/>
            <a:ext cx="32893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Example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6575" y="281838"/>
            <a:ext cx="2750820" cy="1725295"/>
            <a:chOff x="36575" y="281838"/>
            <a:chExt cx="2750820" cy="172529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9255" y="1909210"/>
              <a:ext cx="355092" cy="9446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427731" y="1907805"/>
              <a:ext cx="358140" cy="97790"/>
            </a:xfrm>
            <a:custGeom>
              <a:avLst/>
              <a:gdLst/>
              <a:ahLst/>
              <a:cxnLst/>
              <a:rect l="l" t="t" r="r" b="b"/>
              <a:pathLst>
                <a:path w="358139" h="97789">
                  <a:moveTo>
                    <a:pt x="0" y="97397"/>
                  </a:moveTo>
                  <a:lnTo>
                    <a:pt x="358025" y="97397"/>
                  </a:lnTo>
                  <a:lnTo>
                    <a:pt x="358025" y="0"/>
                  </a:lnTo>
                  <a:lnTo>
                    <a:pt x="0" y="0"/>
                  </a:lnTo>
                  <a:lnTo>
                    <a:pt x="0" y="97397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" y="1380477"/>
              <a:ext cx="1563624" cy="57748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1211" y="1379067"/>
              <a:ext cx="1566545" cy="581025"/>
            </a:xfrm>
            <a:custGeom>
              <a:avLst/>
              <a:gdLst/>
              <a:ahLst/>
              <a:cxnLst/>
              <a:rect l="l" t="t" r="r" b="b"/>
              <a:pathLst>
                <a:path w="1566545" h="581025">
                  <a:moveTo>
                    <a:pt x="0" y="580415"/>
                  </a:moveTo>
                  <a:lnTo>
                    <a:pt x="1566545" y="580415"/>
                  </a:lnTo>
                  <a:lnTo>
                    <a:pt x="1566545" y="0"/>
                  </a:lnTo>
                  <a:lnTo>
                    <a:pt x="0" y="0"/>
                  </a:lnTo>
                  <a:lnTo>
                    <a:pt x="0" y="580415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0892" y="292594"/>
              <a:ext cx="949437" cy="53176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039367" y="286474"/>
              <a:ext cx="957580" cy="539750"/>
            </a:xfrm>
            <a:custGeom>
              <a:avLst/>
              <a:gdLst/>
              <a:ahLst/>
              <a:cxnLst/>
              <a:rect l="l" t="t" r="r" b="b"/>
              <a:pathLst>
                <a:path w="957580" h="539750">
                  <a:moveTo>
                    <a:pt x="0" y="539280"/>
                  </a:moveTo>
                  <a:lnTo>
                    <a:pt x="956957" y="539280"/>
                  </a:lnTo>
                  <a:lnTo>
                    <a:pt x="956957" y="0"/>
                  </a:lnTo>
                  <a:lnTo>
                    <a:pt x="0" y="0"/>
                  </a:lnTo>
                  <a:lnTo>
                    <a:pt x="0" y="53928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23" y="856335"/>
              <a:ext cx="1790700" cy="51043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8163" y="854799"/>
              <a:ext cx="1793875" cy="513715"/>
            </a:xfrm>
            <a:custGeom>
              <a:avLst/>
              <a:gdLst/>
              <a:ahLst/>
              <a:cxnLst/>
              <a:rect l="l" t="t" r="r" b="b"/>
              <a:pathLst>
                <a:path w="1793875" h="513715">
                  <a:moveTo>
                    <a:pt x="0" y="513372"/>
                  </a:moveTo>
                  <a:lnTo>
                    <a:pt x="1793621" y="513372"/>
                  </a:lnTo>
                  <a:lnTo>
                    <a:pt x="1793621" y="0"/>
                  </a:lnTo>
                  <a:lnTo>
                    <a:pt x="0" y="0"/>
                  </a:lnTo>
                  <a:lnTo>
                    <a:pt x="0" y="51337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04643" y="284962"/>
              <a:ext cx="559307" cy="51144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103120" y="283426"/>
              <a:ext cx="562610" cy="533400"/>
            </a:xfrm>
            <a:custGeom>
              <a:avLst/>
              <a:gdLst/>
              <a:ahLst/>
              <a:cxnLst/>
              <a:rect l="l" t="t" r="r" b="b"/>
              <a:pathLst>
                <a:path w="562610" h="533400">
                  <a:moveTo>
                    <a:pt x="0" y="533184"/>
                  </a:moveTo>
                  <a:lnTo>
                    <a:pt x="562241" y="533184"/>
                  </a:lnTo>
                  <a:lnTo>
                    <a:pt x="562241" y="0"/>
                  </a:lnTo>
                  <a:lnTo>
                    <a:pt x="0" y="0"/>
                  </a:lnTo>
                  <a:lnTo>
                    <a:pt x="0" y="53318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1347" y="1317993"/>
              <a:ext cx="1118615" cy="57748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639823" y="1316583"/>
              <a:ext cx="1122045" cy="581025"/>
            </a:xfrm>
            <a:custGeom>
              <a:avLst/>
              <a:gdLst/>
              <a:ahLst/>
              <a:cxnLst/>
              <a:rect l="l" t="t" r="r" b="b"/>
              <a:pathLst>
                <a:path w="1122045" h="581025">
                  <a:moveTo>
                    <a:pt x="0" y="580415"/>
                  </a:moveTo>
                  <a:lnTo>
                    <a:pt x="1121549" y="580415"/>
                  </a:lnTo>
                  <a:lnTo>
                    <a:pt x="1121549" y="0"/>
                  </a:lnTo>
                  <a:lnTo>
                    <a:pt x="0" y="0"/>
                  </a:lnTo>
                  <a:lnTo>
                    <a:pt x="0" y="580415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20367" y="1904637"/>
              <a:ext cx="925194" cy="94615"/>
            </a:xfrm>
            <a:custGeom>
              <a:avLst/>
              <a:gdLst/>
              <a:ahLst/>
              <a:cxnLst/>
              <a:rect l="l" t="t" r="r" b="b"/>
              <a:pathLst>
                <a:path w="925194" h="94614">
                  <a:moveTo>
                    <a:pt x="925068" y="0"/>
                  </a:moveTo>
                  <a:lnTo>
                    <a:pt x="0" y="0"/>
                  </a:lnTo>
                  <a:lnTo>
                    <a:pt x="0" y="94470"/>
                  </a:lnTo>
                  <a:lnTo>
                    <a:pt x="925068" y="94470"/>
                  </a:lnTo>
                  <a:lnTo>
                    <a:pt x="925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20367" y="1904637"/>
              <a:ext cx="925194" cy="94615"/>
            </a:xfrm>
            <a:custGeom>
              <a:avLst/>
              <a:gdLst/>
              <a:ahLst/>
              <a:cxnLst/>
              <a:rect l="l" t="t" r="r" b="b"/>
              <a:pathLst>
                <a:path w="925194" h="94614">
                  <a:moveTo>
                    <a:pt x="0" y="94470"/>
                  </a:moveTo>
                  <a:lnTo>
                    <a:pt x="925068" y="94470"/>
                  </a:lnTo>
                  <a:lnTo>
                    <a:pt x="925068" y="0"/>
                  </a:lnTo>
                  <a:lnTo>
                    <a:pt x="0" y="0"/>
                  </a:lnTo>
                  <a:lnTo>
                    <a:pt x="0" y="944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307" y="414464"/>
              <a:ext cx="626364" cy="31836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76847" y="412927"/>
              <a:ext cx="629920" cy="330835"/>
            </a:xfrm>
            <a:custGeom>
              <a:avLst/>
              <a:gdLst/>
              <a:ahLst/>
              <a:cxnLst/>
              <a:rect l="l" t="t" r="r" b="b"/>
              <a:pathLst>
                <a:path w="629920" h="330834">
                  <a:moveTo>
                    <a:pt x="0" y="330530"/>
                  </a:moveTo>
                  <a:lnTo>
                    <a:pt x="629297" y="330530"/>
                  </a:lnTo>
                  <a:lnTo>
                    <a:pt x="629297" y="0"/>
                  </a:lnTo>
                  <a:lnTo>
                    <a:pt x="0" y="0"/>
                  </a:lnTo>
                  <a:lnTo>
                    <a:pt x="0" y="33053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436369" y="1904238"/>
            <a:ext cx="18415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400">
                <a:solidFill>
                  <a:srgbClr val="0033B3"/>
                </a:solidFill>
                <a:latin typeface="Calibri"/>
                <a:cs typeface="Calibri"/>
              </a:rPr>
              <a:t>a</a:t>
            </a:r>
            <a:r>
              <a:rPr dirty="0" sz="400" spc="3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400" spc="-20">
                <a:solidFill>
                  <a:srgbClr val="1749D3"/>
                </a:solidFill>
                <a:latin typeface="Calibri"/>
                <a:cs typeface="Calibri"/>
              </a:rPr>
              <a:t>href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09220" y="1902282"/>
            <a:ext cx="735330" cy="984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dirty="0" sz="400">
                <a:solidFill>
                  <a:srgbClr val="057C17"/>
                </a:solidFill>
                <a:latin typeface="Calibri"/>
                <a:cs typeface="Calibri"/>
              </a:rPr>
              <a:t>="ciao-</a:t>
            </a:r>
            <a:r>
              <a:rPr dirty="0" sz="400" spc="10">
                <a:solidFill>
                  <a:srgbClr val="057C17"/>
                </a:solidFill>
                <a:latin typeface="Calibri"/>
                <a:cs typeface="Calibri"/>
              </a:rPr>
              <a:t>servlet"</a:t>
            </a:r>
            <a:r>
              <a:rPr dirty="0" sz="400" spc="10">
                <a:solidFill>
                  <a:srgbClr val="080808"/>
                </a:solidFill>
                <a:latin typeface="Calibri"/>
                <a:cs typeface="Calibri"/>
              </a:rPr>
              <a:t>&gt;CDI</a:t>
            </a:r>
            <a:r>
              <a:rPr dirty="0" sz="400" spc="7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400" spc="-10">
                <a:solidFill>
                  <a:srgbClr val="080808"/>
                </a:solidFill>
                <a:latin typeface="Calibri"/>
                <a:cs typeface="Calibri"/>
              </a:rPr>
              <a:t>Servlet&lt;/</a:t>
            </a:r>
            <a:r>
              <a:rPr dirty="0" sz="400" spc="-10">
                <a:solidFill>
                  <a:srgbClr val="0033B3"/>
                </a:solidFill>
                <a:latin typeface="Calibri"/>
                <a:cs typeface="Calibri"/>
              </a:rPr>
              <a:t>a</a:t>
            </a:r>
            <a:r>
              <a:rPr dirty="0" sz="4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sp>
          <p:nvSpPr>
            <p:cNvPr id="26" name="object 26" descr=""/>
            <p:cNvSpPr/>
            <p:nvPr/>
          </p:nvSpPr>
          <p:spPr>
            <a:xfrm>
              <a:off x="323849" y="401458"/>
              <a:ext cx="1539240" cy="1426210"/>
            </a:xfrm>
            <a:custGeom>
              <a:avLst/>
              <a:gdLst/>
              <a:ahLst/>
              <a:cxnLst/>
              <a:rect l="l" t="t" r="r" b="b"/>
              <a:pathLst>
                <a:path w="1539239" h="1426210">
                  <a:moveTo>
                    <a:pt x="790956" y="60948"/>
                  </a:moveTo>
                  <a:lnTo>
                    <a:pt x="958596" y="60948"/>
                  </a:lnTo>
                  <a:lnTo>
                    <a:pt x="958596" y="0"/>
                  </a:lnTo>
                  <a:lnTo>
                    <a:pt x="790956" y="0"/>
                  </a:lnTo>
                  <a:lnTo>
                    <a:pt x="790956" y="60948"/>
                  </a:lnTo>
                  <a:close/>
                </a:path>
                <a:path w="1539239" h="1426210">
                  <a:moveTo>
                    <a:pt x="1371599" y="1081901"/>
                  </a:moveTo>
                  <a:lnTo>
                    <a:pt x="1539239" y="1081901"/>
                  </a:lnTo>
                  <a:lnTo>
                    <a:pt x="1539239" y="1020952"/>
                  </a:lnTo>
                  <a:lnTo>
                    <a:pt x="1371599" y="1020952"/>
                  </a:lnTo>
                  <a:lnTo>
                    <a:pt x="1371599" y="1081901"/>
                  </a:lnTo>
                  <a:close/>
                </a:path>
                <a:path w="1539239" h="1426210">
                  <a:moveTo>
                    <a:pt x="0" y="1426198"/>
                  </a:moveTo>
                  <a:lnTo>
                    <a:pt x="603504" y="1426198"/>
                  </a:lnTo>
                  <a:lnTo>
                    <a:pt x="603504" y="1359155"/>
                  </a:lnTo>
                  <a:lnTo>
                    <a:pt x="0" y="1359155"/>
                  </a:lnTo>
                  <a:lnTo>
                    <a:pt x="0" y="1426198"/>
                  </a:lnTo>
                  <a:close/>
                </a:path>
              </a:pathLst>
            </a:custGeom>
            <a:ln w="390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2388" y="830415"/>
              <a:ext cx="326094" cy="45253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176272" y="829005"/>
              <a:ext cx="338455" cy="455930"/>
            </a:xfrm>
            <a:custGeom>
              <a:avLst/>
              <a:gdLst/>
              <a:ahLst/>
              <a:cxnLst/>
              <a:rect l="l" t="t" r="r" b="b"/>
              <a:pathLst>
                <a:path w="338455" h="455930">
                  <a:moveTo>
                    <a:pt x="0" y="455472"/>
                  </a:moveTo>
                  <a:lnTo>
                    <a:pt x="338213" y="455472"/>
                  </a:lnTo>
                  <a:lnTo>
                    <a:pt x="338213" y="0"/>
                  </a:lnTo>
                  <a:lnTo>
                    <a:pt x="0" y="0"/>
                  </a:lnTo>
                  <a:lnTo>
                    <a:pt x="0" y="45547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619" y="0"/>
            <a:ext cx="2810510" cy="2108200"/>
            <a:chOff x="7619" y="0"/>
            <a:chExt cx="2810510" cy="210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" y="0"/>
              <a:ext cx="2810256" cy="21076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" y="38"/>
              <a:ext cx="2810256" cy="2148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" y="1893976"/>
              <a:ext cx="2810256" cy="21371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15899" y="1013587"/>
            <a:ext cx="6477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66A0"/>
                </a:solidFill>
                <a:latin typeface="Calibri"/>
                <a:cs typeface="Calibri"/>
              </a:rPr>
              <a:t>REST</a:t>
            </a:r>
            <a:r>
              <a:rPr dirty="0" sz="1350" spc="-5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350" spc="-25" b="1">
                <a:solidFill>
                  <a:srgbClr val="0066A0"/>
                </a:solidFill>
                <a:latin typeface="Calibri"/>
                <a:cs typeface="Calibri"/>
              </a:rPr>
              <a:t>API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3570" y="1919986"/>
            <a:ext cx="288290" cy="187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0066A0"/>
                </a:solidFill>
                <a:latin typeface="Calibri"/>
                <a:cs typeface="Calibri"/>
              </a:rPr>
              <a:t>42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508" y="381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2202"/>
            <a:ext cx="119634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RESTful</a:t>
            </a:r>
            <a:r>
              <a:rPr dirty="0" spc="-20"/>
              <a:t> </a:t>
            </a:r>
            <a:r>
              <a:rPr dirty="0" spc="-10"/>
              <a:t>Web</a:t>
            </a:r>
            <a:r>
              <a:rPr dirty="0" spc="-20"/>
              <a:t> </a:t>
            </a:r>
            <a:r>
              <a:rPr dirty="0" spc="-10"/>
              <a:t>Services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43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207823"/>
            <a:ext cx="2694305" cy="136906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650">
              <a:latin typeface="Calibri"/>
              <a:cs typeface="Calibri"/>
            </a:endParaRPr>
          </a:p>
          <a:p>
            <a:pPr algn="just" marL="82550" marR="6350" indent="-70485">
              <a:lnSpc>
                <a:spcPct val="93100"/>
              </a:lnSpc>
              <a:spcBef>
                <a:spcPts val="45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RESTful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services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loosely</a:t>
            </a:r>
            <a:r>
              <a:rPr dirty="0" sz="650" spc="1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coupled,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lightweight</a:t>
            </a:r>
            <a:r>
              <a:rPr dirty="0" sz="650" spc="1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1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services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that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particularly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well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suited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creating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APIs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clients</a:t>
            </a:r>
            <a:r>
              <a:rPr dirty="0" sz="650" spc="1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spread</a:t>
            </a:r>
            <a:r>
              <a:rPr dirty="0" sz="650" spc="1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out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across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internet.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3100"/>
              </a:lnSpc>
              <a:spcBef>
                <a:spcPts val="32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Representational</a:t>
            </a:r>
            <a:r>
              <a:rPr dirty="0" sz="650" spc="1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State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Transfer</a:t>
            </a:r>
            <a:r>
              <a:rPr dirty="0" sz="650" spc="1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(REST)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</a:t>
            </a:r>
            <a:r>
              <a:rPr dirty="0" sz="650" spc="1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architectural</a:t>
            </a:r>
            <a:r>
              <a:rPr dirty="0" sz="650" spc="1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style</a:t>
            </a:r>
            <a:r>
              <a:rPr dirty="0" sz="650" spc="1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1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client-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application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centered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around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transfer</a:t>
            </a:r>
            <a:r>
              <a:rPr dirty="0" sz="650" spc="25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representations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of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resources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through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responses.</a:t>
            </a:r>
            <a:endParaRPr sz="650">
              <a:latin typeface="Calibri"/>
              <a:cs typeface="Calibri"/>
            </a:endParaRPr>
          </a:p>
          <a:p>
            <a:pPr algn="just" marL="82550" marR="6985" indent="-70485">
              <a:lnSpc>
                <a:spcPts val="730"/>
              </a:lnSpc>
              <a:spcBef>
                <a:spcPts val="31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architectural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style,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data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functionality</a:t>
            </a:r>
            <a:r>
              <a:rPr dirty="0" sz="650" spc="2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considered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resources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accessed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using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Uniform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Identifiers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(URIs),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typically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links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Web.</a:t>
            </a:r>
            <a:endParaRPr sz="650">
              <a:latin typeface="Calibri"/>
              <a:cs typeface="Calibri"/>
            </a:endParaRPr>
          </a:p>
          <a:p>
            <a:pPr algn="just" marL="82550" marR="6350" indent="-70485">
              <a:lnSpc>
                <a:spcPts val="730"/>
              </a:lnSpc>
              <a:spcBef>
                <a:spcPts val="309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resources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represented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by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documents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acted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upon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by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using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set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simple,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well-defined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operations.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125857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RESTful Root</a:t>
            </a:r>
            <a:r>
              <a:rPr dirty="0" spc="-20"/>
              <a:t> </a:t>
            </a:r>
            <a:r>
              <a:rPr dirty="0" spc="-10"/>
              <a:t>Resource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816" y="207823"/>
            <a:ext cx="2693670" cy="9588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Developing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RESTful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Web</a:t>
            </a:r>
            <a:r>
              <a:rPr dirty="0" sz="650" spc="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Services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Jakarta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20" b="1" i="1">
                <a:solidFill>
                  <a:srgbClr val="7E7E7E"/>
                </a:solidFill>
                <a:latin typeface="Calibri"/>
                <a:cs typeface="Calibri"/>
              </a:rPr>
              <a:t>REST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ts val="730"/>
              </a:lnSpc>
              <a:spcBef>
                <a:spcPts val="47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Jakarta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programming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language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API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designed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make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it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easy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develop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applications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that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architecture.</a:t>
            </a:r>
            <a:endParaRPr sz="650">
              <a:latin typeface="Calibri"/>
              <a:cs typeface="Calibri"/>
            </a:endParaRPr>
          </a:p>
          <a:p>
            <a:pPr algn="just" marL="82550" marR="6985" indent="-70485">
              <a:lnSpc>
                <a:spcPts val="730"/>
              </a:lnSpc>
              <a:spcBef>
                <a:spcPts val="30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Jakarta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API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uses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programming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language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annotations</a:t>
            </a:r>
            <a:r>
              <a:rPr dirty="0" sz="650" spc="22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to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simplify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development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RESTful</a:t>
            </a:r>
            <a:r>
              <a:rPr dirty="0" sz="650" spc="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services.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ct val="93100"/>
              </a:lnSpc>
              <a:spcBef>
                <a:spcPts val="29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Developers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decorate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programming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language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class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files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with</a:t>
            </a:r>
            <a:r>
              <a:rPr dirty="0" sz="650" spc="14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Jakarta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REST</a:t>
            </a:r>
            <a:r>
              <a:rPr dirty="0" sz="650" spc="2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annotations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define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resources</a:t>
            </a:r>
            <a:r>
              <a:rPr dirty="0" sz="650" spc="2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3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actions</a:t>
            </a:r>
            <a:r>
              <a:rPr dirty="0" sz="650" spc="3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that</a:t>
            </a:r>
            <a:r>
              <a:rPr dirty="0" sz="650" spc="3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30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be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performed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on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those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resources.</a:t>
            </a:r>
            <a:endParaRPr sz="65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39271" y="1156668"/>
          <a:ext cx="2614295" cy="696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/>
                <a:gridCol w="844550"/>
                <a:gridCol w="844550"/>
              </a:tblGrid>
              <a:tr h="147320">
                <a:tc gridSpan="3">
                  <a:txBody>
                    <a:bodyPr/>
                    <a:lstStyle/>
                    <a:p>
                      <a:pPr marL="7613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Jakarta</a:t>
                      </a:r>
                      <a:r>
                        <a:rPr dirty="0" sz="700" spc="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REST</a:t>
                      </a:r>
                      <a:r>
                        <a:rPr dirty="0" sz="700" spc="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Annotations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98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@Path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@PATCH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@Consumes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20">
                          <a:latin typeface="Calibri"/>
                          <a:cs typeface="Calibri"/>
                        </a:rPr>
                        <a:t>@GET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20">
                          <a:latin typeface="Calibri"/>
                          <a:cs typeface="Calibri"/>
                        </a:rPr>
                        <a:t>@HEAD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@Produces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@POST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@OPTIONS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@Provider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20">
                          <a:latin typeface="Calibri"/>
                          <a:cs typeface="Calibri"/>
                        </a:rPr>
                        <a:t>@PUT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@PathParam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@ApplicationPath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@DELETE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00" spc="-10">
                          <a:latin typeface="Calibri"/>
                          <a:cs typeface="Calibri"/>
                        </a:rPr>
                        <a:t>@QueryParam</a:t>
                      </a:r>
                      <a:endParaRPr sz="5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2295" y="1879219"/>
            <a:ext cx="266700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5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https://github.com/eclipse-ee4j/jakartaee-tutorial/blob/master/src/main/asciidoc/jaxrs/jaxrs002.ado</a:t>
            </a:r>
            <a:r>
              <a:rPr dirty="0" sz="500" spc="-1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c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  <a:tabLst>
                <a:tab pos="2524125" algn="l"/>
              </a:tabLst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r>
              <a:rPr dirty="0" sz="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7936" sz="525" spc="-37">
                <a:solidFill>
                  <a:srgbClr val="FFC000"/>
                </a:solidFill>
                <a:latin typeface="Calibri"/>
                <a:cs typeface="Calibri"/>
              </a:rPr>
              <a:t>44</a:t>
            </a:r>
            <a:endParaRPr baseline="7936" sz="525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1567"/>
            <a:ext cx="858519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REST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1050" spc="-3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example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45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7431" y="300228"/>
            <a:ext cx="2723515" cy="1638300"/>
            <a:chOff x="27431" y="300228"/>
            <a:chExt cx="2723515" cy="16383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9" y="1436840"/>
              <a:ext cx="740664" cy="49825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9019" y="1435443"/>
              <a:ext cx="744220" cy="501650"/>
            </a:xfrm>
            <a:custGeom>
              <a:avLst/>
              <a:gdLst/>
              <a:ahLst/>
              <a:cxnLst/>
              <a:rect l="l" t="t" r="r" b="b"/>
              <a:pathLst>
                <a:path w="744220" h="501650">
                  <a:moveTo>
                    <a:pt x="0" y="501180"/>
                  </a:moveTo>
                  <a:lnTo>
                    <a:pt x="743597" y="501180"/>
                  </a:lnTo>
                  <a:lnTo>
                    <a:pt x="743597" y="0"/>
                  </a:lnTo>
                  <a:lnTo>
                    <a:pt x="0" y="0"/>
                  </a:lnTo>
                  <a:lnTo>
                    <a:pt x="0" y="50118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191" y="1433903"/>
              <a:ext cx="1287716" cy="18890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83920" y="1427759"/>
              <a:ext cx="1318260" cy="196850"/>
            </a:xfrm>
            <a:custGeom>
              <a:avLst/>
              <a:gdLst/>
              <a:ahLst/>
              <a:cxnLst/>
              <a:rect l="l" t="t" r="r" b="b"/>
              <a:pathLst>
                <a:path w="1318260" h="196850">
                  <a:moveTo>
                    <a:pt x="0" y="196443"/>
                  </a:moveTo>
                  <a:lnTo>
                    <a:pt x="1318133" y="196443"/>
                  </a:lnTo>
                  <a:lnTo>
                    <a:pt x="1318133" y="0"/>
                  </a:lnTo>
                  <a:lnTo>
                    <a:pt x="0" y="0"/>
                  </a:lnTo>
                  <a:lnTo>
                    <a:pt x="0" y="196443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8152" y="303212"/>
              <a:ext cx="769619" cy="102241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976627" y="301815"/>
              <a:ext cx="772795" cy="1025525"/>
            </a:xfrm>
            <a:custGeom>
              <a:avLst/>
              <a:gdLst/>
              <a:ahLst/>
              <a:cxnLst/>
              <a:rect l="l" t="t" r="r" b="b"/>
              <a:pathLst>
                <a:path w="772794" h="1025525">
                  <a:moveTo>
                    <a:pt x="0" y="1025334"/>
                  </a:moveTo>
                  <a:lnTo>
                    <a:pt x="772553" y="1025334"/>
                  </a:lnTo>
                  <a:lnTo>
                    <a:pt x="772553" y="0"/>
                  </a:lnTo>
                  <a:lnTo>
                    <a:pt x="0" y="0"/>
                  </a:lnTo>
                  <a:lnTo>
                    <a:pt x="0" y="1025334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94461" y="1906651"/>
            <a:ext cx="126873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5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http://localhost:8080/rest-demo/api/hello-</a:t>
            </a:r>
            <a:r>
              <a:rPr dirty="0" u="sng" sz="5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world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0239" y="1648638"/>
              <a:ext cx="827532" cy="29560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918716" y="1647241"/>
              <a:ext cx="830580" cy="299085"/>
            </a:xfrm>
            <a:custGeom>
              <a:avLst/>
              <a:gdLst/>
              <a:ahLst/>
              <a:cxnLst/>
              <a:rect l="l" t="t" r="r" b="b"/>
              <a:pathLst>
                <a:path w="830580" h="299085">
                  <a:moveTo>
                    <a:pt x="0" y="298526"/>
                  </a:moveTo>
                  <a:lnTo>
                    <a:pt x="830465" y="298526"/>
                  </a:lnTo>
                  <a:lnTo>
                    <a:pt x="830465" y="0"/>
                  </a:lnTo>
                  <a:lnTo>
                    <a:pt x="0" y="0"/>
                  </a:lnTo>
                  <a:lnTo>
                    <a:pt x="0" y="298526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" y="307848"/>
              <a:ext cx="1684020" cy="65366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1211" y="306311"/>
              <a:ext cx="1687195" cy="657225"/>
            </a:xfrm>
            <a:custGeom>
              <a:avLst/>
              <a:gdLst/>
              <a:ahLst/>
              <a:cxnLst/>
              <a:rect l="l" t="t" r="r" b="b"/>
              <a:pathLst>
                <a:path w="1687195" h="657225">
                  <a:moveTo>
                    <a:pt x="0" y="656602"/>
                  </a:moveTo>
                  <a:lnTo>
                    <a:pt x="1686941" y="656602"/>
                  </a:lnTo>
                  <a:lnTo>
                    <a:pt x="1686941" y="0"/>
                  </a:lnTo>
                  <a:lnTo>
                    <a:pt x="0" y="0"/>
                  </a:lnTo>
                  <a:lnTo>
                    <a:pt x="0" y="65660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1990" y="765702"/>
              <a:ext cx="1045844" cy="99060"/>
            </a:xfrm>
            <a:custGeom>
              <a:avLst/>
              <a:gdLst/>
              <a:ahLst/>
              <a:cxnLst/>
              <a:rect l="l" t="t" r="r" b="b"/>
              <a:pathLst>
                <a:path w="1045844" h="99059">
                  <a:moveTo>
                    <a:pt x="0" y="99040"/>
                  </a:moveTo>
                  <a:lnTo>
                    <a:pt x="1045463" y="99040"/>
                  </a:lnTo>
                  <a:lnTo>
                    <a:pt x="1045463" y="0"/>
                  </a:lnTo>
                  <a:lnTo>
                    <a:pt x="0" y="0"/>
                  </a:lnTo>
                  <a:lnTo>
                    <a:pt x="0" y="99040"/>
                  </a:lnTo>
                  <a:close/>
                </a:path>
              </a:pathLst>
            </a:custGeom>
            <a:ln w="390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91" y="984326"/>
              <a:ext cx="1812036" cy="42207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8831" y="982802"/>
              <a:ext cx="1815464" cy="425450"/>
            </a:xfrm>
            <a:custGeom>
              <a:avLst/>
              <a:gdLst/>
              <a:ahLst/>
              <a:cxnLst/>
              <a:rect l="l" t="t" r="r" b="b"/>
              <a:pathLst>
                <a:path w="1815464" h="425450">
                  <a:moveTo>
                    <a:pt x="0" y="424992"/>
                  </a:moveTo>
                  <a:lnTo>
                    <a:pt x="1814956" y="424992"/>
                  </a:lnTo>
                  <a:lnTo>
                    <a:pt x="1814956" y="0"/>
                  </a:lnTo>
                  <a:lnTo>
                    <a:pt x="0" y="0"/>
                  </a:lnTo>
                  <a:lnTo>
                    <a:pt x="0" y="42499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08404" y="1089420"/>
              <a:ext cx="147955" cy="71755"/>
            </a:xfrm>
            <a:custGeom>
              <a:avLst/>
              <a:gdLst/>
              <a:ahLst/>
              <a:cxnLst/>
              <a:rect l="l" t="t" r="r" b="b"/>
              <a:pathLst>
                <a:path w="147955" h="71755">
                  <a:moveTo>
                    <a:pt x="0" y="71614"/>
                  </a:moveTo>
                  <a:lnTo>
                    <a:pt x="147828" y="71614"/>
                  </a:lnTo>
                  <a:lnTo>
                    <a:pt x="147828" y="0"/>
                  </a:lnTo>
                  <a:lnTo>
                    <a:pt x="0" y="0"/>
                  </a:lnTo>
                  <a:lnTo>
                    <a:pt x="0" y="71614"/>
                  </a:lnTo>
                  <a:close/>
                </a:path>
              </a:pathLst>
            </a:custGeom>
            <a:ln w="5857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28956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REST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46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1078"/>
            <a:ext cx="2694305" cy="99123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@Path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Annotation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URI</a:t>
            </a:r>
            <a:r>
              <a:rPr dirty="0" sz="650" spc="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Path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Templates</a:t>
            </a:r>
            <a:endParaRPr sz="650">
              <a:latin typeface="Calibri"/>
              <a:cs typeface="Calibri"/>
            </a:endParaRPr>
          </a:p>
          <a:p>
            <a:pPr algn="just" marL="82550" marR="5715" indent="-70485">
              <a:lnSpc>
                <a:spcPts val="660"/>
              </a:lnSpc>
              <a:spcBef>
                <a:spcPts val="47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@Path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annotation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identifies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path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template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which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resource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responds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is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specified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at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method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level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resource.</a:t>
            </a:r>
            <a:endParaRPr sz="600">
              <a:latin typeface="Calibri"/>
              <a:cs typeface="Calibri"/>
            </a:endParaRPr>
          </a:p>
          <a:p>
            <a:pPr algn="just" marL="82550" marR="5080" indent="-70485">
              <a:lnSpc>
                <a:spcPts val="660"/>
              </a:lnSpc>
              <a:spcBef>
                <a:spcPts val="31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@Path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annotation’s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value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is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partial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path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template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relative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65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base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server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which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</a:t>
            </a:r>
            <a:r>
              <a:rPr dirty="0" sz="600" spc="1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is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deployed,</a:t>
            </a:r>
            <a:r>
              <a:rPr dirty="0" sz="600" spc="1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context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root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13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application, and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URL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pattern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which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REST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runtime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responds.</a:t>
            </a:r>
            <a:endParaRPr sz="600">
              <a:latin typeface="Calibri"/>
              <a:cs typeface="Calibri"/>
            </a:endParaRPr>
          </a:p>
          <a:p>
            <a:pPr algn="just" marL="82550" marR="5080" indent="-70485">
              <a:lnSpc>
                <a:spcPts val="660"/>
              </a:lnSpc>
              <a:spcBef>
                <a:spcPts val="310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URI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path</a:t>
            </a:r>
            <a:r>
              <a:rPr dirty="0" sz="600" spc="1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templates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URIs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variables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embedded</a:t>
            </a:r>
            <a:r>
              <a:rPr dirty="0" sz="600" spc="16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within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</a:t>
            </a:r>
            <a:r>
              <a:rPr dirty="0" sz="600" spc="16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syntax.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These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variables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substituted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at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runtime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order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for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respond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35">
                <a:latin typeface="Calibri"/>
                <a:cs typeface="Calibri"/>
              </a:rPr>
              <a:t> </a:t>
            </a:r>
            <a:r>
              <a:rPr dirty="0" sz="600" spc="-50">
                <a:latin typeface="Calibri"/>
                <a:cs typeface="Calibri"/>
              </a:rPr>
              <a:t>a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request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based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on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substituted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URI.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Variables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denoted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by braces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({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and</a:t>
            </a:r>
            <a:r>
              <a:rPr dirty="0" sz="600" spc="2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}).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" y="1237208"/>
              <a:ext cx="1685535" cy="53177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5155" y="1235799"/>
              <a:ext cx="1693545" cy="535305"/>
            </a:xfrm>
            <a:custGeom>
              <a:avLst/>
              <a:gdLst/>
              <a:ahLst/>
              <a:cxnLst/>
              <a:rect l="l" t="t" r="r" b="b"/>
              <a:pathLst>
                <a:path w="1693545" h="535305">
                  <a:moveTo>
                    <a:pt x="0" y="534708"/>
                  </a:moveTo>
                  <a:lnTo>
                    <a:pt x="1693037" y="534708"/>
                  </a:lnTo>
                  <a:lnTo>
                    <a:pt x="1693037" y="0"/>
                  </a:lnTo>
                  <a:lnTo>
                    <a:pt x="0" y="0"/>
                  </a:lnTo>
                  <a:lnTo>
                    <a:pt x="0" y="534708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11" y="1636458"/>
              <a:ext cx="1624584" cy="35655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046987" y="1635061"/>
              <a:ext cx="1627505" cy="360045"/>
            </a:xfrm>
            <a:custGeom>
              <a:avLst/>
              <a:gdLst/>
              <a:ahLst/>
              <a:cxnLst/>
              <a:rect l="l" t="t" r="r" b="b"/>
              <a:pathLst>
                <a:path w="1627505" h="360044">
                  <a:moveTo>
                    <a:pt x="0" y="359473"/>
                  </a:moveTo>
                  <a:lnTo>
                    <a:pt x="1627504" y="359473"/>
                  </a:lnTo>
                  <a:lnTo>
                    <a:pt x="1627504" y="0"/>
                  </a:lnTo>
                  <a:lnTo>
                    <a:pt x="0" y="0"/>
                  </a:lnTo>
                  <a:lnTo>
                    <a:pt x="0" y="359473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48511" y="1778141"/>
              <a:ext cx="1624965" cy="215265"/>
            </a:xfrm>
            <a:custGeom>
              <a:avLst/>
              <a:gdLst/>
              <a:ahLst/>
              <a:cxnLst/>
              <a:rect l="l" t="t" r="r" b="b"/>
              <a:pathLst>
                <a:path w="1624964" h="215264">
                  <a:moveTo>
                    <a:pt x="0" y="214870"/>
                  </a:moveTo>
                  <a:lnTo>
                    <a:pt x="147827" y="214870"/>
                  </a:lnTo>
                  <a:lnTo>
                    <a:pt x="147827" y="143256"/>
                  </a:lnTo>
                  <a:lnTo>
                    <a:pt x="0" y="143256"/>
                  </a:lnTo>
                  <a:lnTo>
                    <a:pt x="0" y="214870"/>
                  </a:lnTo>
                  <a:close/>
                </a:path>
                <a:path w="1624964" h="215264">
                  <a:moveTo>
                    <a:pt x="658368" y="71614"/>
                  </a:moveTo>
                  <a:lnTo>
                    <a:pt x="1624584" y="71614"/>
                  </a:lnTo>
                  <a:lnTo>
                    <a:pt x="1624584" y="0"/>
                  </a:lnTo>
                  <a:lnTo>
                    <a:pt x="658368" y="0"/>
                  </a:lnTo>
                  <a:lnTo>
                    <a:pt x="658368" y="71614"/>
                  </a:lnTo>
                  <a:close/>
                </a:path>
              </a:pathLst>
            </a:custGeom>
            <a:ln w="5857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2202"/>
            <a:ext cx="28956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0"/>
              <a:t>REST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47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207823"/>
            <a:ext cx="2691765" cy="59309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Types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Supported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dirty="0" sz="650" spc="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HTTP</a:t>
            </a:r>
            <a:r>
              <a:rPr dirty="0" sz="650" spc="6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Request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650" spc="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Response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Entity</a:t>
            </a:r>
            <a:r>
              <a:rPr dirty="0" sz="650" spc="9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Bodies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Using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Entity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Providers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Map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HTTP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Response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Entity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Bodies</a:t>
            </a:r>
            <a:endParaRPr sz="650">
              <a:latin typeface="Calibri"/>
              <a:cs typeface="Calibri"/>
            </a:endParaRPr>
          </a:p>
          <a:p>
            <a:pPr marL="222885" marR="5080" indent="-70485">
              <a:lnSpc>
                <a:spcPts val="600"/>
              </a:lnSpc>
              <a:spcBef>
                <a:spcPts val="170"/>
              </a:spcBef>
              <a:buClr>
                <a:srgbClr val="0066A0"/>
              </a:buClr>
              <a:buChar char="-"/>
              <a:tabLst>
                <a:tab pos="222885" algn="l"/>
              </a:tabLst>
            </a:pPr>
            <a:r>
              <a:rPr dirty="0" sz="550">
                <a:latin typeface="Calibri"/>
                <a:cs typeface="Calibri"/>
              </a:rPr>
              <a:t>Entity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providers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supply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mapping</a:t>
            </a:r>
            <a:r>
              <a:rPr dirty="0" sz="550" spc="2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services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between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representations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and</a:t>
            </a:r>
            <a:r>
              <a:rPr dirty="0" sz="550" spc="254">
                <a:latin typeface="Calibri"/>
                <a:cs typeface="Calibri"/>
              </a:rPr>
              <a:t> </a:t>
            </a:r>
            <a:r>
              <a:rPr dirty="0" sz="550" spc="-20">
                <a:latin typeface="Calibri"/>
                <a:cs typeface="Calibri"/>
              </a:rPr>
              <a:t>their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associated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Java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types.</a:t>
            </a:r>
            <a:endParaRPr sz="550">
              <a:latin typeface="Calibri"/>
              <a:cs typeface="Calibri"/>
            </a:endParaRPr>
          </a:p>
          <a:p>
            <a:pPr marL="222250" indent="-69850">
              <a:lnSpc>
                <a:spcPct val="100000"/>
              </a:lnSpc>
              <a:spcBef>
                <a:spcPts val="75"/>
              </a:spcBef>
              <a:buClr>
                <a:srgbClr val="0066A0"/>
              </a:buClr>
              <a:buChar char="-"/>
              <a:tabLst>
                <a:tab pos="222250" algn="l"/>
              </a:tabLst>
            </a:pP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two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types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of</a:t>
            </a:r>
            <a:r>
              <a:rPr dirty="0" sz="550" spc="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entity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providers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are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MessageBodyReader</a:t>
            </a:r>
            <a:r>
              <a:rPr dirty="0" sz="550">
                <a:latin typeface="Calibri"/>
                <a:cs typeface="Calibri"/>
              </a:rPr>
              <a:t> and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MessageBodyWriter.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6098" y="1846986"/>
            <a:ext cx="2647315" cy="173990"/>
          </a:xfrm>
          <a:custGeom>
            <a:avLst/>
            <a:gdLst/>
            <a:ahLst/>
            <a:cxnLst/>
            <a:rect l="l" t="t" r="r" b="b"/>
            <a:pathLst>
              <a:path w="2647315" h="173989">
                <a:moveTo>
                  <a:pt x="1323467" y="86741"/>
                </a:moveTo>
                <a:lnTo>
                  <a:pt x="0" y="86741"/>
                </a:lnTo>
                <a:lnTo>
                  <a:pt x="0" y="173456"/>
                </a:lnTo>
                <a:lnTo>
                  <a:pt x="1323467" y="173456"/>
                </a:lnTo>
                <a:lnTo>
                  <a:pt x="1323467" y="86741"/>
                </a:lnTo>
                <a:close/>
              </a:path>
              <a:path w="2647315" h="173989">
                <a:moveTo>
                  <a:pt x="1323467" y="0"/>
                </a:moveTo>
                <a:lnTo>
                  <a:pt x="0" y="0"/>
                </a:lnTo>
                <a:lnTo>
                  <a:pt x="0" y="86715"/>
                </a:lnTo>
                <a:lnTo>
                  <a:pt x="1323467" y="86715"/>
                </a:lnTo>
                <a:lnTo>
                  <a:pt x="1323467" y="0"/>
                </a:lnTo>
                <a:close/>
              </a:path>
              <a:path w="2647315" h="173989">
                <a:moveTo>
                  <a:pt x="2646946" y="86741"/>
                </a:moveTo>
                <a:lnTo>
                  <a:pt x="1323479" y="86741"/>
                </a:lnTo>
                <a:lnTo>
                  <a:pt x="1323479" y="173456"/>
                </a:lnTo>
                <a:lnTo>
                  <a:pt x="2646946" y="173456"/>
                </a:lnTo>
                <a:lnTo>
                  <a:pt x="2646946" y="86741"/>
                </a:lnTo>
                <a:close/>
              </a:path>
              <a:path w="2647315" h="173989">
                <a:moveTo>
                  <a:pt x="2646946" y="0"/>
                </a:moveTo>
                <a:lnTo>
                  <a:pt x="1323479" y="0"/>
                </a:lnTo>
                <a:lnTo>
                  <a:pt x="1323479" y="86715"/>
                </a:lnTo>
                <a:lnTo>
                  <a:pt x="2646946" y="86715"/>
                </a:lnTo>
                <a:lnTo>
                  <a:pt x="26469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24145" y="942673"/>
          <a:ext cx="2727325" cy="107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40"/>
                <a:gridCol w="1323340"/>
              </a:tblGrid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b="1">
                          <a:latin typeface="Calibri"/>
                          <a:cs typeface="Calibri"/>
                        </a:rPr>
                        <a:t>Java</a:t>
                      </a:r>
                      <a:r>
                        <a:rPr dirty="0" sz="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0" b="1">
                          <a:latin typeface="Calibri"/>
                          <a:cs typeface="Calibri"/>
                        </a:rPr>
                        <a:t>Type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 b="1">
                          <a:latin typeface="Calibri"/>
                          <a:cs typeface="Calibri"/>
                        </a:rPr>
                        <a:t>Supported</a:t>
                      </a:r>
                      <a:r>
                        <a:rPr dirty="0" sz="400" b="1">
                          <a:latin typeface="Calibri"/>
                          <a:cs typeface="Calibri"/>
                        </a:rPr>
                        <a:t> Media</a:t>
                      </a:r>
                      <a:r>
                        <a:rPr dirty="0" sz="40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 b="1">
                          <a:latin typeface="Calibri"/>
                          <a:cs typeface="Calibri"/>
                        </a:rPr>
                        <a:t>Types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byte[]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(*/*)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java.lang.String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(text/*)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java.io.InputStream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(*/*)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java.io.Reader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(*/*)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java.io.File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(*/*)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jakarta.activation.DataSource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(*/*)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javax.xml.transform.Source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3740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XML media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(text/xml,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application/xml,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application/*+xml)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marL="27940" marR="1562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jakarta.xml.bind.JAXBElement</a:t>
                      </a:r>
                      <a:r>
                        <a:rPr dirty="0" sz="40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application-supplied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Jakarta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XML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Binding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classes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marR="3740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XML media</a:t>
                      </a:r>
                      <a:r>
                        <a:rPr dirty="0" sz="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(text/xml,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application/xml,</a:t>
                      </a:r>
                      <a:r>
                        <a:rPr dirty="0" sz="4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application/*+xml)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MultivaluedMap&lt;String,</a:t>
                      </a:r>
                      <a:r>
                        <a:rPr dirty="0" sz="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String&gt;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Form</a:t>
                      </a:r>
                      <a:r>
                        <a:rPr dirty="0" sz="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content</a:t>
                      </a:r>
                      <a:r>
                        <a:rPr dirty="0" sz="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(application/x-www-form-urlencoded)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 spc="-10">
                          <a:latin typeface="Calibri"/>
                          <a:cs typeface="Calibri"/>
                        </a:rPr>
                        <a:t>StreamingOutput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types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4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00">
                          <a:latin typeface="Calibri"/>
                          <a:cs typeface="Calibri"/>
                        </a:rPr>
                        <a:t>),</a:t>
                      </a:r>
                      <a:r>
                        <a:rPr dirty="0" sz="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10">
                          <a:latin typeface="Calibri"/>
                          <a:cs typeface="Calibri"/>
                        </a:rPr>
                        <a:t>MessageBodyWriter</a:t>
                      </a:r>
                      <a:r>
                        <a:rPr dirty="0" sz="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00" spc="-20">
                          <a:latin typeface="Calibri"/>
                          <a:cs typeface="Calibri"/>
                        </a:rPr>
                        <a:t>only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7619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620" y="2106422"/>
                </a:lnTo>
                <a:lnTo>
                  <a:pt x="2809620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289560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0"/>
              <a:t>REST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116" y="207823"/>
            <a:ext cx="2720340" cy="190118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500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@Consumes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@Produces</a:t>
            </a:r>
            <a:r>
              <a:rPr dirty="0" sz="650" spc="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Customize</a:t>
            </a:r>
            <a:r>
              <a:rPr dirty="0" sz="650" spc="7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Requests</a:t>
            </a:r>
            <a:r>
              <a:rPr dirty="0" sz="650" spc="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Responses</a:t>
            </a:r>
            <a:endParaRPr sz="650">
              <a:latin typeface="Calibri"/>
              <a:cs typeface="Calibri"/>
            </a:endParaRPr>
          </a:p>
          <a:p>
            <a:pPr marL="95250" marR="17780" indent="-70485">
              <a:lnSpc>
                <a:spcPts val="730"/>
              </a:lnSpc>
              <a:spcBef>
                <a:spcPts val="47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value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@Produces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array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String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MIME</a:t>
            </a:r>
            <a:r>
              <a:rPr dirty="0" sz="650" spc="8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types</a:t>
            </a:r>
            <a:r>
              <a:rPr dirty="0" sz="650" spc="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comma-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separated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list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MediaType</a:t>
            </a:r>
            <a:r>
              <a:rPr dirty="0" sz="650" spc="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constants.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example:</a:t>
            </a:r>
            <a:endParaRPr sz="65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8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50" spc="-10">
                <a:latin typeface="Calibri"/>
                <a:cs typeface="Calibri"/>
              </a:rPr>
              <a:t>@Produces({"image/jpeg,image/png"})</a:t>
            </a:r>
            <a:endParaRPr sz="55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8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50" spc="-10">
                <a:latin typeface="Calibri"/>
                <a:cs typeface="Calibri"/>
              </a:rPr>
              <a:t>@Produces(MediaType.APPLICATION_XML)</a:t>
            </a:r>
            <a:endParaRPr sz="55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9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50" spc="-10">
                <a:latin typeface="Calibri"/>
                <a:cs typeface="Calibri"/>
              </a:rPr>
              <a:t>@Produces({"application/xml",</a:t>
            </a:r>
            <a:r>
              <a:rPr dirty="0" sz="550" spc="19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"application/json"})</a:t>
            </a:r>
            <a:endParaRPr sz="550">
              <a:latin typeface="Calibri"/>
              <a:cs typeface="Calibri"/>
            </a:endParaRPr>
          </a:p>
          <a:p>
            <a:pPr marL="95250" marR="19685" indent="-70485">
              <a:lnSpc>
                <a:spcPts val="730"/>
              </a:lnSpc>
              <a:spcBef>
                <a:spcPts val="30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@Consumes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annotation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used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specify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which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MIME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media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types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of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representations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accept,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or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consume,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from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client.</a:t>
            </a:r>
            <a:endParaRPr sz="650">
              <a:latin typeface="Calibri"/>
              <a:cs typeface="Calibri"/>
            </a:endParaRPr>
          </a:p>
          <a:p>
            <a:pPr marL="235585" marR="20955" indent="-70485">
              <a:lnSpc>
                <a:spcPts val="600"/>
              </a:lnSpc>
              <a:spcBef>
                <a:spcPts val="155"/>
              </a:spcBef>
              <a:buClr>
                <a:srgbClr val="0066A0"/>
              </a:buClr>
              <a:buChar char="-"/>
              <a:tabLst>
                <a:tab pos="235585" algn="l"/>
              </a:tabLst>
            </a:pPr>
            <a:r>
              <a:rPr dirty="0" sz="550">
                <a:latin typeface="Calibri"/>
                <a:cs typeface="Calibri"/>
              </a:rPr>
              <a:t>If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@Consumes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is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applied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10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class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level,</a:t>
            </a:r>
            <a:r>
              <a:rPr dirty="0" sz="550" spc="1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all</a:t>
            </a:r>
            <a:r>
              <a:rPr dirty="0" sz="550" spc="10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response</a:t>
            </a:r>
            <a:r>
              <a:rPr dirty="0" sz="550" spc="12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methods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accept</a:t>
            </a:r>
            <a:r>
              <a:rPr dirty="0" sz="550" spc="114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the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specified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MIME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types</a:t>
            </a:r>
            <a:r>
              <a:rPr dirty="0" sz="550" spc="-1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by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default.</a:t>
            </a:r>
            <a:endParaRPr sz="550">
              <a:latin typeface="Calibri"/>
              <a:cs typeface="Calibri"/>
            </a:endParaRPr>
          </a:p>
          <a:p>
            <a:pPr marL="235585" marR="22860" indent="-70485">
              <a:lnSpc>
                <a:spcPts val="6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235585" algn="l"/>
              </a:tabLst>
            </a:pPr>
            <a:r>
              <a:rPr dirty="0" sz="550">
                <a:latin typeface="Calibri"/>
                <a:cs typeface="Calibri"/>
              </a:rPr>
              <a:t>If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applied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method</a:t>
            </a:r>
            <a:r>
              <a:rPr dirty="0" sz="550" spc="6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level,</a:t>
            </a:r>
            <a:r>
              <a:rPr dirty="0" sz="550" spc="5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@Consumes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overrides</a:t>
            </a:r>
            <a:r>
              <a:rPr dirty="0" sz="550" spc="5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any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@Consumes</a:t>
            </a:r>
            <a:r>
              <a:rPr dirty="0" sz="550" spc="6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annotations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applied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at</a:t>
            </a:r>
            <a:r>
              <a:rPr dirty="0" sz="550" spc="-25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the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class</a:t>
            </a:r>
            <a:r>
              <a:rPr dirty="0" sz="550" spc="-5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level.</a:t>
            </a:r>
            <a:endParaRPr sz="550">
              <a:latin typeface="Calibri"/>
              <a:cs typeface="Calibri"/>
            </a:endParaRPr>
          </a:p>
          <a:p>
            <a:pPr marL="234950" indent="-69850">
              <a:lnSpc>
                <a:spcPct val="100000"/>
              </a:lnSpc>
              <a:spcBef>
                <a:spcPts val="75"/>
              </a:spcBef>
              <a:buClr>
                <a:srgbClr val="0066A0"/>
              </a:buClr>
              <a:buChar char="-"/>
              <a:tabLst>
                <a:tab pos="234950" algn="l"/>
              </a:tabLst>
            </a:pPr>
            <a:r>
              <a:rPr dirty="0" sz="550" spc="-10">
                <a:latin typeface="Calibri"/>
                <a:cs typeface="Calibri"/>
              </a:rPr>
              <a:t>Example:</a:t>
            </a:r>
            <a:endParaRPr sz="550">
              <a:latin typeface="Calibri"/>
              <a:cs typeface="Calibri"/>
            </a:endParaRPr>
          </a:p>
          <a:p>
            <a:pPr lvl="1" marL="374650" indent="-69215">
              <a:lnSpc>
                <a:spcPct val="100000"/>
              </a:lnSpc>
              <a:spcBef>
                <a:spcPts val="95"/>
              </a:spcBef>
              <a:buClr>
                <a:srgbClr val="0066A0"/>
              </a:buClr>
              <a:buFont typeface="Arial"/>
              <a:buChar char="•"/>
              <a:tabLst>
                <a:tab pos="374650" algn="l"/>
              </a:tabLst>
            </a:pPr>
            <a:r>
              <a:rPr dirty="0" sz="550" spc="-10">
                <a:latin typeface="Calibri"/>
                <a:cs typeface="Calibri"/>
              </a:rPr>
              <a:t>@Consumes({"text/plain,text/html"})</a:t>
            </a:r>
            <a:endParaRPr sz="550">
              <a:latin typeface="Calibri"/>
              <a:cs typeface="Calibri"/>
            </a:endParaRPr>
          </a:p>
          <a:p>
            <a:pPr lvl="1" marL="374650" indent="-69215">
              <a:lnSpc>
                <a:spcPct val="100000"/>
              </a:lnSpc>
              <a:spcBef>
                <a:spcPts val="85"/>
              </a:spcBef>
              <a:buClr>
                <a:srgbClr val="0066A0"/>
              </a:buClr>
              <a:buFont typeface="Arial"/>
              <a:buChar char="•"/>
              <a:tabLst>
                <a:tab pos="374650" algn="l"/>
              </a:tabLst>
            </a:pPr>
            <a:r>
              <a:rPr dirty="0" sz="550" spc="-10">
                <a:latin typeface="Calibri"/>
                <a:cs typeface="Calibri"/>
              </a:rPr>
              <a:t>@Consumes({MediaType.TEXT_PLAIN,MediaType.TEXT_HTML})</a:t>
            </a:r>
            <a:endParaRPr sz="550">
              <a:latin typeface="Calibri"/>
              <a:cs typeface="Calibri"/>
            </a:endParaRPr>
          </a:p>
          <a:p>
            <a:pPr lvl="1" marL="374650" indent="-69215">
              <a:lnSpc>
                <a:spcPct val="100000"/>
              </a:lnSpc>
              <a:spcBef>
                <a:spcPts val="95"/>
              </a:spcBef>
              <a:buClr>
                <a:srgbClr val="0066A0"/>
              </a:buClr>
              <a:buFont typeface="Arial"/>
              <a:buChar char="•"/>
              <a:tabLst>
                <a:tab pos="374650" algn="l"/>
              </a:tabLst>
            </a:pPr>
            <a:r>
              <a:rPr dirty="0" sz="550" spc="-10">
                <a:latin typeface="Calibri"/>
                <a:cs typeface="Calibri"/>
              </a:rPr>
              <a:t>@Consumes("multipart/related")</a:t>
            </a:r>
            <a:endParaRPr sz="550">
              <a:latin typeface="Calibri"/>
              <a:cs typeface="Calibri"/>
            </a:endParaRPr>
          </a:p>
          <a:p>
            <a:pPr lvl="1" marL="374650" indent="-69215">
              <a:lnSpc>
                <a:spcPct val="100000"/>
              </a:lnSpc>
              <a:spcBef>
                <a:spcPts val="85"/>
              </a:spcBef>
              <a:buClr>
                <a:srgbClr val="0066A0"/>
              </a:buClr>
              <a:buFont typeface="Arial"/>
              <a:buChar char="•"/>
              <a:tabLst>
                <a:tab pos="374650" algn="l"/>
              </a:tabLst>
            </a:pPr>
            <a:r>
              <a:rPr dirty="0" sz="550" spc="-10">
                <a:latin typeface="Calibri"/>
                <a:cs typeface="Calibri"/>
              </a:rPr>
              <a:t>@Consumes("application/x-www-form-urlencoded")</a:t>
            </a:r>
            <a:endParaRPr sz="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55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tabLst>
                <a:tab pos="2559685" algn="l"/>
              </a:tabLst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r>
              <a:rPr dirty="0" sz="4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7936" sz="525" spc="-37">
                <a:solidFill>
                  <a:srgbClr val="FFC000"/>
                </a:solidFill>
                <a:latin typeface="Calibri"/>
                <a:cs typeface="Calibri"/>
              </a:rPr>
              <a:t>48</a:t>
            </a:r>
            <a:endParaRPr baseline="7936" sz="525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10576" y="1378966"/>
            <a:ext cx="1460500" cy="350520"/>
            <a:chOff x="1310576" y="1378966"/>
            <a:chExt cx="1460500" cy="3505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687" y="1381950"/>
              <a:ext cx="1453896" cy="32599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12163" y="1380553"/>
              <a:ext cx="1457325" cy="347345"/>
            </a:xfrm>
            <a:custGeom>
              <a:avLst/>
              <a:gdLst/>
              <a:ahLst/>
              <a:cxnLst/>
              <a:rect l="l" t="t" r="r" b="b"/>
              <a:pathLst>
                <a:path w="1457325" h="347344">
                  <a:moveTo>
                    <a:pt x="0" y="347281"/>
                  </a:moveTo>
                  <a:lnTo>
                    <a:pt x="1456817" y="347281"/>
                  </a:lnTo>
                  <a:lnTo>
                    <a:pt x="1456817" y="0"/>
                  </a:lnTo>
                  <a:lnTo>
                    <a:pt x="0" y="0"/>
                  </a:lnTo>
                  <a:lnTo>
                    <a:pt x="0" y="347281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28956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REST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49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927" y="207441"/>
            <a:ext cx="2694305" cy="92075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Extracting</a:t>
            </a:r>
            <a:r>
              <a:rPr dirty="0" sz="650" spc="8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Request</a:t>
            </a:r>
            <a:r>
              <a:rPr dirty="0" sz="650" spc="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Parameters</a:t>
            </a:r>
            <a:endParaRPr sz="650">
              <a:latin typeface="Calibri"/>
              <a:cs typeface="Calibri"/>
            </a:endParaRPr>
          </a:p>
          <a:p>
            <a:pPr algn="just" marL="82550" marR="5715" indent="-70485">
              <a:lnSpc>
                <a:spcPct val="93500"/>
              </a:lnSpc>
              <a:spcBef>
                <a:spcPts val="45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Parameters</a:t>
            </a:r>
            <a:r>
              <a:rPr dirty="0" sz="650" spc="2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resource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method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may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be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annotated</a:t>
            </a:r>
            <a:r>
              <a:rPr dirty="0" sz="650" spc="2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with</a:t>
            </a:r>
            <a:r>
              <a:rPr dirty="0" sz="650" spc="204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parameter-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based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annotations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extract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information</a:t>
            </a:r>
            <a:r>
              <a:rPr dirty="0" sz="650" spc="2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from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request.</a:t>
            </a:r>
            <a:r>
              <a:rPr dirty="0" sz="650" spc="22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previous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example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presented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use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1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@PathParam</a:t>
            </a:r>
            <a:r>
              <a:rPr dirty="0" sz="650" spc="1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parameter</a:t>
            </a:r>
            <a:r>
              <a:rPr dirty="0" sz="650" spc="1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to</a:t>
            </a:r>
            <a:r>
              <a:rPr dirty="0" sz="650" spc="1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extract</a:t>
            </a:r>
            <a:r>
              <a:rPr dirty="0" sz="650" spc="160">
                <a:latin typeface="Calibri"/>
                <a:cs typeface="Calibri"/>
              </a:rPr>
              <a:t> </a:t>
            </a:r>
            <a:r>
              <a:rPr dirty="0" sz="650" spc="-50">
                <a:latin typeface="Calibri"/>
                <a:cs typeface="Calibri"/>
              </a:rPr>
              <a:t>a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path</a:t>
            </a:r>
            <a:r>
              <a:rPr dirty="0" sz="650" spc="2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parameter</a:t>
            </a:r>
            <a:r>
              <a:rPr dirty="0" sz="650" spc="28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from</a:t>
            </a:r>
            <a:r>
              <a:rPr dirty="0" sz="650" spc="2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path</a:t>
            </a:r>
            <a:r>
              <a:rPr dirty="0" sz="650" spc="27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component</a:t>
            </a:r>
            <a:r>
              <a:rPr dirty="0" sz="650" spc="2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26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2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request</a:t>
            </a:r>
            <a:r>
              <a:rPr dirty="0" sz="650" spc="2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URL</a:t>
            </a:r>
            <a:r>
              <a:rPr dirty="0" sz="650" spc="280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that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matched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path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declared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@Path.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ts val="730"/>
              </a:lnSpc>
              <a:spcBef>
                <a:spcPts val="32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You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can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extract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following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types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parameters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use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your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resource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class: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Query,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URI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path,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Form,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Cookie,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Header,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Matrix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43" y="1150442"/>
              <a:ext cx="1446276" cy="38397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3883" y="1148905"/>
              <a:ext cx="1449705" cy="387350"/>
            </a:xfrm>
            <a:custGeom>
              <a:avLst/>
              <a:gdLst/>
              <a:ahLst/>
              <a:cxnLst/>
              <a:rect l="l" t="t" r="r" b="b"/>
              <a:pathLst>
                <a:path w="1449705" h="387350">
                  <a:moveTo>
                    <a:pt x="0" y="386905"/>
                  </a:moveTo>
                  <a:lnTo>
                    <a:pt x="1449196" y="386905"/>
                  </a:lnTo>
                  <a:lnTo>
                    <a:pt x="1449196" y="0"/>
                  </a:lnTo>
                  <a:lnTo>
                    <a:pt x="0" y="0"/>
                  </a:lnTo>
                  <a:lnTo>
                    <a:pt x="0" y="386905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47" y="1738554"/>
              <a:ext cx="1453896" cy="26969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3987" y="1737144"/>
              <a:ext cx="1457325" cy="273050"/>
            </a:xfrm>
            <a:custGeom>
              <a:avLst/>
              <a:gdLst/>
              <a:ahLst/>
              <a:cxnLst/>
              <a:rect l="l" t="t" r="r" b="b"/>
              <a:pathLst>
                <a:path w="1457325" h="273050">
                  <a:moveTo>
                    <a:pt x="0" y="272630"/>
                  </a:moveTo>
                  <a:lnTo>
                    <a:pt x="1456817" y="272630"/>
                  </a:lnTo>
                  <a:lnTo>
                    <a:pt x="1456817" y="0"/>
                  </a:lnTo>
                  <a:lnTo>
                    <a:pt x="0" y="0"/>
                  </a:lnTo>
                  <a:lnTo>
                    <a:pt x="0" y="272630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1567"/>
            <a:ext cx="289560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REST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50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816" y="201078"/>
            <a:ext cx="2693670" cy="118173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Configuring</a:t>
            </a:r>
            <a:r>
              <a:rPr dirty="0" sz="650" spc="1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Jakarta</a:t>
            </a:r>
            <a:r>
              <a:rPr dirty="0" sz="650" spc="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b="1" i="1">
                <a:solidFill>
                  <a:srgbClr val="7E7E7E"/>
                </a:solidFill>
                <a:latin typeface="Calibri"/>
                <a:cs typeface="Calibri"/>
              </a:rPr>
              <a:t>REST</a:t>
            </a:r>
            <a:r>
              <a:rPr dirty="0" sz="650" spc="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Applications</a:t>
            </a:r>
            <a:endParaRPr sz="650">
              <a:latin typeface="Calibri"/>
              <a:cs typeface="Calibri"/>
            </a:endParaRPr>
          </a:p>
          <a:p>
            <a:pPr algn="just" marL="82550" marR="5080" indent="-70485">
              <a:lnSpc>
                <a:spcPts val="660"/>
              </a:lnSpc>
              <a:spcBef>
                <a:spcPts val="47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Create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2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subclass</a:t>
            </a:r>
            <a:r>
              <a:rPr dirty="0" sz="600" spc="2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of</a:t>
            </a:r>
            <a:r>
              <a:rPr dirty="0" sz="600" spc="2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jakarta.ws.rs.core.Application</a:t>
            </a:r>
            <a:r>
              <a:rPr dirty="0" sz="600" spc="2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manually</a:t>
            </a:r>
            <a:r>
              <a:rPr dirty="0" sz="600" spc="2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configure</a:t>
            </a:r>
            <a:r>
              <a:rPr dirty="0" sz="600" spc="22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environment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which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REST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defined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1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your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</a:t>
            </a:r>
            <a:r>
              <a:rPr dirty="0" sz="600" spc="11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classes</a:t>
            </a:r>
            <a:r>
              <a:rPr dirty="0" sz="600" spc="12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are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run,</a:t>
            </a:r>
            <a:r>
              <a:rPr dirty="0" sz="600" spc="5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including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4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base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URI.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Add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class-level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@ApplicationPath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annotation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5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set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base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URI.</a:t>
            </a:r>
            <a:endParaRPr sz="600">
              <a:latin typeface="Calibri"/>
              <a:cs typeface="Calibri"/>
            </a:endParaRPr>
          </a:p>
          <a:p>
            <a:pPr marL="292735">
              <a:lnSpc>
                <a:spcPts val="630"/>
              </a:lnSpc>
              <a:spcBef>
                <a:spcPts val="245"/>
              </a:spcBef>
            </a:pPr>
            <a:r>
              <a:rPr dirty="0" sz="550" spc="-10">
                <a:solidFill>
                  <a:srgbClr val="9E870D"/>
                </a:solidFill>
                <a:latin typeface="Calibri"/>
                <a:cs typeface="Calibri"/>
              </a:rPr>
              <a:t>@ApplicationPath</a:t>
            </a:r>
            <a:r>
              <a:rPr dirty="0" sz="55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550" spc="-10">
                <a:solidFill>
                  <a:srgbClr val="057C17"/>
                </a:solidFill>
                <a:latin typeface="Calibri"/>
                <a:cs typeface="Calibri"/>
              </a:rPr>
              <a:t>"/api"</a:t>
            </a:r>
            <a:r>
              <a:rPr dirty="0" sz="55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endParaRPr sz="550">
              <a:latin typeface="Calibri"/>
              <a:cs typeface="Calibri"/>
            </a:endParaRPr>
          </a:p>
          <a:p>
            <a:pPr marL="292735">
              <a:lnSpc>
                <a:spcPts val="630"/>
              </a:lnSpc>
            </a:pPr>
            <a:r>
              <a:rPr dirty="0" sz="55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550" spc="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0033B3"/>
                </a:solidFill>
                <a:latin typeface="Calibri"/>
                <a:cs typeface="Calibri"/>
              </a:rPr>
              <a:t>class</a:t>
            </a:r>
            <a:r>
              <a:rPr dirty="0" sz="550" spc="2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HelloApplication</a:t>
            </a:r>
            <a:r>
              <a:rPr dirty="0" sz="550" spc="10">
                <a:latin typeface="Calibri"/>
                <a:cs typeface="Calibri"/>
              </a:rPr>
              <a:t> </a:t>
            </a:r>
            <a:r>
              <a:rPr dirty="0" sz="550">
                <a:solidFill>
                  <a:srgbClr val="0033B3"/>
                </a:solidFill>
                <a:latin typeface="Calibri"/>
                <a:cs typeface="Calibri"/>
              </a:rPr>
              <a:t>extends</a:t>
            </a:r>
            <a:r>
              <a:rPr dirty="0" sz="550" spc="4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Application</a:t>
            </a:r>
            <a:r>
              <a:rPr dirty="0" sz="550" spc="15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{}</a:t>
            </a:r>
            <a:endParaRPr sz="5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3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Wingdings"/>
                <a:cs typeface="Wingdings"/>
              </a:rPr>
              <a:t></a:t>
            </a:r>
            <a:r>
              <a:rPr dirty="0" sz="600">
                <a:latin typeface="Calibri"/>
                <a:cs typeface="Calibri"/>
              </a:rPr>
              <a:t>all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defined</a:t>
            </a:r>
            <a:r>
              <a:rPr dirty="0" sz="600" spc="2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within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relative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20">
                <a:latin typeface="Calibri"/>
                <a:cs typeface="Calibri"/>
              </a:rPr>
              <a:t>/api</a:t>
            </a:r>
            <a:endParaRPr sz="600">
              <a:latin typeface="Calibri"/>
              <a:cs typeface="Calibri"/>
            </a:endParaRPr>
          </a:p>
          <a:p>
            <a:pPr algn="just" marL="82550" marR="5080" indent="-70485">
              <a:lnSpc>
                <a:spcPts val="660"/>
              </a:lnSpc>
              <a:spcBef>
                <a:spcPts val="325"/>
              </a:spcBef>
            </a:pPr>
            <a:r>
              <a:rPr dirty="0" sz="6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00">
                <a:latin typeface="Calibri"/>
                <a:cs typeface="Calibri"/>
              </a:rPr>
              <a:t>By</a:t>
            </a:r>
            <a:r>
              <a:rPr dirty="0" sz="600" spc="2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default,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all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2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resources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an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archive</a:t>
            </a:r>
            <a:r>
              <a:rPr dirty="0" sz="600" spc="2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will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be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processed</a:t>
            </a:r>
            <a:r>
              <a:rPr dirty="0" sz="600" spc="21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for</a:t>
            </a:r>
            <a:r>
              <a:rPr dirty="0" sz="600" spc="204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resources.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Override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7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getClasses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method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to</a:t>
            </a:r>
            <a:r>
              <a:rPr dirty="0" sz="600" spc="7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manually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register</a:t>
            </a:r>
            <a:r>
              <a:rPr dirty="0" sz="600" spc="9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resource</a:t>
            </a:r>
            <a:r>
              <a:rPr dirty="0" sz="600" spc="8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classes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in</a:t>
            </a:r>
            <a:r>
              <a:rPr dirty="0" sz="600" spc="80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the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application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with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3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Jakarta</a:t>
            </a:r>
            <a:r>
              <a:rPr dirty="0" sz="600" spc="4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REST</a:t>
            </a:r>
            <a:r>
              <a:rPr dirty="0" sz="600" spc="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runtime.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" y="1388097"/>
              <a:ext cx="1313688" cy="63539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2202"/>
            <a:ext cx="63690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REST</a:t>
            </a:r>
            <a:r>
              <a:rPr dirty="0" sz="1050" spc="-6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Client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51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3" y="371729"/>
              <a:ext cx="2491714" cy="149479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619" y="0"/>
            <a:ext cx="2810510" cy="2108200"/>
            <a:chOff x="7619" y="0"/>
            <a:chExt cx="2810510" cy="2108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" y="0"/>
              <a:ext cx="2810256" cy="21076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" y="38"/>
              <a:ext cx="2810256" cy="2148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" y="1893976"/>
              <a:ext cx="2810256" cy="21371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15899" y="1014222"/>
            <a:ext cx="127190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66A0"/>
                </a:solidFill>
                <a:latin typeface="Calibri"/>
                <a:cs typeface="Calibri"/>
              </a:rPr>
              <a:t>Java</a:t>
            </a:r>
            <a:r>
              <a:rPr dirty="0" sz="1350" spc="-4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66A0"/>
                </a:solidFill>
                <a:latin typeface="Calibri"/>
                <a:cs typeface="Calibri"/>
              </a:rPr>
              <a:t>Server</a:t>
            </a:r>
            <a:r>
              <a:rPr dirty="0" sz="1350" spc="-4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66A0"/>
                </a:solidFill>
                <a:latin typeface="Calibri"/>
                <a:cs typeface="Calibri"/>
              </a:rPr>
              <a:t>Pages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3570" y="1920620"/>
            <a:ext cx="28829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0066A0"/>
                </a:solidFill>
                <a:latin typeface="Calibri"/>
                <a:cs typeface="Calibri"/>
              </a:rPr>
              <a:t>52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27" y="91567"/>
            <a:ext cx="984885" cy="1847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Java</a:t>
            </a:r>
            <a:r>
              <a:rPr dirty="0" spc="-60"/>
              <a:t> </a:t>
            </a:r>
            <a:r>
              <a:rPr dirty="0"/>
              <a:t>Server</a:t>
            </a:r>
            <a:r>
              <a:rPr dirty="0" spc="-55"/>
              <a:t> </a:t>
            </a:r>
            <a:r>
              <a:rPr dirty="0" spc="-10"/>
              <a:t>Pages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53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927" y="207441"/>
            <a:ext cx="2691765" cy="9448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65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Page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(JSP)</a:t>
            </a:r>
            <a:r>
              <a:rPr dirty="0" sz="650" spc="2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is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server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side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script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language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Saved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with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.jsp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extension</a:t>
            </a:r>
            <a:endParaRPr sz="650">
              <a:latin typeface="Calibri"/>
              <a:cs typeface="Calibri"/>
            </a:endParaRPr>
          </a:p>
          <a:p>
            <a:pPr marL="82550" marR="5080" indent="-70485">
              <a:lnSpc>
                <a:spcPts val="730"/>
              </a:lnSpc>
              <a:spcBef>
                <a:spcPts val="32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simple,</a:t>
            </a:r>
            <a:r>
              <a:rPr dirty="0" sz="650" spc="2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yet</a:t>
            </a:r>
            <a:r>
              <a:rPr dirty="0" sz="650" spc="25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powerful</a:t>
            </a:r>
            <a:r>
              <a:rPr dirty="0" sz="650" spc="2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Java</a:t>
            </a:r>
            <a:r>
              <a:rPr dirty="0" sz="650" spc="25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technology</a:t>
            </a:r>
            <a:r>
              <a:rPr dirty="0" sz="650" spc="2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for</a:t>
            </a:r>
            <a:r>
              <a:rPr dirty="0" sz="650" spc="2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creating</a:t>
            </a:r>
            <a:r>
              <a:rPr dirty="0" sz="650" spc="24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and</a:t>
            </a:r>
            <a:r>
              <a:rPr dirty="0" sz="650" spc="25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maintaining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dynamic-content</a:t>
            </a:r>
            <a:r>
              <a:rPr dirty="0" sz="650" spc="7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pages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JSP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page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are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converted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by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container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into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Servlet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instance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65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650">
                <a:latin typeface="Calibri"/>
                <a:cs typeface="Calibri"/>
              </a:rPr>
              <a:t>It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focus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on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3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presentation</a:t>
            </a:r>
            <a:r>
              <a:rPr dirty="0" sz="650" spc="6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logic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of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the</a:t>
            </a:r>
            <a:r>
              <a:rPr dirty="0" sz="650" spc="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web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application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6424" y="1148867"/>
              <a:ext cx="947927" cy="79537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816" y="91567"/>
            <a:ext cx="91313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JSP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Architecture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4228" y="2018538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54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3683" y="-11810"/>
            <a:ext cx="2834005" cy="2131060"/>
            <a:chOff x="-3683" y="-11810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3" y="318478"/>
              <a:ext cx="1566672" cy="117021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315" y="1453616"/>
              <a:ext cx="1586484" cy="53939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3" y="288010"/>
              <a:ext cx="679703" cy="124335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508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367" y="2106422"/>
                  </a:lnTo>
                  <a:lnTo>
                    <a:pt x="2809367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4826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927" y="92202"/>
            <a:ext cx="76898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0066A0"/>
                </a:solidFill>
                <a:latin typeface="Calibri"/>
                <a:cs typeface="Calibri"/>
              </a:rPr>
              <a:t>JSP</a:t>
            </a:r>
            <a:r>
              <a:rPr dirty="0" sz="1050" spc="-3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66A0"/>
                </a:solidFill>
                <a:latin typeface="Calibri"/>
                <a:cs typeface="Calibri"/>
              </a:rPr>
              <a:t>Execution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93594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55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4572" y="-11175"/>
            <a:ext cx="2834005" cy="2131060"/>
            <a:chOff x="-4572" y="-11175"/>
            <a:chExt cx="2834005" cy="213106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" y="297180"/>
              <a:ext cx="2804159" cy="171869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619" y="1016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5689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570" y="2017522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6" y="92202"/>
            <a:ext cx="584835" cy="184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Self-Study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816" y="377494"/>
            <a:ext cx="1769110" cy="28765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650">
                <a:latin typeface="Calibri"/>
                <a:cs typeface="Calibri"/>
              </a:rPr>
              <a:t>Read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 spc="-20">
                <a:latin typeface="Calibri"/>
                <a:cs typeface="Calibri"/>
              </a:rPr>
              <a:t>more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u="sng" sz="6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https://github.com/eclipse-ee4j/jakartaee-</a:t>
            </a:r>
            <a:r>
              <a:rPr dirty="0" u="sng" sz="6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tutoria</a:t>
            </a:r>
            <a:r>
              <a:rPr dirty="0" sz="650" spc="-1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l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94228" y="2019046"/>
            <a:ext cx="74295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-25">
                <a:solidFill>
                  <a:srgbClr val="FFC000"/>
                </a:solidFill>
                <a:latin typeface="Calibri"/>
                <a:cs typeface="Calibri"/>
              </a:rPr>
              <a:t>56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508" y="1016"/>
            <a:ext cx="2809875" cy="2106930"/>
          </a:xfrm>
          <a:custGeom>
            <a:avLst/>
            <a:gdLst/>
            <a:ahLst/>
            <a:cxnLst/>
            <a:rect l="l" t="t" r="r" b="b"/>
            <a:pathLst>
              <a:path w="2809875" h="2106930">
                <a:moveTo>
                  <a:pt x="0" y="2106422"/>
                </a:moveTo>
                <a:lnTo>
                  <a:pt x="2809367" y="2106422"/>
                </a:lnTo>
                <a:lnTo>
                  <a:pt x="2809367" y="0"/>
                </a:lnTo>
                <a:lnTo>
                  <a:pt x="0" y="0"/>
                </a:lnTo>
                <a:lnTo>
                  <a:pt x="0" y="2106422"/>
                </a:lnTo>
                <a:close/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4826" y="2133980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631" y="2016633"/>
            <a:ext cx="28829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10">
                <a:solidFill>
                  <a:srgbClr val="FFFFFF"/>
                </a:solidFill>
                <a:latin typeface="Calibri"/>
                <a:cs typeface="Calibri"/>
              </a:rPr>
              <a:t>14/08/2023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619" y="0"/>
            <a:ext cx="2811780" cy="2108835"/>
            <a:chOff x="7619" y="0"/>
            <a:chExt cx="2811780" cy="21088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1" y="0"/>
              <a:ext cx="1999488" cy="210883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" y="0"/>
              <a:ext cx="2249424" cy="210883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3299" y="741679"/>
            <a:ext cx="701675" cy="575310"/>
          </a:xfrm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dirty="0" sz="1300" spc="-20" b="0">
                <a:solidFill>
                  <a:srgbClr val="000000"/>
                </a:solidFill>
                <a:latin typeface="Calibri Light"/>
                <a:cs typeface="Calibri Light"/>
              </a:rPr>
              <a:t>Thanks</a:t>
            </a:r>
            <a:r>
              <a:rPr dirty="0" sz="1300" spc="-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1300" spc="-25" b="0">
                <a:solidFill>
                  <a:srgbClr val="000000"/>
                </a:solidFill>
                <a:latin typeface="Calibri Light"/>
                <a:cs typeface="Calibri Light"/>
              </a:rPr>
              <a:t>for </a:t>
            </a:r>
            <a:r>
              <a:rPr dirty="0" sz="1300" spc="-20" b="0">
                <a:solidFill>
                  <a:srgbClr val="000000"/>
                </a:solidFill>
                <a:latin typeface="Calibri Light"/>
                <a:cs typeface="Calibri Light"/>
              </a:rPr>
              <a:t>your </a:t>
            </a:r>
            <a:r>
              <a:rPr dirty="0" sz="1300" spc="-10" b="0">
                <a:solidFill>
                  <a:srgbClr val="000000"/>
                </a:solidFill>
                <a:latin typeface="Calibri Light"/>
                <a:cs typeface="Calibri Light"/>
              </a:rPr>
              <a:t>Listening</a:t>
            </a:r>
            <a:endParaRPr sz="1300">
              <a:latin typeface="Calibri Light"/>
              <a:cs typeface="Calibri Ligh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-4572" y="-11810"/>
            <a:ext cx="2834005" cy="2131060"/>
            <a:chOff x="-4572" y="-11810"/>
            <a:chExt cx="2834005" cy="2131060"/>
          </a:xfrm>
        </p:grpSpPr>
        <p:sp>
          <p:nvSpPr>
            <p:cNvPr id="8" name="object 8" descr=""/>
            <p:cNvSpPr/>
            <p:nvPr/>
          </p:nvSpPr>
          <p:spPr>
            <a:xfrm>
              <a:off x="118871" y="192033"/>
              <a:ext cx="161925" cy="45720"/>
            </a:xfrm>
            <a:custGeom>
              <a:avLst/>
              <a:gdLst/>
              <a:ahLst/>
              <a:cxnLst/>
              <a:rect l="l" t="t" r="r" b="b"/>
              <a:pathLst>
                <a:path w="161925" h="45720">
                  <a:moveTo>
                    <a:pt x="161544" y="0"/>
                  </a:moveTo>
                  <a:lnTo>
                    <a:pt x="0" y="0"/>
                  </a:lnTo>
                  <a:lnTo>
                    <a:pt x="0" y="45711"/>
                  </a:lnTo>
                  <a:lnTo>
                    <a:pt x="161544" y="45711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8871" y="1397255"/>
              <a:ext cx="917575" cy="6350"/>
            </a:xfrm>
            <a:custGeom>
              <a:avLst/>
              <a:gdLst/>
              <a:ahLst/>
              <a:cxnLst/>
              <a:rect l="l" t="t" r="r" b="b"/>
              <a:pathLst>
                <a:path w="917575" h="6350">
                  <a:moveTo>
                    <a:pt x="917447" y="0"/>
                  </a:moveTo>
                  <a:lnTo>
                    <a:pt x="0" y="0"/>
                  </a:lnTo>
                  <a:lnTo>
                    <a:pt x="0" y="6094"/>
                  </a:lnTo>
                  <a:lnTo>
                    <a:pt x="917447" y="6094"/>
                  </a:lnTo>
                  <a:lnTo>
                    <a:pt x="91744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619" y="381"/>
              <a:ext cx="2809875" cy="2106930"/>
            </a:xfrm>
            <a:custGeom>
              <a:avLst/>
              <a:gdLst/>
              <a:ahLst/>
              <a:cxnLst/>
              <a:rect l="l" t="t" r="r" b="b"/>
              <a:pathLst>
                <a:path w="2809875" h="2106930">
                  <a:moveTo>
                    <a:pt x="0" y="2106422"/>
                  </a:moveTo>
                  <a:lnTo>
                    <a:pt x="2809620" y="2106422"/>
                  </a:lnTo>
                  <a:lnTo>
                    <a:pt x="2809620" y="0"/>
                  </a:lnTo>
                  <a:lnTo>
                    <a:pt x="0" y="0"/>
                  </a:lnTo>
                  <a:lnTo>
                    <a:pt x="0" y="21064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5689" y="2134362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Patrick Barcinas</dc:creator>
  <dc:title>PowerPoint Presentation</dc:title>
  <dcterms:created xsi:type="dcterms:W3CDTF">2023-08-14T14:40:55Z</dcterms:created>
  <dcterms:modified xsi:type="dcterms:W3CDTF">2023-08-14T14:40:55Z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2023-08-14T00:00:00Z</vt:filetime>
  </property>
  <property fmtid="{D5CDD505-2E9C-101B-9397-08002B2CF9AE}" pid="5" name="Producer">
    <vt:lpwstr>Microsoft® PowerPoint® for Microsoft 365</vt:lpwstr>
  </property>
</Properties>
</file>